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7" r:id="rId15"/>
    <p:sldId id="270" r:id="rId16"/>
    <p:sldId id="276" r:id="rId17"/>
    <p:sldId id="272" r:id="rId18"/>
    <p:sldId id="274" r:id="rId19"/>
    <p:sldId id="275" r:id="rId20"/>
    <p:sldId id="273" r:id="rId21"/>
  </p:sldIdLst>
  <p:sldSz cx="18288000" cy="10287000"/>
  <p:notesSz cx="6858000" cy="9144000"/>
  <p:embeddedFontLst>
    <p:embeddedFont>
      <p:font typeface="Public Sans" panose="020B0604020202020204" charset="0"/>
      <p:regular r:id="rId23"/>
    </p:embeddedFont>
    <p:embeddedFont>
      <p:font typeface="Calibri" panose="020F0502020204030204" pitchFamily="34" charset="0"/>
      <p:regular r:id="rId24"/>
      <p:bold r:id="rId25"/>
      <p:italic r:id="rId26"/>
      <p:boldItalic r:id="rId27"/>
    </p:embeddedFont>
    <p:embeddedFont>
      <p:font typeface="Calistoga"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91" autoAdjust="0"/>
    <p:restoredTop sz="60444" autoAdjust="0"/>
  </p:normalViewPr>
  <p:slideViewPr>
    <p:cSldViewPr>
      <p:cViewPr>
        <p:scale>
          <a:sx n="33" d="100"/>
          <a:sy n="33" d="100"/>
        </p:scale>
        <p:origin x="1992" y="25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F4AAC63D-25C8-43FC-B879-C65519C4D13F}" type="datetimeFigureOut">
              <a:rPr lang="he-IL" smtClean="0"/>
              <a:t>ז'/שבט/תשפ"ו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C26D56A-6F9B-443D-BD2A-A7BDF6C24BE2}" type="slidenum">
              <a:rPr lang="he-IL" smtClean="0"/>
              <a:t>‹#›</a:t>
            </a:fld>
            <a:endParaRPr lang="he-IL"/>
          </a:p>
        </p:txBody>
      </p:sp>
    </p:spTree>
    <p:extLst>
      <p:ext uri="{BB962C8B-B14F-4D97-AF65-F5344CB8AC3E}">
        <p14:creationId xmlns:p14="http://schemas.microsoft.com/office/powerpoint/2010/main" val="352976059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1"/>
            <a:r>
              <a:rPr lang="en-US" sz="1200" kern="1200" dirty="0" smtClean="0">
                <a:solidFill>
                  <a:schemeClr val="tx1"/>
                </a:solidFill>
                <a:effectLst/>
                <a:latin typeface="+mn-lt"/>
                <a:ea typeface="+mn-ea"/>
                <a:cs typeface="+mn-cs"/>
              </a:rPr>
              <a:t>Social-Emotional Learning, or SEL, is the process of learning and using skills that support </a:t>
            </a:r>
            <a:r>
              <a:rPr lang="en-US" sz="1200" b="1" kern="1200" dirty="0" smtClean="0">
                <a:solidFill>
                  <a:schemeClr val="tx1"/>
                </a:solidFill>
                <a:effectLst/>
                <a:latin typeface="+mn-lt"/>
                <a:ea typeface="+mn-ea"/>
                <a:cs typeface="+mn-cs"/>
              </a:rPr>
              <a:t>emotion regulation coping, and social interaction</a:t>
            </a:r>
            <a:r>
              <a:rPr lang="en-US" sz="1200" kern="1200" dirty="0" smtClean="0">
                <a:solidFill>
                  <a:schemeClr val="tx1"/>
                </a:solidFill>
                <a:effectLst/>
                <a:latin typeface="+mn-lt"/>
                <a:ea typeface="+mn-ea"/>
                <a:cs typeface="+mn-cs"/>
              </a:rPr>
              <a:t>.</a:t>
            </a:r>
          </a:p>
          <a:p>
            <a:pPr algn="l" rtl="1"/>
            <a:r>
              <a:rPr lang="en-US" sz="1200" kern="1200" dirty="0" smtClean="0">
                <a:solidFill>
                  <a:schemeClr val="tx1"/>
                </a:solidFill>
                <a:effectLst/>
                <a:latin typeface="+mn-lt"/>
                <a:ea typeface="+mn-ea"/>
                <a:cs typeface="+mn-cs"/>
              </a:rPr>
              <a:t> According to SELIL The model shown here is the CASEL model, which organizes these skills into five core domains. this skill helps students cope with academic pressure, this ability directly supports learning outcomes and persistence, especially in demanding academic environments.”</a:t>
            </a:r>
          </a:p>
          <a:p>
            <a:endParaRPr lang="he-IL" dirty="0"/>
          </a:p>
        </p:txBody>
      </p:sp>
      <p:sp>
        <p:nvSpPr>
          <p:cNvPr id="4" name="מציין מיקום של מספר שקופית 3"/>
          <p:cNvSpPr>
            <a:spLocks noGrp="1"/>
          </p:cNvSpPr>
          <p:nvPr>
            <p:ph type="sldNum" sz="quarter" idx="10"/>
          </p:nvPr>
        </p:nvSpPr>
        <p:spPr/>
        <p:txBody>
          <a:bodyPr/>
          <a:lstStyle/>
          <a:p>
            <a:fld id="{2C26D56A-6F9B-443D-BD2A-A7BDF6C24BE2}" type="slidenum">
              <a:rPr lang="he-IL" smtClean="0"/>
              <a:t>2</a:t>
            </a:fld>
            <a:endParaRPr lang="he-IL"/>
          </a:p>
        </p:txBody>
      </p:sp>
    </p:spTree>
    <p:extLst>
      <p:ext uri="{BB962C8B-B14F-4D97-AF65-F5344CB8AC3E}">
        <p14:creationId xmlns:p14="http://schemas.microsoft.com/office/powerpoint/2010/main" val="3437073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1"/>
            <a:r>
              <a:rPr lang="en-US" sz="1200" b="1" kern="1200" dirty="0" smtClean="0">
                <a:solidFill>
                  <a:schemeClr val="tx1"/>
                </a:solidFill>
                <a:effectLst/>
                <a:latin typeface="+mn-lt"/>
                <a:ea typeface="+mn-ea"/>
                <a:cs typeface="+mn-cs"/>
              </a:rPr>
              <a:t>The problem our project is based on – the important need for Social-Emotional Learning in higher education. University students face increasing emotional and mental challenges, such as stress</a:t>
            </a:r>
            <a:r>
              <a:rPr lang="en-US" sz="1200" b="0" kern="1200" dirty="0" smtClean="0">
                <a:solidFill>
                  <a:schemeClr val="tx1"/>
                </a:solidFill>
                <a:effectLst/>
                <a:latin typeface="+mn-lt"/>
                <a:ea typeface="+mn-ea"/>
                <a:cs typeface="+mn-cs"/>
              </a:rPr>
              <a:t>,</a:t>
            </a:r>
            <a:r>
              <a:rPr lang="en-US" sz="1200" b="1"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depression, and loneliness</a:t>
            </a:r>
            <a:r>
              <a:rPr lang="en-US" sz="1200" b="1" kern="1200" dirty="0" smtClean="0">
                <a:solidFill>
                  <a:schemeClr val="tx1"/>
                </a:solidFill>
                <a:effectLst/>
                <a:latin typeface="+mn-lt"/>
                <a:ea typeface="+mn-ea"/>
                <a:cs typeface="+mn-cs"/>
              </a:rPr>
              <a:t>. We also see this as students ourselves</a:t>
            </a:r>
            <a:r>
              <a:rPr lang="en-US" sz="1200" b="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These challenges do not remain at a personal level. They directly affect students’ well-being and create obstacles to learning, and academic success. although the need is clear many students do not have practical, easy to use and supportive way to practice SEL in higher education.</a:t>
            </a:r>
          </a:p>
          <a:p>
            <a:pPr algn="l" rtl="1"/>
            <a:r>
              <a:rPr lang="en-US" sz="1200" kern="1200" dirty="0" smtClean="0">
                <a:solidFill>
                  <a:schemeClr val="tx1"/>
                </a:solidFill>
                <a:effectLst/>
                <a:latin typeface="+mn-lt"/>
                <a:ea typeface="+mn-ea"/>
                <a:cs typeface="+mn-cs"/>
              </a:rPr>
              <a:t>The next question is whether the existing tools in higher education truly address this need?</a:t>
            </a:r>
          </a:p>
          <a:p>
            <a:endParaRPr lang="he-IL" dirty="0"/>
          </a:p>
        </p:txBody>
      </p:sp>
      <p:sp>
        <p:nvSpPr>
          <p:cNvPr id="4" name="מציין מיקום של מספר שקופית 3"/>
          <p:cNvSpPr>
            <a:spLocks noGrp="1"/>
          </p:cNvSpPr>
          <p:nvPr>
            <p:ph type="sldNum" sz="quarter" idx="10"/>
          </p:nvPr>
        </p:nvSpPr>
        <p:spPr/>
        <p:txBody>
          <a:bodyPr/>
          <a:lstStyle/>
          <a:p>
            <a:fld id="{2C26D56A-6F9B-443D-BD2A-A7BDF6C24BE2}" type="slidenum">
              <a:rPr lang="he-IL" smtClean="0"/>
              <a:t>3</a:t>
            </a:fld>
            <a:endParaRPr lang="he-IL"/>
          </a:p>
        </p:txBody>
      </p:sp>
    </p:spTree>
    <p:extLst>
      <p:ext uri="{BB962C8B-B14F-4D97-AF65-F5344CB8AC3E}">
        <p14:creationId xmlns:p14="http://schemas.microsoft.com/office/powerpoint/2010/main" val="2387330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indent="0" algn="l" defTabSz="914400" rtl="1"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As highlighted in the systematic review conducted by Wang and </a:t>
            </a:r>
            <a:r>
              <a:rPr lang="en-US" sz="1200" b="1" kern="1200" dirty="0" err="1" smtClean="0">
                <a:solidFill>
                  <a:schemeClr val="tx1"/>
                </a:solidFill>
                <a:effectLst/>
                <a:latin typeface="+mn-lt"/>
                <a:ea typeface="+mn-ea"/>
                <a:cs typeface="+mn-cs"/>
              </a:rPr>
              <a:t>Ishak</a:t>
            </a:r>
            <a:r>
              <a:rPr lang="en-US" sz="1200" b="1" kern="1200" dirty="0" smtClean="0">
                <a:solidFill>
                  <a:schemeClr val="tx1"/>
                </a:solidFill>
                <a:effectLst/>
                <a:latin typeface="+mn-lt"/>
                <a:ea typeface="+mn-ea"/>
                <a:cs typeface="+mn-cs"/>
              </a:rPr>
              <a:t> (2025), current SEL implementations in higher education lack tools that are continuously available, </a:t>
            </a:r>
            <a:r>
              <a:rPr lang="en-US" sz="1200" kern="1200" dirty="0" smtClean="0">
                <a:solidFill>
                  <a:schemeClr val="tx1"/>
                </a:solidFill>
                <a:effectLst/>
                <a:latin typeface="+mn-lt"/>
                <a:ea typeface="+mn-ea"/>
                <a:cs typeface="+mn-cs"/>
              </a:rPr>
              <a:t>automated</a:t>
            </a:r>
            <a:r>
              <a:rPr lang="en-US" sz="1200" b="1" kern="1200" dirty="0" smtClean="0">
                <a:solidFill>
                  <a:schemeClr val="tx1"/>
                </a:solidFill>
                <a:effectLst/>
                <a:latin typeface="+mn-lt"/>
                <a:ea typeface="+mn-ea"/>
                <a:cs typeface="+mn-cs"/>
              </a:rPr>
              <a:t>, non-judgmental, and independent of instructors. In conclusion, there are no suitable tools that combine all these features for higher education students.</a:t>
            </a:r>
            <a:r>
              <a:rPr lang="en-US" sz="1200" kern="1200" dirty="0" smtClean="0">
                <a:solidFill>
                  <a:schemeClr val="tx1"/>
                </a:solidFill>
                <a:effectLst/>
                <a:latin typeface="+mn-lt"/>
                <a:ea typeface="+mn-ea"/>
                <a:cs typeface="+mn-cs"/>
              </a:rPr>
              <a:t> ✅</a:t>
            </a:r>
          </a:p>
          <a:p>
            <a:endParaRPr lang="he-IL" dirty="0"/>
          </a:p>
        </p:txBody>
      </p:sp>
      <p:sp>
        <p:nvSpPr>
          <p:cNvPr id="4" name="מציין מיקום של מספר שקופית 3"/>
          <p:cNvSpPr>
            <a:spLocks noGrp="1"/>
          </p:cNvSpPr>
          <p:nvPr>
            <p:ph type="sldNum" sz="quarter" idx="5"/>
          </p:nvPr>
        </p:nvSpPr>
        <p:spPr/>
        <p:txBody>
          <a:bodyPr/>
          <a:lstStyle/>
          <a:p>
            <a:fld id="{2C26D56A-6F9B-443D-BD2A-A7BDF6C24BE2}" type="slidenum">
              <a:rPr lang="he-IL" smtClean="0"/>
              <a:t>4</a:t>
            </a:fld>
            <a:endParaRPr lang="he-IL"/>
          </a:p>
        </p:txBody>
      </p:sp>
    </p:spTree>
    <p:extLst>
      <p:ext uri="{BB962C8B-B14F-4D97-AF65-F5344CB8AC3E}">
        <p14:creationId xmlns:p14="http://schemas.microsoft.com/office/powerpoint/2010/main" val="2887192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a:lnSpc>
                <a:spcPts val="3356"/>
              </a:lnSpc>
            </a:pPr>
            <a:r>
              <a:rPr lang="en-US" sz="1200" dirty="0">
                <a:latin typeface="Calistoga" panose="020B0604020202020204" charset="0"/>
                <a:ea typeface="Public Sans Bold"/>
                <a:cs typeface="Public Sans Bold"/>
                <a:sym typeface="Public Sans Bold"/>
              </a:rPr>
              <a:t>Initial Context: An Educational Platform</a:t>
            </a:r>
          </a:p>
          <a:p>
            <a:pPr algn="l">
              <a:lnSpc>
                <a:spcPts val="3356"/>
              </a:lnSpc>
            </a:pPr>
            <a:r>
              <a:rPr lang="en-US" sz="1200" dirty="0">
                <a:latin typeface="Public Sans"/>
                <a:ea typeface="Public Sans"/>
                <a:cs typeface="Public Sans"/>
                <a:sym typeface="Public Sans"/>
              </a:rPr>
              <a:t> The project foundation was a CASEL-based AI system</a:t>
            </a:r>
            <a:r>
              <a:rPr lang="en-US" sz="1200" baseline="0" dirty="0">
                <a:latin typeface="Public Sans"/>
                <a:ea typeface="Public Sans"/>
                <a:cs typeface="Public Sans"/>
                <a:sym typeface="Public Sans"/>
              </a:rPr>
              <a:t> </a:t>
            </a:r>
            <a:r>
              <a:rPr lang="en-US" sz="1200" dirty="0">
                <a:latin typeface="Public Sans"/>
                <a:ea typeface="Public Sans"/>
                <a:cs typeface="Public Sans"/>
                <a:sym typeface="Public Sans"/>
              </a:rPr>
              <a:t>developed in a prior WEB course for general</a:t>
            </a:r>
            <a:endParaRPr lang="he-IL" sz="1200" dirty="0">
              <a:latin typeface="Public Sans"/>
              <a:ea typeface="Public Sans"/>
              <a:cs typeface="Public Sans"/>
              <a:sym typeface="Public Sans"/>
            </a:endParaRPr>
          </a:p>
          <a:p>
            <a:pPr algn="l">
              <a:lnSpc>
                <a:spcPts val="3360"/>
              </a:lnSpc>
            </a:pPr>
            <a:r>
              <a:rPr lang="en-US" sz="1200" dirty="0">
                <a:latin typeface="Calistoga" panose="020B0604020202020204" charset="0"/>
                <a:ea typeface="Public Sans Bold"/>
                <a:cs typeface="Public Sans Bold"/>
                <a:sym typeface="Public Sans Bold"/>
              </a:rPr>
              <a:t>Adaptation for Research</a:t>
            </a:r>
            <a:r>
              <a:rPr lang="en-US" sz="1200" dirty="0">
                <a:latin typeface="Calistoga" panose="020B0604020202020204" charset="0"/>
                <a:ea typeface="Public Sans"/>
                <a:cs typeface="Public Sans"/>
                <a:sym typeface="Public Sans"/>
              </a:rPr>
              <a:t>: A Controlled Instrument</a:t>
            </a:r>
            <a:r>
              <a:rPr lang="en-US" sz="1200" baseline="0" dirty="0">
                <a:latin typeface="Calistoga" panose="020B0604020202020204" charset="0"/>
                <a:ea typeface="Public Sans"/>
                <a:cs typeface="Public Sans"/>
                <a:sym typeface="Public Sans"/>
              </a:rPr>
              <a:t> </a:t>
            </a:r>
            <a:r>
              <a:rPr lang="en-US" sz="1200" dirty="0">
                <a:latin typeface="Public Sans"/>
                <a:ea typeface="Public Sans"/>
                <a:cs typeface="Public Sans"/>
                <a:sym typeface="Public Sans"/>
              </a:rPr>
              <a:t>The existing system was repurposed by creating a dedicated</a:t>
            </a:r>
            <a:r>
              <a:rPr lang="en-US" sz="1200" baseline="0" dirty="0">
                <a:latin typeface="Public Sans"/>
                <a:ea typeface="Public Sans"/>
                <a:cs typeface="Public Sans"/>
                <a:sym typeface="Public Sans"/>
              </a:rPr>
              <a:t> </a:t>
            </a:r>
            <a:r>
              <a:rPr lang="en-US" sz="1200" dirty="0">
                <a:latin typeface="Public Sans"/>
                <a:ea typeface="Public Sans"/>
                <a:cs typeface="Public Sans"/>
                <a:sym typeface="Public Sans"/>
              </a:rPr>
              <a:t>entry point to serve as a structured tool for this </a:t>
            </a:r>
            <a:r>
              <a:rPr lang="en-US" sz="1200" dirty="0" smtClean="0">
                <a:latin typeface="Public Sans"/>
                <a:ea typeface="Public Sans"/>
                <a:cs typeface="Public Sans"/>
                <a:sym typeface="Public Sans"/>
              </a:rPr>
              <a:t>study</a:t>
            </a:r>
            <a:endParaRPr lang="en-US" sz="1200" dirty="0">
              <a:latin typeface="Public Sans"/>
              <a:ea typeface="Public Sans"/>
              <a:cs typeface="Public Sans"/>
              <a:sym typeface="Public Sans"/>
            </a:endParaRPr>
          </a:p>
          <a:p>
            <a:pPr algn="l">
              <a:lnSpc>
                <a:spcPts val="3356"/>
              </a:lnSpc>
            </a:pPr>
            <a:r>
              <a:rPr lang="en-US" sz="1200" dirty="0">
                <a:latin typeface="Public Sans"/>
                <a:ea typeface="Public Sans"/>
                <a:cs typeface="Public Sans"/>
                <a:sym typeface="Public Sans"/>
              </a:rPr>
              <a:t> educational </a:t>
            </a:r>
            <a:r>
              <a:rPr lang="en-US" sz="1200" dirty="0" smtClean="0">
                <a:latin typeface="Public Sans"/>
                <a:ea typeface="Public Sans"/>
                <a:cs typeface="Public Sans"/>
                <a:sym typeface="Public Sans"/>
              </a:rPr>
              <a:t>use</a:t>
            </a:r>
            <a:endParaRPr lang="en-US" sz="1200" dirty="0">
              <a:latin typeface="Public Sans"/>
              <a:ea typeface="Public Sans"/>
              <a:cs typeface="Public Sans"/>
              <a:sym typeface="Public Sans"/>
            </a:endParaRPr>
          </a:p>
          <a:p>
            <a:pPr marL="0" marR="0" indent="0" algn="l" defTabSz="914400" rtl="1"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project began as an AI-based educational system developed in a previous web course .For this study, the system was adapted into a controlled research tool by adding a dedicated research entry point and a structured ‘Join Study’ process. From that point on, the system was used only for research and only data collected through this pathway was analyzed.”</a:t>
            </a:r>
          </a:p>
          <a:p>
            <a:endParaRPr lang="he-IL" dirty="0"/>
          </a:p>
        </p:txBody>
      </p:sp>
      <p:sp>
        <p:nvSpPr>
          <p:cNvPr id="4" name="מציין מיקום של מספר שקופית 3"/>
          <p:cNvSpPr>
            <a:spLocks noGrp="1"/>
          </p:cNvSpPr>
          <p:nvPr>
            <p:ph type="sldNum" sz="quarter" idx="10"/>
          </p:nvPr>
        </p:nvSpPr>
        <p:spPr/>
        <p:txBody>
          <a:bodyPr/>
          <a:lstStyle/>
          <a:p>
            <a:fld id="{2C26D56A-6F9B-443D-BD2A-A7BDF6C24BE2}" type="slidenum">
              <a:rPr lang="he-IL" smtClean="0"/>
              <a:t>5</a:t>
            </a:fld>
            <a:endParaRPr lang="he-IL"/>
          </a:p>
        </p:txBody>
      </p:sp>
    </p:spTree>
    <p:extLst>
      <p:ext uri="{BB962C8B-B14F-4D97-AF65-F5344CB8AC3E}">
        <p14:creationId xmlns:p14="http://schemas.microsoft.com/office/powerpoint/2010/main" val="3904660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“Recent studies highlight a lack of frameworks for examining SEL development in digital and AI-mediated environments.”</a:t>
            </a:r>
            <a:endParaRPr lang="he-IL" dirty="0"/>
          </a:p>
        </p:txBody>
      </p:sp>
      <p:sp>
        <p:nvSpPr>
          <p:cNvPr id="4" name="מציין מיקום של מספר שקופית 3"/>
          <p:cNvSpPr>
            <a:spLocks noGrp="1"/>
          </p:cNvSpPr>
          <p:nvPr>
            <p:ph type="sldNum" sz="quarter" idx="5"/>
          </p:nvPr>
        </p:nvSpPr>
        <p:spPr/>
        <p:txBody>
          <a:bodyPr/>
          <a:lstStyle/>
          <a:p>
            <a:fld id="{2C26D56A-6F9B-443D-BD2A-A7BDF6C24BE2}" type="slidenum">
              <a:rPr lang="he-IL" smtClean="0"/>
              <a:t>8</a:t>
            </a:fld>
            <a:endParaRPr lang="he-IL"/>
          </a:p>
        </p:txBody>
      </p:sp>
    </p:spTree>
    <p:extLst>
      <p:ext uri="{BB962C8B-B14F-4D97-AF65-F5344CB8AC3E}">
        <p14:creationId xmlns:p14="http://schemas.microsoft.com/office/powerpoint/2010/main" val="2215558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sz="1200" kern="1200" dirty="0" smtClean="0">
                <a:solidFill>
                  <a:schemeClr val="tx1"/>
                </a:solidFill>
                <a:effectLst/>
                <a:latin typeface="+mn-lt"/>
                <a:ea typeface="+mn-ea"/>
                <a:cs typeface="+mn-cs"/>
              </a:rPr>
              <a:t>The use case diagram focuses on the scenarios relevant to the study and does not represent the system functional. </a:t>
            </a:r>
          </a:p>
          <a:p>
            <a:r>
              <a:rPr lang="en-US" sz="1200" kern="1200" dirty="0" smtClean="0">
                <a:solidFill>
                  <a:schemeClr val="tx1"/>
                </a:solidFill>
                <a:effectLst/>
                <a:latin typeface="+mn-lt"/>
                <a:ea typeface="+mn-ea"/>
                <a:cs typeface="+mn-cs"/>
              </a:rPr>
              <a:t>The diagram includes two groups of students: an experience group and a control group. Both groups complete the  simulation scenario and fill in the CASEL questionnaires pre and post, as well as the UEQ-S questionnaire, and both receive AI-based CASEL analysis of their simulation performance, only the experimental group participates in a Socratic dialogue conducted with  the CASLY system, completes reflection questions, and receives an AI-generated summary .CASELY, the external  AI system, is responsible for conducting the Socratic dialogue and provide  CASEL analysis and to generate feedback and summaries.</a:t>
            </a:r>
          </a:p>
          <a:p>
            <a:endParaRPr lang="he-IL" dirty="0"/>
          </a:p>
        </p:txBody>
      </p:sp>
      <p:sp>
        <p:nvSpPr>
          <p:cNvPr id="4" name="מציין מיקום של מספר שקופית 3"/>
          <p:cNvSpPr>
            <a:spLocks noGrp="1"/>
          </p:cNvSpPr>
          <p:nvPr>
            <p:ph type="sldNum" sz="quarter" idx="10"/>
          </p:nvPr>
        </p:nvSpPr>
        <p:spPr/>
        <p:txBody>
          <a:bodyPr/>
          <a:lstStyle/>
          <a:p>
            <a:fld id="{2C26D56A-6F9B-443D-BD2A-A7BDF6C24BE2}" type="slidenum">
              <a:rPr lang="he-IL" smtClean="0"/>
              <a:t>14</a:t>
            </a:fld>
            <a:endParaRPr lang="he-IL"/>
          </a:p>
        </p:txBody>
      </p:sp>
    </p:spTree>
    <p:extLst>
      <p:ext uri="{BB962C8B-B14F-4D97-AF65-F5344CB8AC3E}">
        <p14:creationId xmlns:p14="http://schemas.microsoft.com/office/powerpoint/2010/main" val="315246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rtl="1"/>
            <a:r>
              <a:rPr lang="ar-SA" sz="1200"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pPr algn="l" rtl="1"/>
            <a:r>
              <a:rPr lang="en-US" sz="1200" kern="1200" dirty="0" smtClean="0">
                <a:solidFill>
                  <a:schemeClr val="tx1"/>
                </a:solidFill>
                <a:effectLst/>
                <a:latin typeface="+mn-lt"/>
                <a:ea typeface="+mn-ea"/>
                <a:cs typeface="+mn-cs"/>
              </a:rPr>
              <a:t>“We ran a small pilot with four fourth-year software engineering students to test if the system was easy to use and if the AI-guided Socratic dialogue felt meaningful. </a:t>
            </a:r>
          </a:p>
          <a:p>
            <a:pPr algn="l" rtl="1"/>
            <a:r>
              <a:rPr lang="en-US" sz="1200" kern="1200" dirty="0" smtClean="0">
                <a:solidFill>
                  <a:schemeClr val="tx1"/>
                </a:solidFill>
                <a:effectLst/>
                <a:latin typeface="+mn-lt"/>
                <a:ea typeface="+mn-ea"/>
                <a:cs typeface="+mn-cs"/>
              </a:rPr>
              <a:t>As reflected in participants’ quotes, they described the interaction as human-like — not just a robot giving pre-set answers, but a conversation that responded directly to what they shared. They also said that the anonymity allowed them to speak more openly about their thoughts and emotions, </a:t>
            </a:r>
          </a:p>
          <a:p>
            <a:pPr algn="l" rtl="1"/>
            <a:r>
              <a:rPr lang="en-US" sz="1200" kern="1200" dirty="0" smtClean="0">
                <a:solidFill>
                  <a:schemeClr val="tx1"/>
                </a:solidFill>
                <a:effectLst/>
                <a:latin typeface="+mn-lt"/>
                <a:ea typeface="+mn-ea"/>
                <a:cs typeface="+mn-cs"/>
              </a:rPr>
              <a:t>indicating that the dialogue could support and improve SEL by encouraging open reflection in a safe and meaningful way.”</a:t>
            </a:r>
          </a:p>
          <a:p>
            <a:pPr algn="l" rtl="1"/>
            <a:r>
              <a:rPr lang="en-US" sz="1200" kern="1200" dirty="0" smtClean="0">
                <a:solidFill>
                  <a:schemeClr val="tx1"/>
                </a:solidFill>
                <a:effectLst/>
                <a:latin typeface="+mn-lt"/>
                <a:ea typeface="+mn-ea"/>
                <a:cs typeface="+mn-cs"/>
              </a:rPr>
              <a:t>“This means the dialogue helps students improve SEL by giving them a safe space to openly think and talk about their experiences.”</a:t>
            </a:r>
          </a:p>
          <a:p>
            <a:endParaRPr lang="he-IL" dirty="0"/>
          </a:p>
        </p:txBody>
      </p:sp>
      <p:sp>
        <p:nvSpPr>
          <p:cNvPr id="4" name="מציין מיקום של מספר שקופית 3"/>
          <p:cNvSpPr>
            <a:spLocks noGrp="1"/>
          </p:cNvSpPr>
          <p:nvPr>
            <p:ph type="sldNum" sz="quarter" idx="10"/>
          </p:nvPr>
        </p:nvSpPr>
        <p:spPr/>
        <p:txBody>
          <a:bodyPr/>
          <a:lstStyle/>
          <a:p>
            <a:fld id="{2C26D56A-6F9B-443D-BD2A-A7BDF6C24BE2}" type="slidenum">
              <a:rPr lang="he-IL" smtClean="0"/>
              <a:t>15</a:t>
            </a:fld>
            <a:endParaRPr lang="he-IL"/>
          </a:p>
        </p:txBody>
      </p:sp>
    </p:spTree>
    <p:extLst>
      <p:ext uri="{BB962C8B-B14F-4D97-AF65-F5344CB8AC3E}">
        <p14:creationId xmlns:p14="http://schemas.microsoft.com/office/powerpoint/2010/main" val="255479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0"/>
            <a:r>
              <a:rPr lang="en-US" sz="1200" i="1" kern="1200" dirty="0" smtClean="0">
                <a:solidFill>
                  <a:schemeClr val="tx1"/>
                </a:solidFill>
                <a:effectLst/>
                <a:latin typeface="+mn-lt"/>
                <a:ea typeface="+mn-ea"/>
                <a:cs typeface="+mn-cs"/>
              </a:rPr>
              <a:t>The success measures are based on a mixed-methods approach.</a:t>
            </a:r>
            <a:endParaRPr lang="en-US" sz="1200" kern="1200" dirty="0" smtClean="0">
              <a:solidFill>
                <a:schemeClr val="tx1"/>
              </a:solidFill>
              <a:effectLst/>
              <a:latin typeface="+mn-lt"/>
              <a:ea typeface="+mn-ea"/>
              <a:cs typeface="+mn-cs"/>
            </a:endParaRPr>
          </a:p>
          <a:p>
            <a:pPr algn="l" rtl="0"/>
            <a:r>
              <a:rPr lang="en-US" sz="1200" i="1" kern="1200" dirty="0" smtClean="0">
                <a:solidFill>
                  <a:schemeClr val="tx1"/>
                </a:solidFill>
                <a:effectLst/>
                <a:latin typeface="+mn-lt"/>
                <a:ea typeface="+mn-ea"/>
                <a:cs typeface="+mn-cs"/>
              </a:rPr>
              <a:t> Quantitative measures :, we used two validated questionnaires. One of them is a pre- and post-SEL questionnaire with 20 items measuring the five CASEL competencies, rated on a 4-point Likert scale from 1 to 4, without a </a:t>
            </a:r>
            <a:r>
              <a:rPr lang="en-US" sz="1200" kern="1200" dirty="0" smtClean="0">
                <a:solidFill>
                  <a:schemeClr val="tx1"/>
                </a:solidFill>
                <a:effectLst/>
                <a:latin typeface="+mn-lt"/>
                <a:ea typeface="+mn-ea"/>
                <a:cs typeface="+mn-cs"/>
              </a:rPr>
              <a:t>middle</a:t>
            </a:r>
            <a:r>
              <a:rPr lang="en-US" sz="1200" i="1" kern="1200" dirty="0" smtClean="0">
                <a:solidFill>
                  <a:schemeClr val="tx1"/>
                </a:solidFill>
                <a:effectLst/>
                <a:latin typeface="+mn-lt"/>
                <a:ea typeface="+mn-ea"/>
                <a:cs typeface="+mn-cs"/>
              </a:rPr>
              <a:t> option, to better capture meaningful change.</a:t>
            </a:r>
            <a:endParaRPr lang="en-US" sz="1200" kern="1200" dirty="0" smtClean="0">
              <a:solidFill>
                <a:schemeClr val="tx1"/>
              </a:solidFill>
              <a:effectLst/>
              <a:latin typeface="+mn-lt"/>
              <a:ea typeface="+mn-ea"/>
              <a:cs typeface="+mn-cs"/>
            </a:endParaRPr>
          </a:p>
          <a:p>
            <a:pPr algn="l" rtl="0"/>
            <a:r>
              <a:rPr lang="en-US" sz="1200" kern="1200" dirty="0" smtClean="0">
                <a:solidFill>
                  <a:schemeClr val="tx1"/>
                </a:solidFill>
                <a:effectLst/>
                <a:latin typeface="+mn-lt"/>
                <a:ea typeface="+mn-ea"/>
                <a:cs typeface="+mn-cs"/>
              </a:rPr>
              <a:t>And The UEQ-S </a:t>
            </a:r>
            <a:r>
              <a:rPr lang="en-US" sz="1200" i="1" kern="1200" dirty="0" smtClean="0">
                <a:solidFill>
                  <a:schemeClr val="tx1"/>
                </a:solidFill>
                <a:effectLst/>
                <a:latin typeface="+mn-lt"/>
                <a:ea typeface="+mn-ea"/>
                <a:cs typeface="+mn-cs"/>
              </a:rPr>
              <a:t>questionnaires</a:t>
            </a:r>
            <a:r>
              <a:rPr lang="en-US" sz="1200" kern="1200" dirty="0" smtClean="0">
                <a:solidFill>
                  <a:schemeClr val="tx1"/>
                </a:solidFill>
                <a:effectLst/>
                <a:latin typeface="+mn-lt"/>
                <a:ea typeface="+mn-ea"/>
                <a:cs typeface="+mn-cs"/>
              </a:rPr>
              <a:t> includes eight items rated on a 7-point scale .and evaluates user experience in two dimensions: pragmatic quality, which includes usability and clarity of the system, and hedonic quality, which includes users’ interest and enjoyment. </a:t>
            </a:r>
          </a:p>
          <a:p>
            <a:pPr algn="l" rtl="0"/>
            <a:r>
              <a:rPr lang="en-US" sz="1200" kern="1200" dirty="0" smtClean="0">
                <a:solidFill>
                  <a:schemeClr val="tx1"/>
                </a:solidFill>
                <a:effectLst/>
                <a:latin typeface="+mn-lt"/>
                <a:ea typeface="+mn-ea"/>
                <a:cs typeface="+mn-cs"/>
              </a:rPr>
              <a:t>Scores are centered around zero, with positive values indicating a positive user experience.</a:t>
            </a:r>
          </a:p>
          <a:p>
            <a:pPr algn="l"/>
            <a:r>
              <a:rPr lang="en-US" sz="1200" kern="1200" dirty="0" smtClean="0">
                <a:solidFill>
                  <a:schemeClr val="tx1"/>
                </a:solidFill>
                <a:effectLst/>
                <a:latin typeface="+mn-lt"/>
                <a:ea typeface="+mn-ea"/>
                <a:cs typeface="+mn-cs"/>
              </a:rPr>
              <a:t>Qualitative measures</a:t>
            </a:r>
          </a:p>
          <a:p>
            <a:pPr algn="l"/>
            <a:r>
              <a:rPr lang="en-US" sz="1200" kern="1200" dirty="0" smtClean="0">
                <a:solidFill>
                  <a:schemeClr val="tx1"/>
                </a:solidFill>
                <a:effectLst/>
                <a:latin typeface="+mn-lt"/>
                <a:ea typeface="+mn-ea"/>
                <a:cs typeface="+mn-cs"/>
              </a:rPr>
              <a:t>Trust measures :</a:t>
            </a:r>
          </a:p>
          <a:p>
            <a:pPr algn="l"/>
            <a:r>
              <a:rPr lang="en-US" sz="1200" i="1" kern="1200" dirty="0" smtClean="0">
                <a:solidFill>
                  <a:schemeClr val="tx1"/>
                </a:solidFill>
                <a:effectLst/>
                <a:latin typeface="+mn-lt"/>
                <a:ea typeface="+mn-ea"/>
                <a:cs typeface="+mn-cs"/>
              </a:rPr>
              <a:t> we used open-ended questions, such as “Was talking with CASELY useful or meaningful?”. </a:t>
            </a:r>
            <a:endParaRPr lang="en-US" sz="1200" kern="1200" dirty="0" smtClean="0">
              <a:solidFill>
                <a:schemeClr val="tx1"/>
              </a:solidFill>
              <a:effectLst/>
              <a:latin typeface="+mn-lt"/>
              <a:ea typeface="+mn-ea"/>
              <a:cs typeface="+mn-cs"/>
            </a:endParaRPr>
          </a:p>
          <a:p>
            <a:pPr algn="l"/>
            <a:r>
              <a:rPr lang="en-US" sz="1200" kern="1200" dirty="0" smtClean="0">
                <a:solidFill>
                  <a:schemeClr val="tx1"/>
                </a:solidFill>
                <a:effectLst/>
                <a:latin typeface="+mn-lt"/>
                <a:ea typeface="+mn-ea"/>
                <a:cs typeface="+mn-cs"/>
              </a:rPr>
              <a:t>We used it  because participants need to feel safe to reflect honestly, especially when interacting with AI about sensitive emotions.</a:t>
            </a:r>
          </a:p>
          <a:p>
            <a:pPr algn="l" rtl="1"/>
            <a:r>
              <a:rPr lang="he-IL" sz="1200" kern="1200" dirty="0" smtClean="0">
                <a:solidFill>
                  <a:schemeClr val="tx1"/>
                </a:solidFill>
                <a:effectLst/>
                <a:latin typeface="+mn-lt"/>
                <a:ea typeface="+mn-ea"/>
                <a:cs typeface="+mn-cs"/>
              </a:rPr>
              <a:t>לכן השאלה</a:t>
            </a:r>
            <a:r>
              <a:rPr lang="en-US" sz="1200" kern="1200" dirty="0" smtClean="0">
                <a:solidFill>
                  <a:schemeClr val="tx1"/>
                </a:solidFill>
                <a:effectLst/>
                <a:latin typeface="+mn-lt"/>
                <a:ea typeface="+mn-ea"/>
                <a:cs typeface="+mn-cs"/>
              </a:rPr>
              <a:t>:</a:t>
            </a:r>
          </a:p>
          <a:p>
            <a:pPr algn="l" rtl="1"/>
            <a:r>
              <a:rPr lang="en-US" sz="1200" i="1" kern="1200" dirty="0" smtClean="0">
                <a:solidFill>
                  <a:schemeClr val="tx1"/>
                </a:solidFill>
                <a:effectLst/>
                <a:latin typeface="+mn-lt"/>
                <a:ea typeface="+mn-ea"/>
                <a:cs typeface="+mn-cs"/>
              </a:rPr>
              <a:t>“Was talking with CASELY useful or meaningful?”</a:t>
            </a:r>
            <a:endParaRPr lang="en-US" sz="1200" kern="1200" dirty="0" smtClean="0">
              <a:solidFill>
                <a:schemeClr val="tx1"/>
              </a:solidFill>
              <a:effectLst/>
              <a:latin typeface="+mn-lt"/>
              <a:ea typeface="+mn-ea"/>
              <a:cs typeface="+mn-cs"/>
            </a:endParaRPr>
          </a:p>
          <a:p>
            <a:pPr algn="l" rtl="1"/>
            <a:r>
              <a:rPr lang="he-IL" sz="1200" kern="1200" dirty="0" smtClean="0">
                <a:solidFill>
                  <a:schemeClr val="tx1"/>
                </a:solidFill>
                <a:effectLst/>
                <a:latin typeface="+mn-lt"/>
                <a:ea typeface="+mn-ea"/>
                <a:cs typeface="+mn-cs"/>
              </a:rPr>
              <a:t>בודקת בעקיפין</a:t>
            </a:r>
            <a:r>
              <a:rPr lang="en-US" sz="1200" kern="1200" dirty="0" smtClean="0">
                <a:solidFill>
                  <a:schemeClr val="tx1"/>
                </a:solidFill>
                <a:effectLst/>
                <a:latin typeface="+mn-lt"/>
                <a:ea typeface="+mn-ea"/>
                <a:cs typeface="+mn-cs"/>
              </a:rPr>
              <a:t>:</a:t>
            </a:r>
          </a:p>
          <a:p>
            <a:pPr algn="l" rtl="1"/>
            <a:r>
              <a:rPr lang="he-IL" sz="1200" kern="1200" dirty="0" smtClean="0">
                <a:solidFill>
                  <a:schemeClr val="tx1"/>
                </a:solidFill>
                <a:effectLst/>
                <a:latin typeface="+mn-lt"/>
                <a:ea typeface="+mn-ea"/>
                <a:cs typeface="+mn-cs"/>
              </a:rPr>
              <a:t>האם הסטודנט הרגיש שמקשיבים לו ,האם האינטראקציה הרגישה בטוחה ולא שיפוטית</a:t>
            </a:r>
            <a:endParaRPr lang="en-US" sz="1200" kern="1200" dirty="0" smtClean="0">
              <a:solidFill>
                <a:schemeClr val="tx1"/>
              </a:solidFill>
              <a:effectLst/>
              <a:latin typeface="+mn-lt"/>
              <a:ea typeface="+mn-ea"/>
              <a:cs typeface="+mn-cs"/>
            </a:endParaRPr>
          </a:p>
          <a:p>
            <a:pPr algn="l" rtl="1"/>
            <a:r>
              <a:rPr lang="he-IL" sz="1200" kern="1200" dirty="0" smtClean="0">
                <a:solidFill>
                  <a:schemeClr val="tx1"/>
                </a:solidFill>
                <a:effectLst/>
                <a:latin typeface="+mn-lt"/>
                <a:ea typeface="+mn-ea"/>
                <a:cs typeface="+mn-cs"/>
              </a:rPr>
              <a:t>האם נוצר בסיס רגשי שמאפשר המשך שימוש.</a:t>
            </a:r>
            <a:endParaRPr lang="en-US" sz="1200" kern="1200" dirty="0" smtClean="0">
              <a:solidFill>
                <a:schemeClr val="tx1"/>
              </a:solidFill>
              <a:effectLst/>
              <a:latin typeface="+mn-lt"/>
              <a:ea typeface="+mn-ea"/>
              <a:cs typeface="+mn-cs"/>
            </a:endParaRPr>
          </a:p>
          <a:p>
            <a:pPr algn="l"/>
            <a:r>
              <a:rPr lang="en-US" sz="1200" i="1"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pPr algn="l"/>
            <a:r>
              <a:rPr lang="en-US" sz="1200" kern="1200" dirty="0" smtClean="0">
                <a:solidFill>
                  <a:schemeClr val="tx1"/>
                </a:solidFill>
                <a:effectLst/>
                <a:latin typeface="+mn-lt"/>
                <a:ea typeface="+mn-ea"/>
                <a:cs typeface="+mn-cs"/>
              </a:rPr>
              <a:t>And the last one is Conversation and reflection analysis is conducted by analyzing dialogue and open reflective response to understand better the processes  of self-reflection </a:t>
            </a:r>
          </a:p>
          <a:p>
            <a:pPr algn="l" rtl="1"/>
            <a:r>
              <a:rPr lang="en-US" sz="1200" kern="1200" dirty="0" smtClean="0">
                <a:solidFill>
                  <a:schemeClr val="tx1"/>
                </a:solidFill>
                <a:effectLst/>
                <a:latin typeface="+mn-lt"/>
                <a:ea typeface="+mn-ea"/>
                <a:cs typeface="+mn-cs"/>
              </a:rPr>
              <a:t>to understand how participants reflect on themselves and their emotions. This helps us see if the system truly supports meaningful self-reflection. Its important to know how participants examine their  emotions, and experiences to gain greater self-awareness</a:t>
            </a:r>
          </a:p>
          <a:p>
            <a:pPr algn="l" rtl="1"/>
            <a:r>
              <a:rPr lang="en-US" sz="1200" b="1" kern="1200" dirty="0" smtClean="0">
                <a:solidFill>
                  <a:schemeClr val="tx1"/>
                </a:solidFill>
                <a:effectLst/>
                <a:latin typeface="+mn-lt"/>
                <a:ea typeface="+mn-ea"/>
                <a:cs typeface="+mn-cs"/>
              </a:rPr>
              <a:t>Self-reflection</a:t>
            </a:r>
            <a:r>
              <a:rPr lang="en-US" sz="1200" kern="1200" dirty="0" smtClean="0">
                <a:solidFill>
                  <a:schemeClr val="tx1"/>
                </a:solidFill>
                <a:effectLst/>
                <a:latin typeface="+mn-lt"/>
                <a:ea typeface="+mn-ea"/>
                <a:cs typeface="+mn-cs"/>
              </a:rPr>
              <a:t>” </a:t>
            </a:r>
            <a:r>
              <a:rPr lang="he-IL" sz="1200" kern="1200" dirty="0" smtClean="0">
                <a:solidFill>
                  <a:schemeClr val="tx1"/>
                </a:solidFill>
                <a:effectLst/>
                <a:latin typeface="+mn-lt"/>
                <a:ea typeface="+mn-ea"/>
                <a:cs typeface="+mn-cs"/>
              </a:rPr>
              <a:t>או </a:t>
            </a:r>
            <a:r>
              <a:rPr lang="he-IL" sz="1200" b="1" kern="1200" dirty="0" smtClean="0">
                <a:solidFill>
                  <a:schemeClr val="tx1"/>
                </a:solidFill>
                <a:effectLst/>
                <a:latin typeface="+mn-lt"/>
                <a:ea typeface="+mn-ea"/>
                <a:cs typeface="+mn-cs"/>
              </a:rPr>
              <a:t>רפלקציה עצמית</a:t>
            </a:r>
            <a:r>
              <a:rPr lang="he-IL" sz="1200" kern="1200" dirty="0" smtClean="0">
                <a:solidFill>
                  <a:schemeClr val="tx1"/>
                </a:solidFill>
                <a:effectLst/>
                <a:latin typeface="+mn-lt"/>
                <a:ea typeface="+mn-ea"/>
                <a:cs typeface="+mn-cs"/>
              </a:rPr>
              <a:t> משמעותה לחשוב ולהרהר על עצמך, על המחשבות, הרגשות, ההתנהגויות והתגובות שלך בסיטואציות שונות</a:t>
            </a:r>
            <a:r>
              <a:rPr lang="en-US" sz="1200" kern="1200" dirty="0" smtClean="0">
                <a:solidFill>
                  <a:schemeClr val="tx1"/>
                </a:solidFill>
                <a:effectLst/>
                <a:latin typeface="+mn-lt"/>
                <a:ea typeface="+mn-ea"/>
                <a:cs typeface="+mn-cs"/>
              </a:rPr>
              <a:t>.</a:t>
            </a:r>
            <a:br>
              <a:rPr lang="en-US" sz="1200" kern="1200" dirty="0" smtClean="0">
                <a:solidFill>
                  <a:schemeClr val="tx1"/>
                </a:solidFill>
                <a:effectLst/>
                <a:latin typeface="+mn-lt"/>
                <a:ea typeface="+mn-ea"/>
                <a:cs typeface="+mn-cs"/>
              </a:rPr>
            </a:br>
            <a:endParaRPr lang="en-US" sz="1200" kern="1200" dirty="0" smtClean="0">
              <a:solidFill>
                <a:schemeClr val="tx1"/>
              </a:solidFill>
              <a:effectLst/>
              <a:latin typeface="+mn-lt"/>
              <a:ea typeface="+mn-ea"/>
              <a:cs typeface="+mn-cs"/>
            </a:endParaRPr>
          </a:p>
          <a:p>
            <a:pPr marL="0" marR="0" indent="0" algn="l" defTabSz="914400" rtl="1" eaLnBrk="1" fontAlgn="auto" latinLnBrk="0" hangingPunct="1">
              <a:lnSpc>
                <a:spcPct val="100000"/>
              </a:lnSpc>
              <a:spcBef>
                <a:spcPts val="0"/>
              </a:spcBef>
              <a:spcAft>
                <a:spcPts val="0"/>
              </a:spcAft>
              <a:buClrTx/>
              <a:buSzTx/>
              <a:buFontTx/>
              <a:buNone/>
              <a:tabLst/>
              <a:defRPr/>
            </a:pPr>
            <a:r>
              <a:rPr lang="en-US" sz="1200" dirty="0">
                <a:latin typeface="Calistoga" panose="020B0604020202020204" charset="0"/>
              </a:rPr>
              <a:t/>
            </a:r>
            <a:br>
              <a:rPr lang="en-US" sz="1200" dirty="0">
                <a:latin typeface="Calistoga" panose="020B0604020202020204" charset="0"/>
              </a:rPr>
            </a:br>
            <a:endParaRPr lang="he-IL" sz="1200" dirty="0">
              <a:latin typeface="Calistoga" panose="020B0604020202020204" charset="0"/>
            </a:endParaRPr>
          </a:p>
          <a:p>
            <a:pPr marL="0" marR="0" indent="0" algn="l" defTabSz="914400" rtl="1" eaLnBrk="1" fontAlgn="auto" latinLnBrk="0" hangingPunct="1">
              <a:lnSpc>
                <a:spcPct val="100000"/>
              </a:lnSpc>
              <a:spcBef>
                <a:spcPts val="0"/>
              </a:spcBef>
              <a:spcAft>
                <a:spcPts val="0"/>
              </a:spcAft>
              <a:buClrTx/>
              <a:buSzTx/>
              <a:buFontTx/>
              <a:buNone/>
              <a:tabLst/>
              <a:defRPr/>
            </a:pPr>
            <a:endParaRPr lang="en-US" sz="1200" dirty="0">
              <a:latin typeface="Calistoga" panose="020B0604020202020204" charset="0"/>
            </a:endParaRPr>
          </a:p>
          <a:p>
            <a:pPr marL="0" marR="0" indent="0" algn="l" defTabSz="914400" rtl="1" eaLnBrk="1" fontAlgn="auto" latinLnBrk="0" hangingPunct="1">
              <a:lnSpc>
                <a:spcPct val="100000"/>
              </a:lnSpc>
              <a:spcBef>
                <a:spcPts val="0"/>
              </a:spcBef>
              <a:spcAft>
                <a:spcPts val="0"/>
              </a:spcAft>
              <a:buClrTx/>
              <a:buSzTx/>
              <a:buFontTx/>
              <a:buNone/>
              <a:tabLst/>
              <a:defRPr/>
            </a:pPr>
            <a:endParaRPr lang="he-IL" sz="1200" dirty="0">
              <a:latin typeface="Public Sans" panose="020B0604020202020204" charset="0"/>
            </a:endParaRPr>
          </a:p>
          <a:p>
            <a:pPr marL="0" marR="0" indent="0" algn="l" defTabSz="914400" rtl="1" eaLnBrk="1" fontAlgn="auto" latinLnBrk="0" hangingPunct="1">
              <a:lnSpc>
                <a:spcPct val="100000"/>
              </a:lnSpc>
              <a:spcBef>
                <a:spcPts val="0"/>
              </a:spcBef>
              <a:spcAft>
                <a:spcPts val="0"/>
              </a:spcAft>
              <a:buClrTx/>
              <a:buSzTx/>
              <a:buFontTx/>
              <a:buNone/>
              <a:tabLst/>
              <a:defRPr/>
            </a:pPr>
            <a:r>
              <a:rPr lang="en-US" sz="1200" dirty="0">
                <a:latin typeface="Calistoga" panose="020B0604020202020204" charset="0"/>
              </a:rPr>
              <a:t/>
            </a:r>
            <a:br>
              <a:rPr lang="en-US" sz="1200" dirty="0">
                <a:latin typeface="Calistoga" panose="020B0604020202020204" charset="0"/>
              </a:rPr>
            </a:br>
            <a:endParaRPr lang="he-IL" sz="1200" dirty="0">
              <a:latin typeface="Calistoga" panose="020B0604020202020204" charset="0"/>
            </a:endParaRPr>
          </a:p>
          <a:p>
            <a:pPr marL="0" marR="0" indent="0" algn="l" defTabSz="914400" rtl="1" eaLnBrk="1" fontAlgn="auto" latinLnBrk="0" hangingPunct="1">
              <a:lnSpc>
                <a:spcPct val="100000"/>
              </a:lnSpc>
              <a:spcBef>
                <a:spcPts val="0"/>
              </a:spcBef>
              <a:spcAft>
                <a:spcPts val="0"/>
              </a:spcAft>
              <a:buClrTx/>
              <a:buSzTx/>
              <a:buFontTx/>
              <a:buNone/>
              <a:tabLst/>
              <a:defRPr/>
            </a:pPr>
            <a:r>
              <a:rPr lang="en-US" sz="1200" dirty="0">
                <a:latin typeface="Calistoga" panose="020B0604020202020204" charset="0"/>
              </a:rPr>
              <a:t/>
            </a:r>
            <a:br>
              <a:rPr lang="en-US" sz="1200" dirty="0">
                <a:latin typeface="Calistoga" panose="020B0604020202020204" charset="0"/>
              </a:rPr>
            </a:br>
            <a:endParaRPr lang="he-IL" sz="1200" dirty="0">
              <a:latin typeface="Calistoga" panose="020B0604020202020204" charset="0"/>
            </a:endParaRPr>
          </a:p>
          <a:p>
            <a:endParaRPr lang="he-IL" dirty="0"/>
          </a:p>
        </p:txBody>
      </p:sp>
      <p:sp>
        <p:nvSpPr>
          <p:cNvPr id="4" name="מציין מיקום של מספר שקופית 3"/>
          <p:cNvSpPr>
            <a:spLocks noGrp="1"/>
          </p:cNvSpPr>
          <p:nvPr>
            <p:ph type="sldNum" sz="quarter" idx="10"/>
          </p:nvPr>
        </p:nvSpPr>
        <p:spPr/>
        <p:txBody>
          <a:bodyPr/>
          <a:lstStyle/>
          <a:p>
            <a:fld id="{2C26D56A-6F9B-443D-BD2A-A7BDF6C24BE2}" type="slidenum">
              <a:rPr lang="he-IL" smtClean="0"/>
              <a:t>16</a:t>
            </a:fld>
            <a:endParaRPr lang="he-IL"/>
          </a:p>
        </p:txBody>
      </p:sp>
    </p:spTree>
    <p:extLst>
      <p:ext uri="{BB962C8B-B14F-4D97-AF65-F5344CB8AC3E}">
        <p14:creationId xmlns:p14="http://schemas.microsoft.com/office/powerpoint/2010/main" val="4015546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2C26D56A-6F9B-443D-BD2A-A7BDF6C24BE2}" type="slidenum">
              <a:rPr lang="he-IL" smtClean="0"/>
              <a:t>18</a:t>
            </a:fld>
            <a:endParaRPr lang="he-IL"/>
          </a:p>
        </p:txBody>
      </p:sp>
    </p:spTree>
    <p:extLst>
      <p:ext uri="{BB962C8B-B14F-4D97-AF65-F5344CB8AC3E}">
        <p14:creationId xmlns:p14="http://schemas.microsoft.com/office/powerpoint/2010/main" val="966239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hyperlink" Target="https://asel.co.il/" TargetMode="External"/><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4.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28.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0.jpeg"/><Relationship Id="rId5" Type="http://schemas.openxmlformats.org/officeDocument/2006/relationships/image" Target="../media/image17.jpeg"/><Relationship Id="rId10" Type="http://schemas.openxmlformats.org/officeDocument/2006/relationships/image" Target="../media/image15.svg"/><Relationship Id="rId4" Type="http://schemas.openxmlformats.org/officeDocument/2006/relationships/image" Target="../media/image25.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2.png"/><Relationship Id="rId12"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4.png"/><Relationship Id="rId5" Type="http://schemas.openxmlformats.org/officeDocument/2006/relationships/image" Target="../media/image10.png"/><Relationship Id="rId10" Type="http://schemas.openxmlformats.org/officeDocument/2006/relationships/image" Target="../media/image36.svg"/><Relationship Id="rId4" Type="http://schemas.openxmlformats.org/officeDocument/2006/relationships/image" Target="../media/image32.svg"/><Relationship Id="rId9" Type="http://schemas.openxmlformats.org/officeDocument/2006/relationships/image" Target="../media/image23.png"/><Relationship Id="rId14" Type="http://schemas.openxmlformats.org/officeDocument/2006/relationships/hyperlink" Target="https://doi.org/10.26803/ijlter.24.5.20"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7.png"/><Relationship Id="rId7" Type="http://schemas.openxmlformats.org/officeDocument/2006/relationships/image" Target="../media/image11.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4.xml"/><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29.png"/><Relationship Id="rId5" Type="http://schemas.openxmlformats.org/officeDocument/2006/relationships/image" Target="../media/image4.png"/><Relationship Id="rId15" Type="http://schemas.openxmlformats.org/officeDocument/2006/relationships/image" Target="../media/image33.png"/><Relationship Id="rId10" Type="http://schemas.openxmlformats.org/officeDocument/2006/relationships/image" Target="../media/image43.svg"/><Relationship Id="rId19" Type="http://schemas.openxmlformats.org/officeDocument/2006/relationships/image" Target="../media/image37.png"/><Relationship Id="rId4" Type="http://schemas.openxmlformats.org/officeDocument/2006/relationships/image" Target="../media/image41.svg"/><Relationship Id="rId9" Type="http://schemas.openxmlformats.org/officeDocument/2006/relationships/image" Target="../media/image28.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41.png"/><Relationship Id="rId3" Type="http://schemas.openxmlformats.org/officeDocument/2006/relationships/image" Target="../media/image32.svg"/><Relationship Id="rId7" Type="http://schemas.openxmlformats.org/officeDocument/2006/relationships/image" Target="../media/image34.svg"/><Relationship Id="rId12" Type="http://schemas.openxmlformats.org/officeDocument/2006/relationships/image" Target="../media/image40.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39.png"/><Relationship Id="rId5" Type="http://schemas.openxmlformats.org/officeDocument/2006/relationships/image" Target="../media/image17.svg"/><Relationship Id="rId10" Type="http://schemas.openxmlformats.org/officeDocument/2006/relationships/image" Target="../media/image38.png"/><Relationship Id="rId4" Type="http://schemas.openxmlformats.org/officeDocument/2006/relationships/image" Target="../media/image10.png"/><Relationship Id="rId9" Type="http://schemas.openxmlformats.org/officeDocument/2006/relationships/image" Target="../media/image36.svg"/></Relationships>
</file>

<file path=ppt/slides/_rels/slide7.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5.png"/><Relationship Id="rId3" Type="http://schemas.openxmlformats.org/officeDocument/2006/relationships/image" Target="../media/image32.svg"/><Relationship Id="rId7" Type="http://schemas.openxmlformats.org/officeDocument/2006/relationships/image" Target="../media/image43.png"/><Relationship Id="rId12" Type="http://schemas.openxmlformats.org/officeDocument/2006/relationships/image" Target="../media/image19.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11.png"/><Relationship Id="rId5" Type="http://schemas.openxmlformats.org/officeDocument/2006/relationships/image" Target="../media/image36.svg"/><Relationship Id="rId10" Type="http://schemas.openxmlformats.org/officeDocument/2006/relationships/image" Target="../media/image15.svg"/><Relationship Id="rId4" Type="http://schemas.openxmlformats.org/officeDocument/2006/relationships/image" Target="../media/image23.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47.jpeg"/><Relationship Id="rId13" Type="http://schemas.openxmlformats.org/officeDocument/2006/relationships/image" Target="../media/image19.svg"/><Relationship Id="rId3" Type="http://schemas.openxmlformats.org/officeDocument/2006/relationships/image" Target="../media/image16.png"/><Relationship Id="rId7" Type="http://schemas.openxmlformats.org/officeDocument/2006/relationships/image" Target="../media/image28.svg"/><Relationship Id="rId12"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48.png"/><Relationship Id="rId5" Type="http://schemas.openxmlformats.org/officeDocument/2006/relationships/image" Target="../media/image46.png"/><Relationship Id="rId10" Type="http://schemas.openxmlformats.org/officeDocument/2006/relationships/image" Target="../media/image15.svg"/><Relationship Id="rId4" Type="http://schemas.openxmlformats.org/officeDocument/2006/relationships/image" Target="../media/image25.svg"/><Relationship Id="rId9" Type="http://schemas.openxmlformats.org/officeDocument/2006/relationships/image" Target="../media/image9.png"/><Relationship Id="rId14" Type="http://schemas.openxmlformats.org/officeDocument/2006/relationships/hyperlink" Target="https://doi.org/10.26803/ijlter.24.5.20"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7.png"/><Relationship Id="rId3" Type="http://schemas.openxmlformats.org/officeDocument/2006/relationships/image" Target="../media/image32.svg"/><Relationship Id="rId7" Type="http://schemas.openxmlformats.org/officeDocument/2006/relationships/image" Target="../media/image34.svg"/><Relationship Id="rId12" Type="http://schemas.openxmlformats.org/officeDocument/2006/relationships/image" Target="../media/image6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50.png"/><Relationship Id="rId5" Type="http://schemas.openxmlformats.org/officeDocument/2006/relationships/image" Target="../media/image17.svg"/><Relationship Id="rId10" Type="http://schemas.openxmlformats.org/officeDocument/2006/relationships/image" Target="../media/image49.png"/><Relationship Id="rId4" Type="http://schemas.openxmlformats.org/officeDocument/2006/relationships/image" Target="../media/image10.png"/><Relationship Id="rId9" Type="http://schemas.openxmlformats.org/officeDocument/2006/relationships/image" Target="../media/image36.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7.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15.svg"/><Relationship Id="rId7"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2.png"/><Relationship Id="rId4" Type="http://schemas.openxmlformats.org/officeDocument/2006/relationships/image" Target="../media/image51.png"/></Relationships>
</file>

<file path=ppt/slides/_rels/slide1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9.svg"/><Relationship Id="rId7" Type="http://schemas.openxmlformats.org/officeDocument/2006/relationships/hyperlink" Target="https://doi.org/10.9781/ijimai.2017.09.001" TargetMode="External"/><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https://doi.org/10.35631/IJMOE.725043" TargetMode="External"/><Relationship Id="rId5" Type="http://schemas.openxmlformats.org/officeDocument/2006/relationships/image" Target="../media/image41.svg"/><Relationship Id="rId10" Type="http://schemas.openxmlformats.org/officeDocument/2006/relationships/image" Target="../media/image56.png"/><Relationship Id="rId4" Type="http://schemas.openxmlformats.org/officeDocument/2006/relationships/image" Target="../media/image27.png"/><Relationship Id="rId9" Type="http://schemas.openxmlformats.org/officeDocument/2006/relationships/image" Target="../media/image55.png"/></Relationships>
</file>

<file path=ppt/slides/_rels/slide1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59.png"/><Relationship Id="rId3" Type="http://schemas.openxmlformats.org/officeDocument/2006/relationships/image" Target="../media/image19.svg"/><Relationship Id="rId7" Type="http://schemas.openxmlformats.org/officeDocument/2006/relationships/image" Target="../media/image4.png"/><Relationship Id="rId12" Type="http://schemas.openxmlformats.org/officeDocument/2006/relationships/image" Target="../media/image43.svg"/><Relationship Id="rId2" Type="http://schemas.openxmlformats.org/officeDocument/2006/relationships/image" Target="../media/image11.png"/><Relationship Id="rId16"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41.svg"/><Relationship Id="rId11" Type="http://schemas.openxmlformats.org/officeDocument/2006/relationships/image" Target="../media/image28.png"/><Relationship Id="rId5" Type="http://schemas.openxmlformats.org/officeDocument/2006/relationships/image" Target="../media/image27.png"/><Relationship Id="rId15" Type="http://schemas.openxmlformats.org/officeDocument/2006/relationships/image" Target="../media/image61.png"/><Relationship Id="rId10" Type="http://schemas.openxmlformats.org/officeDocument/2006/relationships/image" Target="../media/image75.svg"/><Relationship Id="rId4" Type="http://schemas.openxmlformats.org/officeDocument/2006/relationships/image" Target="../media/image57.png"/><Relationship Id="rId9" Type="http://schemas.openxmlformats.org/officeDocument/2006/relationships/image" Target="../media/image58.png"/><Relationship Id="rId14" Type="http://schemas.openxmlformats.org/officeDocument/2006/relationships/image" Target="../media/image60.png"/></Relationships>
</file>

<file path=ppt/slides/_rels/slide14.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67.jpg"/><Relationship Id="rId3" Type="http://schemas.openxmlformats.org/officeDocument/2006/relationships/image" Target="../media/image27.png"/><Relationship Id="rId7" Type="http://schemas.openxmlformats.org/officeDocument/2006/relationships/image" Target="../media/image28.png"/><Relationship Id="rId12"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65.png"/><Relationship Id="rId5" Type="http://schemas.openxmlformats.org/officeDocument/2006/relationships/image" Target="../media/image4.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41.svg"/><Relationship Id="rId9" Type="http://schemas.openxmlformats.org/officeDocument/2006/relationships/image" Target="../media/image63.png"/><Relationship Id="rId14" Type="http://schemas.openxmlformats.org/officeDocument/2006/relationships/image" Target="../media/image68.png"/></Relationships>
</file>

<file path=ppt/slides/_rels/slide15.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27.png"/><Relationship Id="rId7" Type="http://schemas.openxmlformats.org/officeDocument/2006/relationships/image" Target="../media/image58.png"/><Relationship Id="rId12" Type="http://schemas.openxmlformats.org/officeDocument/2006/relationships/image" Target="../media/image7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70.png"/><Relationship Id="rId5" Type="http://schemas.openxmlformats.org/officeDocument/2006/relationships/image" Target="../media/image4.png"/><Relationship Id="rId10" Type="http://schemas.openxmlformats.org/officeDocument/2006/relationships/image" Target="../media/image19.svg"/><Relationship Id="rId4" Type="http://schemas.openxmlformats.org/officeDocument/2006/relationships/image" Target="../media/image41.svg"/><Relationship Id="rId9"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85.png"/><Relationship Id="rId3" Type="http://schemas.openxmlformats.org/officeDocument/2006/relationships/image" Target="../media/image27.png"/><Relationship Id="rId21" Type="http://schemas.openxmlformats.org/officeDocument/2006/relationships/image" Target="../media/image80.png"/><Relationship Id="rId7" Type="http://schemas.openxmlformats.org/officeDocument/2006/relationships/image" Target="../media/image58.png"/><Relationship Id="rId12" Type="http://schemas.openxmlformats.org/officeDocument/2006/relationships/image" Target="../media/image34.svg"/><Relationship Id="rId17" Type="http://schemas.openxmlformats.org/officeDocument/2006/relationships/image" Target="../media/image76.png"/><Relationship Id="rId25" Type="http://schemas.openxmlformats.org/officeDocument/2006/relationships/image" Target="../media/image84.png"/><Relationship Id="rId2" Type="http://schemas.openxmlformats.org/officeDocument/2006/relationships/notesSlide" Target="../notesSlides/notesSlide8.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22.png"/><Relationship Id="rId24" Type="http://schemas.openxmlformats.org/officeDocument/2006/relationships/image" Target="../media/image83.png"/><Relationship Id="rId32" Type="http://schemas.openxmlformats.org/officeDocument/2006/relationships/image" Target="../media/image91.png"/><Relationship Id="rId5" Type="http://schemas.openxmlformats.org/officeDocument/2006/relationships/image" Target="../media/image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10" Type="http://schemas.openxmlformats.org/officeDocument/2006/relationships/image" Target="../media/image17.sv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41.svg"/><Relationship Id="rId9" Type="http://schemas.openxmlformats.org/officeDocument/2006/relationships/image" Target="../media/image10.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95.png"/><Relationship Id="rId3" Type="http://schemas.openxmlformats.org/officeDocument/2006/relationships/image" Target="../media/image41.svg"/><Relationship Id="rId7" Type="http://schemas.openxmlformats.org/officeDocument/2006/relationships/image" Target="../media/image19.sv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image" Target="../media/image27.png"/><Relationship Id="rId16"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93.png"/><Relationship Id="rId5" Type="http://schemas.openxmlformats.org/officeDocument/2006/relationships/image" Target="../media/image8.svg"/><Relationship Id="rId15" Type="http://schemas.openxmlformats.org/officeDocument/2006/relationships/image" Target="../media/image97.png"/><Relationship Id="rId10" Type="http://schemas.openxmlformats.org/officeDocument/2006/relationships/image" Target="../media/image92.png"/><Relationship Id="rId4" Type="http://schemas.openxmlformats.org/officeDocument/2006/relationships/image" Target="../media/image4.png"/><Relationship Id="rId9" Type="http://schemas.openxmlformats.org/officeDocument/2006/relationships/image" Target="../media/image43.svg"/><Relationship Id="rId14" Type="http://schemas.openxmlformats.org/officeDocument/2006/relationships/image" Target="../media/image96.png"/></Relationships>
</file>

<file path=ppt/slides/_rels/slide18.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100.png"/><Relationship Id="rId3" Type="http://schemas.openxmlformats.org/officeDocument/2006/relationships/image" Target="../media/image27.png"/><Relationship Id="rId7" Type="http://schemas.openxmlformats.org/officeDocument/2006/relationships/image" Target="../media/image58.png"/><Relationship Id="rId12" Type="http://schemas.openxmlformats.org/officeDocument/2006/relationships/hyperlink" Target="https://youtu.be/bzZzAnVFnUs?si=_JEeGuydIcTbMHNk"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71.png"/><Relationship Id="rId5" Type="http://schemas.openxmlformats.org/officeDocument/2006/relationships/image" Target="../media/image4.png"/><Relationship Id="rId15" Type="http://schemas.openxmlformats.org/officeDocument/2006/relationships/image" Target="../media/image17.svg"/><Relationship Id="rId10" Type="http://schemas.openxmlformats.org/officeDocument/2006/relationships/image" Target="../media/image34.svg"/><Relationship Id="rId4" Type="http://schemas.openxmlformats.org/officeDocument/2006/relationships/image" Target="../media/image41.svg"/><Relationship Id="rId9" Type="http://schemas.openxmlformats.org/officeDocument/2006/relationships/image" Target="../media/image22.png"/><Relationship Id="rId14"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01.png"/><Relationship Id="rId3" Type="http://schemas.openxmlformats.org/officeDocument/2006/relationships/image" Target="../media/image41.svg"/><Relationship Id="rId7" Type="http://schemas.openxmlformats.org/officeDocument/2006/relationships/image" Target="../media/image75.svg"/><Relationship Id="rId12"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34.svg"/><Relationship Id="rId5" Type="http://schemas.openxmlformats.org/officeDocument/2006/relationships/image" Target="../media/image8.svg"/><Relationship Id="rId10" Type="http://schemas.openxmlformats.org/officeDocument/2006/relationships/image" Target="../media/image22.png"/><Relationship Id="rId4" Type="http://schemas.openxmlformats.org/officeDocument/2006/relationships/image" Target="../media/image4.png"/><Relationship Id="rId9" Type="http://schemas.openxmlformats.org/officeDocument/2006/relationships/image" Target="../media/image17.svg"/></Relationships>
</file>

<file path=ppt/slides/_rels/slide20.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20.svg"/><Relationship Id="rId7" Type="http://schemas.openxmlformats.org/officeDocument/2006/relationships/image" Target="../media/image124.svg"/><Relationship Id="rId2" Type="http://schemas.openxmlformats.org/officeDocument/2006/relationships/image" Target="../media/image102.png"/><Relationship Id="rId1" Type="http://schemas.openxmlformats.org/officeDocument/2006/relationships/slideLayout" Target="../slideLayouts/slideLayout7.xml"/><Relationship Id="rId6" Type="http://schemas.openxmlformats.org/officeDocument/2006/relationships/image" Target="../media/image104.png"/><Relationship Id="rId11" Type="http://schemas.openxmlformats.org/officeDocument/2006/relationships/image" Target="../media/image128.svg"/><Relationship Id="rId5" Type="http://schemas.openxmlformats.org/officeDocument/2006/relationships/image" Target="../media/image122.svg"/><Relationship Id="rId10" Type="http://schemas.openxmlformats.org/officeDocument/2006/relationships/image" Target="../media/image106.png"/><Relationship Id="rId4" Type="http://schemas.openxmlformats.org/officeDocument/2006/relationships/image" Target="../media/image103.png"/><Relationship Id="rId9" Type="http://schemas.openxmlformats.org/officeDocument/2006/relationships/image" Target="../media/image12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5893957" y="-819247"/>
            <a:ext cx="4788085" cy="5256381"/>
          </a:xfrm>
          <a:custGeom>
            <a:avLst/>
            <a:gdLst/>
            <a:ahLst/>
            <a:cxnLst/>
            <a:rect l="l" t="t" r="r" b="b"/>
            <a:pathLst>
              <a:path w="4788085" h="5256381">
                <a:moveTo>
                  <a:pt x="0" y="0"/>
                </a:moveTo>
                <a:lnTo>
                  <a:pt x="4788086" y="0"/>
                </a:lnTo>
                <a:lnTo>
                  <a:pt x="4788086" y="5256381"/>
                </a:lnTo>
                <a:lnTo>
                  <a:pt x="0" y="525638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16306800" y="7039323"/>
            <a:ext cx="2682658" cy="3688654"/>
          </a:xfrm>
          <a:custGeom>
            <a:avLst/>
            <a:gdLst/>
            <a:ahLst/>
            <a:cxnLst/>
            <a:rect l="l" t="t" r="r" b="b"/>
            <a:pathLst>
              <a:path w="2682658" h="3688654">
                <a:moveTo>
                  <a:pt x="0" y="0"/>
                </a:moveTo>
                <a:lnTo>
                  <a:pt x="2682658" y="0"/>
                </a:lnTo>
                <a:lnTo>
                  <a:pt x="2682658" y="3688655"/>
                </a:lnTo>
                <a:lnTo>
                  <a:pt x="0" y="368865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flipH="1">
            <a:off x="-2221312" y="3510310"/>
            <a:ext cx="5060979" cy="7462570"/>
          </a:xfrm>
          <a:custGeom>
            <a:avLst/>
            <a:gdLst/>
            <a:ahLst/>
            <a:cxnLst/>
            <a:rect l="l" t="t" r="r" b="b"/>
            <a:pathLst>
              <a:path w="5060979" h="7462570">
                <a:moveTo>
                  <a:pt x="5060980" y="0"/>
                </a:moveTo>
                <a:lnTo>
                  <a:pt x="0" y="0"/>
                </a:lnTo>
                <a:lnTo>
                  <a:pt x="0" y="7462569"/>
                </a:lnTo>
                <a:lnTo>
                  <a:pt x="5060980" y="7462569"/>
                </a:lnTo>
                <a:lnTo>
                  <a:pt x="506098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1875056" y="508533"/>
            <a:ext cx="1929223" cy="1816977"/>
          </a:xfrm>
          <a:custGeom>
            <a:avLst/>
            <a:gdLst/>
            <a:ahLst/>
            <a:cxnLst/>
            <a:rect l="l" t="t" r="r" b="b"/>
            <a:pathLst>
              <a:path w="1929223" h="1816977">
                <a:moveTo>
                  <a:pt x="0" y="0"/>
                </a:moveTo>
                <a:lnTo>
                  <a:pt x="1929223" y="0"/>
                </a:lnTo>
                <a:lnTo>
                  <a:pt x="1929223" y="1816977"/>
                </a:lnTo>
                <a:lnTo>
                  <a:pt x="0" y="1816977"/>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he-IL"/>
          </a:p>
        </p:txBody>
      </p:sp>
      <p:sp>
        <p:nvSpPr>
          <p:cNvPr id="6" name="Freeform 6">
            <a:extLst>
              <a:ext uri="{C183D7F6-B498-43B3-948B-1728B52AA6E4}">
                <adec:decorative xmlns:adec="http://schemas.microsoft.com/office/drawing/2017/decorative" xmlns="" val="1"/>
              </a:ext>
            </a:extLst>
          </p:cNvPr>
          <p:cNvSpPr/>
          <p:nvPr/>
        </p:nvSpPr>
        <p:spPr>
          <a:xfrm>
            <a:off x="721663" y="6291608"/>
            <a:ext cx="1723793" cy="1899972"/>
          </a:xfrm>
          <a:custGeom>
            <a:avLst/>
            <a:gdLst/>
            <a:ahLst/>
            <a:cxnLst/>
            <a:rect l="l" t="t" r="r" b="b"/>
            <a:pathLst>
              <a:path w="1723793" h="1899972">
                <a:moveTo>
                  <a:pt x="0" y="0"/>
                </a:moveTo>
                <a:lnTo>
                  <a:pt x="1723793" y="0"/>
                </a:lnTo>
                <a:lnTo>
                  <a:pt x="1723793" y="1899973"/>
                </a:lnTo>
                <a:lnTo>
                  <a:pt x="0" y="1899973"/>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he-IL"/>
          </a:p>
        </p:txBody>
      </p:sp>
      <p:sp>
        <p:nvSpPr>
          <p:cNvPr id="7" name="Freeform 7"/>
          <p:cNvSpPr/>
          <p:nvPr/>
        </p:nvSpPr>
        <p:spPr>
          <a:xfrm>
            <a:off x="5648518" y="841766"/>
            <a:ext cx="5999546" cy="1416227"/>
          </a:xfrm>
          <a:custGeom>
            <a:avLst/>
            <a:gdLst/>
            <a:ahLst/>
            <a:cxnLst/>
            <a:rect l="l" t="t" r="r" b="b"/>
            <a:pathLst>
              <a:path w="5999546" h="1416227">
                <a:moveTo>
                  <a:pt x="0" y="0"/>
                </a:moveTo>
                <a:lnTo>
                  <a:pt x="5999546" y="0"/>
                </a:lnTo>
                <a:lnTo>
                  <a:pt x="5999546" y="1416227"/>
                </a:lnTo>
                <a:lnTo>
                  <a:pt x="0" y="1416227"/>
                </a:lnTo>
                <a:lnTo>
                  <a:pt x="0" y="0"/>
                </a:lnTo>
                <a:close/>
              </a:path>
            </a:pathLst>
          </a:custGeom>
          <a:blipFill>
            <a:blip r:embed="rId12"/>
            <a:stretch>
              <a:fillRect/>
            </a:stretch>
          </a:blipFill>
        </p:spPr>
        <p:txBody>
          <a:bodyPr/>
          <a:lstStyle/>
          <a:p>
            <a:endParaRPr lang="he-IL"/>
          </a:p>
        </p:txBody>
      </p:sp>
      <p:sp>
        <p:nvSpPr>
          <p:cNvPr id="8" name="Freeform 8"/>
          <p:cNvSpPr/>
          <p:nvPr/>
        </p:nvSpPr>
        <p:spPr>
          <a:xfrm>
            <a:off x="1412025" y="372091"/>
            <a:ext cx="2855284" cy="2225894"/>
          </a:xfrm>
          <a:custGeom>
            <a:avLst/>
            <a:gdLst/>
            <a:ahLst/>
            <a:cxnLst/>
            <a:rect l="l" t="t" r="r" b="b"/>
            <a:pathLst>
              <a:path w="2855284" h="2225894">
                <a:moveTo>
                  <a:pt x="0" y="0"/>
                </a:moveTo>
                <a:lnTo>
                  <a:pt x="2855285" y="0"/>
                </a:lnTo>
                <a:lnTo>
                  <a:pt x="2855285" y="2225894"/>
                </a:lnTo>
                <a:lnTo>
                  <a:pt x="0" y="2225894"/>
                </a:lnTo>
                <a:lnTo>
                  <a:pt x="0" y="0"/>
                </a:lnTo>
                <a:close/>
              </a:path>
            </a:pathLst>
          </a:custGeom>
          <a:blipFill>
            <a:blip r:embed="rId13"/>
            <a:stretch>
              <a:fillRect/>
            </a:stretch>
          </a:blipFill>
        </p:spPr>
        <p:txBody>
          <a:bodyPr/>
          <a:lstStyle/>
          <a:p>
            <a:endParaRPr lang="he-IL"/>
          </a:p>
        </p:txBody>
      </p:sp>
      <p:sp>
        <p:nvSpPr>
          <p:cNvPr id="9" name="Freeform 9"/>
          <p:cNvSpPr/>
          <p:nvPr/>
        </p:nvSpPr>
        <p:spPr>
          <a:xfrm>
            <a:off x="8501006" y="7985273"/>
            <a:ext cx="1796755" cy="1796755"/>
          </a:xfrm>
          <a:custGeom>
            <a:avLst/>
            <a:gdLst/>
            <a:ahLst/>
            <a:cxnLst/>
            <a:rect l="l" t="t" r="r" b="b"/>
            <a:pathLst>
              <a:path w="1796755" h="1796755">
                <a:moveTo>
                  <a:pt x="0" y="0"/>
                </a:moveTo>
                <a:lnTo>
                  <a:pt x="1796755" y="0"/>
                </a:lnTo>
                <a:lnTo>
                  <a:pt x="1796755" y="1796755"/>
                </a:lnTo>
                <a:lnTo>
                  <a:pt x="0" y="1796755"/>
                </a:lnTo>
                <a:lnTo>
                  <a:pt x="0" y="0"/>
                </a:lnTo>
                <a:close/>
              </a:path>
            </a:pathLst>
          </a:custGeom>
          <a:blipFill>
            <a:blip r:embed="rId14"/>
            <a:stretch>
              <a:fillRect/>
            </a:stretch>
          </a:blipFill>
        </p:spPr>
        <p:txBody>
          <a:bodyPr/>
          <a:lstStyle/>
          <a:p>
            <a:endParaRPr lang="he-IL"/>
          </a:p>
        </p:txBody>
      </p:sp>
      <p:grpSp>
        <p:nvGrpSpPr>
          <p:cNvPr id="10" name="Group 10"/>
          <p:cNvGrpSpPr/>
          <p:nvPr/>
        </p:nvGrpSpPr>
        <p:grpSpPr>
          <a:xfrm>
            <a:off x="3439560" y="3426209"/>
            <a:ext cx="12216576" cy="2031860"/>
            <a:chOff x="0" y="0"/>
            <a:chExt cx="16288768" cy="2709148"/>
          </a:xfrm>
        </p:grpSpPr>
        <p:sp>
          <p:nvSpPr>
            <p:cNvPr id="11" name="TextBox 11"/>
            <p:cNvSpPr txBox="1"/>
            <p:nvPr/>
          </p:nvSpPr>
          <p:spPr>
            <a:xfrm>
              <a:off x="0" y="0"/>
              <a:ext cx="16288768" cy="2169640"/>
            </a:xfrm>
            <a:prstGeom prst="rect">
              <a:avLst/>
            </a:prstGeom>
          </p:spPr>
          <p:txBody>
            <a:bodyPr lIns="0" tIns="0" rIns="0" bIns="0" rtlCol="0" anchor="t">
              <a:spAutoFit/>
            </a:bodyPr>
            <a:lstStyle/>
            <a:p>
              <a:pPr algn="ctr">
                <a:lnSpc>
                  <a:spcPts val="4281"/>
                </a:lnSpc>
              </a:pPr>
              <a:r>
                <a:rPr lang="en-US" sz="3567" dirty="0">
                  <a:solidFill>
                    <a:schemeClr val="accent3">
                      <a:lumMod val="50000"/>
                    </a:schemeClr>
                  </a:solidFill>
                  <a:latin typeface="Calistoga"/>
                  <a:ea typeface="Calistoga"/>
                  <a:cs typeface="Calistoga"/>
                  <a:sym typeface="Calistoga"/>
                </a:rPr>
                <a:t>CASELY: AI-Guided Socratic Dialogue for Developing</a:t>
              </a:r>
            </a:p>
            <a:p>
              <a:pPr algn="ctr">
                <a:lnSpc>
                  <a:spcPts val="4281"/>
                </a:lnSpc>
              </a:pPr>
              <a:r>
                <a:rPr lang="en-US" sz="3567" dirty="0">
                  <a:solidFill>
                    <a:schemeClr val="accent3">
                      <a:lumMod val="50000"/>
                    </a:schemeClr>
                  </a:solidFill>
                  <a:latin typeface="Calistoga"/>
                  <a:ea typeface="Calistoga"/>
                  <a:cs typeface="Calistoga"/>
                  <a:sym typeface="Calistoga"/>
                </a:rPr>
                <a:t> Social-Emotional Learning (SEL) Skills in Higher Education</a:t>
              </a:r>
            </a:p>
          </p:txBody>
        </p:sp>
        <p:sp>
          <p:nvSpPr>
            <p:cNvPr id="12" name="TextBox 12"/>
            <p:cNvSpPr txBox="1"/>
            <p:nvPr/>
          </p:nvSpPr>
          <p:spPr>
            <a:xfrm>
              <a:off x="0" y="2191571"/>
              <a:ext cx="16288768" cy="517577"/>
            </a:xfrm>
            <a:prstGeom prst="rect">
              <a:avLst/>
            </a:prstGeom>
          </p:spPr>
          <p:txBody>
            <a:bodyPr lIns="0" tIns="0" rIns="0" bIns="0" rtlCol="0" anchor="t">
              <a:spAutoFit/>
            </a:bodyPr>
            <a:lstStyle/>
            <a:p>
              <a:pPr algn="ctr">
                <a:lnSpc>
                  <a:spcPts val="3170"/>
                </a:lnSpc>
              </a:pPr>
              <a:r>
                <a:rPr lang="en-US" sz="2264" dirty="0">
                  <a:solidFill>
                    <a:srgbClr val="000000"/>
                  </a:solidFill>
                  <a:latin typeface="Calistoga"/>
                  <a:ea typeface="Calistoga"/>
                  <a:cs typeface="Calistoga"/>
                  <a:sym typeface="Calistoga"/>
                </a:rPr>
                <a:t>Final Project – Research Project </a:t>
              </a:r>
            </a:p>
          </p:txBody>
        </p:sp>
      </p:grpSp>
      <p:sp>
        <p:nvSpPr>
          <p:cNvPr id="13" name="TextBox 13"/>
          <p:cNvSpPr txBox="1"/>
          <p:nvPr/>
        </p:nvSpPr>
        <p:spPr>
          <a:xfrm>
            <a:off x="6858000" y="7047003"/>
            <a:ext cx="6201040" cy="389181"/>
          </a:xfrm>
          <a:prstGeom prst="rect">
            <a:avLst/>
          </a:prstGeom>
        </p:spPr>
        <p:txBody>
          <a:bodyPr lIns="0" tIns="0" rIns="0" bIns="0" rtlCol="0" anchor="t">
            <a:spAutoFit/>
          </a:bodyPr>
          <a:lstStyle/>
          <a:p>
            <a:pPr algn="l">
              <a:lnSpc>
                <a:spcPts val="3220"/>
              </a:lnSpc>
            </a:pPr>
            <a:r>
              <a:rPr lang="en-US" sz="2300" dirty="0">
                <a:solidFill>
                  <a:srgbClr val="000000"/>
                </a:solidFill>
                <a:latin typeface="Calistoga"/>
                <a:ea typeface="Calistoga"/>
                <a:cs typeface="Calistoga"/>
                <a:sym typeface="Calistoga"/>
              </a:rPr>
              <a:t>Advisor: Dr. Naomi </a:t>
            </a:r>
            <a:r>
              <a:rPr lang="en-US" sz="2300" dirty="0" err="1">
                <a:solidFill>
                  <a:srgbClr val="000000"/>
                </a:solidFill>
                <a:latin typeface="Calistoga"/>
                <a:ea typeface="Calistoga"/>
                <a:cs typeface="Calistoga"/>
                <a:sym typeface="Calistoga"/>
              </a:rPr>
              <a:t>Unkelos</a:t>
            </a:r>
            <a:r>
              <a:rPr lang="en-US" sz="2300" dirty="0">
                <a:solidFill>
                  <a:srgbClr val="000000"/>
                </a:solidFill>
                <a:latin typeface="Calistoga"/>
                <a:ea typeface="Calistoga"/>
                <a:cs typeface="Calistoga"/>
                <a:sym typeface="Calistoga"/>
              </a:rPr>
              <a:t> Shpigel</a:t>
            </a:r>
          </a:p>
        </p:txBody>
      </p:sp>
      <p:sp>
        <p:nvSpPr>
          <p:cNvPr id="15" name="TextBox 15"/>
          <p:cNvSpPr txBox="1"/>
          <p:nvPr/>
        </p:nvSpPr>
        <p:spPr>
          <a:xfrm>
            <a:off x="6282024" y="5893464"/>
            <a:ext cx="5723952" cy="466968"/>
          </a:xfrm>
          <a:prstGeom prst="rect">
            <a:avLst/>
          </a:prstGeom>
        </p:spPr>
        <p:txBody>
          <a:bodyPr lIns="0" tIns="0" rIns="0" bIns="0" rtlCol="0" anchor="t">
            <a:spAutoFit/>
          </a:bodyPr>
          <a:lstStyle/>
          <a:p>
            <a:pPr algn="ctr">
              <a:lnSpc>
                <a:spcPts val="3919"/>
              </a:lnSpc>
            </a:pPr>
            <a:r>
              <a:rPr lang="en-US" sz="2799" dirty="0">
                <a:solidFill>
                  <a:srgbClr val="000000"/>
                </a:solidFill>
                <a:latin typeface="Calistoga"/>
                <a:ea typeface="Calistoga"/>
                <a:cs typeface="Calistoga"/>
                <a:sym typeface="Calistoga"/>
              </a:rPr>
              <a:t>Nahla Aboromy</a:t>
            </a:r>
          </a:p>
        </p:txBody>
      </p:sp>
      <p:sp>
        <p:nvSpPr>
          <p:cNvPr id="18" name="TextBox 18"/>
          <p:cNvSpPr txBox="1"/>
          <p:nvPr/>
        </p:nvSpPr>
        <p:spPr>
          <a:xfrm>
            <a:off x="6249540" y="6360432"/>
            <a:ext cx="5723952" cy="466968"/>
          </a:xfrm>
          <a:prstGeom prst="rect">
            <a:avLst/>
          </a:prstGeom>
        </p:spPr>
        <p:txBody>
          <a:bodyPr lIns="0" tIns="0" rIns="0" bIns="0" rtlCol="0" anchor="t">
            <a:spAutoFit/>
          </a:bodyPr>
          <a:lstStyle/>
          <a:p>
            <a:pPr algn="ctr">
              <a:lnSpc>
                <a:spcPts val="3919"/>
              </a:lnSpc>
            </a:pPr>
            <a:r>
              <a:rPr lang="en-US" sz="2799" dirty="0">
                <a:solidFill>
                  <a:srgbClr val="000000"/>
                </a:solidFill>
                <a:latin typeface="Calistoga"/>
                <a:ea typeface="Calistoga"/>
                <a:cs typeface="Calistoga"/>
                <a:sym typeface="Calistoga"/>
              </a:rPr>
              <a:t>Roba Hassan</a:t>
            </a:r>
          </a:p>
        </p:txBody>
      </p:sp>
      <p:sp>
        <p:nvSpPr>
          <p:cNvPr id="21" name="TextBox 11">
            <a:extLst>
              <a:ext uri="{FF2B5EF4-FFF2-40B4-BE49-F238E27FC236}">
                <a16:creationId xmlns:a16="http://schemas.microsoft.com/office/drawing/2014/main" id="{CEBB3356-34D1-A603-850C-B88D8B14300C}"/>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a:t>
            </a:r>
          </a:p>
        </p:txBody>
      </p:sp>
      <p:sp>
        <p:nvSpPr>
          <p:cNvPr id="14" name="מלבן 13"/>
          <p:cNvSpPr/>
          <p:nvPr/>
        </p:nvSpPr>
        <p:spPr>
          <a:xfrm>
            <a:off x="8046584" y="7436184"/>
            <a:ext cx="2250937" cy="481799"/>
          </a:xfrm>
          <a:prstGeom prst="rect">
            <a:avLst/>
          </a:prstGeom>
        </p:spPr>
        <p:txBody>
          <a:bodyPr wrap="none">
            <a:spAutoFit/>
          </a:bodyPr>
          <a:lstStyle/>
          <a:p>
            <a:pPr>
              <a:lnSpc>
                <a:spcPts val="3220"/>
              </a:lnSpc>
            </a:pPr>
            <a:r>
              <a:rPr lang="en-US" sz="2300" dirty="0">
                <a:solidFill>
                  <a:srgbClr val="000000"/>
                </a:solidFill>
                <a:latin typeface="Calistoga" panose="020B0604020202020204" charset="0"/>
                <a:ea typeface="Calistoga"/>
                <a:cs typeface="Calistoga"/>
                <a:sym typeface="Calistoga"/>
              </a:rPr>
              <a:t>Code: </a:t>
            </a:r>
            <a:r>
              <a:rPr lang="en-US" sz="2300" b="1" dirty="0">
                <a:latin typeface="Calistoga" panose="020B0604020202020204" charset="0"/>
              </a:rPr>
              <a:t>26-1-R-5</a:t>
            </a:r>
            <a:endParaRPr lang="en-US" sz="2300" dirty="0">
              <a:solidFill>
                <a:srgbClr val="000000"/>
              </a:solidFill>
              <a:latin typeface="Calistoga" panose="020B0604020202020204" charset="0"/>
              <a:ea typeface="Calistoga"/>
              <a:cs typeface="Calistoga"/>
              <a:sym typeface="Calistog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2971575" y="-911802"/>
            <a:ext cx="5352114" cy="6249814"/>
          </a:xfrm>
          <a:custGeom>
            <a:avLst/>
            <a:gdLst/>
            <a:ahLst/>
            <a:cxnLst/>
            <a:rect l="l" t="t" r="r" b="b"/>
            <a:pathLst>
              <a:path w="5352114" h="6249814">
                <a:moveTo>
                  <a:pt x="0" y="0"/>
                </a:moveTo>
                <a:lnTo>
                  <a:pt x="5352114" y="0"/>
                </a:lnTo>
                <a:lnTo>
                  <a:pt x="5352114" y="6249815"/>
                </a:lnTo>
                <a:lnTo>
                  <a:pt x="0" y="624981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rot="908262">
            <a:off x="17071363" y="5234220"/>
            <a:ext cx="6396631" cy="6638014"/>
          </a:xfrm>
          <a:custGeom>
            <a:avLst/>
            <a:gdLst/>
            <a:ahLst/>
            <a:cxnLst/>
            <a:rect l="l" t="t" r="r" b="b"/>
            <a:pathLst>
              <a:path w="6396631" h="6638014">
                <a:moveTo>
                  <a:pt x="0" y="0"/>
                </a:moveTo>
                <a:lnTo>
                  <a:pt x="6396631" y="0"/>
                </a:lnTo>
                <a:lnTo>
                  <a:pt x="6396631" y="6638013"/>
                </a:lnTo>
                <a:lnTo>
                  <a:pt x="0" y="663801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a:off x="-779824" y="276237"/>
            <a:ext cx="2010619" cy="2164071"/>
          </a:xfrm>
          <a:custGeom>
            <a:avLst/>
            <a:gdLst/>
            <a:ahLst/>
            <a:cxnLst/>
            <a:rect l="l" t="t" r="r" b="b"/>
            <a:pathLst>
              <a:path w="2010619" h="2164071">
                <a:moveTo>
                  <a:pt x="0" y="0"/>
                </a:moveTo>
                <a:lnTo>
                  <a:pt x="2010619" y="0"/>
                </a:lnTo>
                <a:lnTo>
                  <a:pt x="2010619" y="2164072"/>
                </a:lnTo>
                <a:lnTo>
                  <a:pt x="0" y="216407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16315616" y="221959"/>
            <a:ext cx="1669639" cy="1572496"/>
          </a:xfrm>
          <a:custGeom>
            <a:avLst/>
            <a:gdLst/>
            <a:ahLst/>
            <a:cxnLst/>
            <a:rect l="l" t="t" r="r" b="b"/>
            <a:pathLst>
              <a:path w="1669639" h="1572496">
                <a:moveTo>
                  <a:pt x="0" y="0"/>
                </a:moveTo>
                <a:lnTo>
                  <a:pt x="1669639" y="0"/>
                </a:lnTo>
                <a:lnTo>
                  <a:pt x="1669639" y="1572496"/>
                </a:lnTo>
                <a:lnTo>
                  <a:pt x="0" y="1572496"/>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grpSp>
        <p:nvGrpSpPr>
          <p:cNvPr id="7" name="Group 7"/>
          <p:cNvGrpSpPr/>
          <p:nvPr/>
        </p:nvGrpSpPr>
        <p:grpSpPr>
          <a:xfrm>
            <a:off x="2167050" y="-1856144"/>
            <a:ext cx="15528283" cy="4230356"/>
            <a:chOff x="0" y="504825"/>
            <a:chExt cx="20704377" cy="5640473"/>
          </a:xfrm>
        </p:grpSpPr>
        <p:sp>
          <p:nvSpPr>
            <p:cNvPr id="8" name="TextBox 8"/>
            <p:cNvSpPr txBox="1"/>
            <p:nvPr/>
          </p:nvSpPr>
          <p:spPr>
            <a:xfrm>
              <a:off x="0" y="504825"/>
              <a:ext cx="19977847" cy="4769859"/>
            </a:xfrm>
            <a:prstGeom prst="rect">
              <a:avLst/>
            </a:prstGeom>
          </p:spPr>
          <p:txBody>
            <a:bodyPr lIns="0" tIns="0" rIns="0" bIns="0" rtlCol="0" anchor="t">
              <a:spAutoFit/>
            </a:bodyPr>
            <a:lstStyle/>
            <a:p>
              <a:pPr algn="ctr">
                <a:lnSpc>
                  <a:spcPts val="26000"/>
                </a:lnSpc>
              </a:pPr>
              <a:endParaRPr/>
            </a:p>
          </p:txBody>
        </p:sp>
        <p:sp>
          <p:nvSpPr>
            <p:cNvPr id="9" name="TextBox 9"/>
            <p:cNvSpPr txBox="1"/>
            <p:nvPr/>
          </p:nvSpPr>
          <p:spPr>
            <a:xfrm>
              <a:off x="22577" y="5119377"/>
              <a:ext cx="20681800" cy="1025921"/>
            </a:xfrm>
            <a:prstGeom prst="rect">
              <a:avLst/>
            </a:prstGeom>
          </p:spPr>
          <p:txBody>
            <a:bodyPr wrap="square" lIns="0" tIns="0" rIns="0" bIns="0" rtlCol="0" anchor="t">
              <a:spAutoFit/>
            </a:bodyPr>
            <a:lstStyle/>
            <a:p>
              <a:r>
                <a:rPr lang="en-US" sz="2500" b="1" dirty="0">
                  <a:latin typeface="Public Sans" panose="020B0604020202020204" charset="0"/>
                </a:rPr>
                <a:t>Social-Emotional Learning (SEL)</a:t>
              </a:r>
              <a:r>
                <a:rPr lang="en-US" sz="2500" dirty="0">
                  <a:latin typeface="Public Sans" panose="020B0604020202020204" charset="0"/>
                </a:rPr>
                <a:t> is the process of acquiring and applying skills that support emotional regulation, positive social interaction, intrinsic motivation, resilience, and responsible decision-making.</a:t>
              </a:r>
            </a:p>
          </p:txBody>
        </p:sp>
      </p:grpSp>
      <p:sp>
        <p:nvSpPr>
          <p:cNvPr id="10" name="TextBox 10"/>
          <p:cNvSpPr txBox="1"/>
          <p:nvPr/>
        </p:nvSpPr>
        <p:spPr>
          <a:xfrm>
            <a:off x="1652307" y="490200"/>
            <a:ext cx="14983385" cy="962699"/>
          </a:xfrm>
          <a:prstGeom prst="rect">
            <a:avLst/>
          </a:prstGeom>
        </p:spPr>
        <p:txBody>
          <a:bodyPr lIns="0" tIns="0" rIns="0" bIns="0" rtlCol="0" anchor="t">
            <a:spAutoFit/>
          </a:bodyPr>
          <a:lstStyle/>
          <a:p>
            <a:pPr algn="ctr">
              <a:lnSpc>
                <a:spcPts val="7839"/>
              </a:lnSpc>
            </a:pPr>
            <a:r>
              <a:rPr lang="en-US" sz="5599" dirty="0">
                <a:solidFill>
                  <a:schemeClr val="accent3">
                    <a:lumMod val="50000"/>
                  </a:schemeClr>
                </a:solidFill>
                <a:latin typeface="Calistoga"/>
                <a:ea typeface="Calistoga"/>
                <a:cs typeface="Calistoga"/>
                <a:sym typeface="Calistoga"/>
              </a:rPr>
              <a:t> The CASEL Framework for SEL</a:t>
            </a:r>
          </a:p>
        </p:txBody>
      </p:sp>
      <p:sp>
        <p:nvSpPr>
          <p:cNvPr id="6" name="TextBox 11">
            <a:extLst>
              <a:ext uri="{FF2B5EF4-FFF2-40B4-BE49-F238E27FC236}">
                <a16:creationId xmlns:a16="http://schemas.microsoft.com/office/drawing/2014/main" id="{D3965AE7-33A1-CC8F-BAA4-E9B719304AAE}"/>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2</a:t>
            </a:r>
          </a:p>
        </p:txBody>
      </p:sp>
      <p:sp>
        <p:nvSpPr>
          <p:cNvPr id="20" name="TextBox 12">
            <a:extLst>
              <a:ext uri="{FF2B5EF4-FFF2-40B4-BE49-F238E27FC236}">
                <a16:creationId xmlns:a16="http://schemas.microsoft.com/office/drawing/2014/main" id="{C1187D8E-D0A1-5E09-948E-5230B0553756}"/>
              </a:ext>
            </a:extLst>
          </p:cNvPr>
          <p:cNvSpPr txBox="1"/>
          <p:nvPr/>
        </p:nvSpPr>
        <p:spPr>
          <a:xfrm>
            <a:off x="0" y="10029669"/>
            <a:ext cx="17403070" cy="738664"/>
          </a:xfrm>
          <a:prstGeom prst="rect">
            <a:avLst/>
          </a:prstGeom>
        </p:spPr>
        <p:txBody>
          <a:bodyPr wrap="square" lIns="0" tIns="0" rIns="0" bIns="0" rtlCol="0" anchor="t">
            <a:spAutoFit/>
          </a:bodyPr>
          <a:lstStyle/>
          <a:p>
            <a:r>
              <a:rPr lang="en-US" dirty="0">
                <a:latin typeface="Public Sans" panose="020B0604020202020204" charset="0"/>
              </a:rPr>
              <a:t>ASEL. (n.d.). The CASEL Framework for SEL. Retrieved January 19, 2026, from </a:t>
            </a:r>
            <a:r>
              <a:rPr lang="en-US" dirty="0">
                <a:latin typeface="Public Sans" panose="020B0604020202020204" charset="0"/>
                <a:hlinkClick r:id="rId11"/>
              </a:rPr>
              <a:t>https://asel.co.il/</a:t>
            </a:r>
            <a:endParaRPr lang="en-US" dirty="0">
              <a:latin typeface="Public Sans" panose="020B0604020202020204" charset="0"/>
            </a:endParaRPr>
          </a:p>
          <a:p>
            <a:endParaRPr lang="en-US" sz="3000" dirty="0"/>
          </a:p>
        </p:txBody>
      </p:sp>
      <p:pic>
        <p:nvPicPr>
          <p:cNvPr id="25" name="תמונה 24" descr="תמונה שמכילה טקסט, תקליטור, עיגול, צילום מסך&#10;&#10;תוכן בינה מלאכותית גנרטיבית עשוי להיות שגוי.">
            <a:extLst>
              <a:ext uri="{FF2B5EF4-FFF2-40B4-BE49-F238E27FC236}">
                <a16:creationId xmlns:a16="http://schemas.microsoft.com/office/drawing/2014/main" id="{340CAAE5-8211-BBF0-81E4-6B7027DFED6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20170" y="2110689"/>
            <a:ext cx="13260047" cy="7637626"/>
          </a:xfrm>
          <a:prstGeom prst="rect">
            <a:avLst/>
          </a:prstGeom>
        </p:spPr>
      </p:pic>
      <p:pic>
        <p:nvPicPr>
          <p:cNvPr id="34" name="תמונה 33" descr="תמונה שמכילה לבן, עיצוב&#10;&#10;תוכן בינה מלאכותית גנרטיבית עשוי להיות שגוי.">
            <a:extLst>
              <a:ext uri="{FF2B5EF4-FFF2-40B4-BE49-F238E27FC236}">
                <a16:creationId xmlns:a16="http://schemas.microsoft.com/office/drawing/2014/main" id="{4FA4C336-285F-F42D-6167-D2F2D30BAAE3}"/>
              </a:ext>
            </a:extLst>
          </p:cNvPr>
          <p:cNvPicPr>
            <a:picLocks noChangeAspect="1"/>
          </p:cNvPicPr>
          <p:nvPr/>
        </p:nvPicPr>
        <p:blipFill>
          <a:blip r:embed="rId13"/>
          <a:stretch>
            <a:fillRect/>
          </a:stretch>
        </p:blipFill>
        <p:spPr>
          <a:xfrm>
            <a:off x="2530726" y="2488339"/>
            <a:ext cx="3641473" cy="2025840"/>
          </a:xfrm>
          <a:prstGeom prst="rect">
            <a:avLst/>
          </a:prstGeom>
        </p:spPr>
      </p:pic>
      <p:sp>
        <p:nvSpPr>
          <p:cNvPr id="35" name="תיבת טקסט 34">
            <a:extLst>
              <a:ext uri="{FF2B5EF4-FFF2-40B4-BE49-F238E27FC236}">
                <a16:creationId xmlns:a16="http://schemas.microsoft.com/office/drawing/2014/main" id="{B3BED12C-1F54-E2B9-A6ED-C06C93B31888}"/>
              </a:ext>
            </a:extLst>
          </p:cNvPr>
          <p:cNvSpPr txBox="1"/>
          <p:nvPr/>
        </p:nvSpPr>
        <p:spPr>
          <a:xfrm>
            <a:off x="2517756" y="2701950"/>
            <a:ext cx="5843346" cy="2400657"/>
          </a:xfrm>
          <a:prstGeom prst="rect">
            <a:avLst/>
          </a:prstGeom>
          <a:noFill/>
        </p:spPr>
        <p:txBody>
          <a:bodyPr wrap="square" rtlCol="1">
            <a:spAutoFit/>
          </a:bodyPr>
          <a:lstStyle/>
          <a:p>
            <a:r>
              <a:rPr lang="en-US" sz="2500" dirty="0">
                <a:latin typeface="Public Sans" panose="020B0604020202020204" charset="0"/>
              </a:rPr>
              <a:t>• Identifying emotions</a:t>
            </a:r>
          </a:p>
          <a:p>
            <a:r>
              <a:rPr lang="en-US" sz="2500" dirty="0">
                <a:latin typeface="Public Sans" panose="020B0604020202020204" charset="0"/>
              </a:rPr>
              <a:t>• Self-perception / Identity</a:t>
            </a:r>
          </a:p>
          <a:p>
            <a:r>
              <a:rPr lang="en-US" sz="2500" dirty="0">
                <a:latin typeface="Public Sans" panose="020B0604020202020204" charset="0"/>
              </a:rPr>
              <a:t>• Recognizing strengths</a:t>
            </a:r>
          </a:p>
          <a:p>
            <a:r>
              <a:rPr lang="en-US" sz="2500" dirty="0">
                <a:latin typeface="Public Sans" panose="020B0604020202020204" charset="0"/>
              </a:rPr>
              <a:t>• Sense of self-confidence</a:t>
            </a:r>
          </a:p>
          <a:p>
            <a:r>
              <a:rPr lang="en-US" sz="2500" dirty="0">
                <a:latin typeface="Public Sans" panose="020B0604020202020204" charset="0"/>
              </a:rPr>
              <a:t>• Self-efficacy</a:t>
            </a:r>
          </a:p>
          <a:p>
            <a:endParaRPr lang="he-IL" sz="2500" dirty="0">
              <a:latin typeface="Public Sans" panose="020B0604020202020204" charset="0"/>
            </a:endParaRPr>
          </a:p>
        </p:txBody>
      </p:sp>
      <p:pic>
        <p:nvPicPr>
          <p:cNvPr id="38" name="תמונה 37">
            <a:extLst>
              <a:ext uri="{FF2B5EF4-FFF2-40B4-BE49-F238E27FC236}">
                <a16:creationId xmlns:a16="http://schemas.microsoft.com/office/drawing/2014/main" id="{ACBE3AAB-430C-0959-C005-36500CA25941}"/>
              </a:ext>
            </a:extLst>
          </p:cNvPr>
          <p:cNvPicPr>
            <a:picLocks noChangeAspect="1"/>
          </p:cNvPicPr>
          <p:nvPr/>
        </p:nvPicPr>
        <p:blipFill>
          <a:blip r:embed="rId14"/>
          <a:stretch>
            <a:fillRect/>
          </a:stretch>
        </p:blipFill>
        <p:spPr>
          <a:xfrm>
            <a:off x="2404184" y="5760869"/>
            <a:ext cx="2929816" cy="1842951"/>
          </a:xfrm>
          <a:prstGeom prst="rect">
            <a:avLst/>
          </a:prstGeom>
        </p:spPr>
      </p:pic>
      <p:pic>
        <p:nvPicPr>
          <p:cNvPr id="39" name="תמונה 38">
            <a:extLst>
              <a:ext uri="{FF2B5EF4-FFF2-40B4-BE49-F238E27FC236}">
                <a16:creationId xmlns:a16="http://schemas.microsoft.com/office/drawing/2014/main" id="{15FDAEA1-3C22-0F64-266E-D640B3DE9CE3}"/>
              </a:ext>
            </a:extLst>
          </p:cNvPr>
          <p:cNvPicPr>
            <a:picLocks noChangeAspect="1"/>
          </p:cNvPicPr>
          <p:nvPr/>
        </p:nvPicPr>
        <p:blipFill>
          <a:blip r:embed="rId14"/>
          <a:stretch>
            <a:fillRect/>
          </a:stretch>
        </p:blipFill>
        <p:spPr>
          <a:xfrm>
            <a:off x="2979568" y="5785999"/>
            <a:ext cx="2929816" cy="1842951"/>
          </a:xfrm>
          <a:prstGeom prst="rect">
            <a:avLst/>
          </a:prstGeom>
        </p:spPr>
      </p:pic>
      <p:sp>
        <p:nvSpPr>
          <p:cNvPr id="40" name="תיבת טקסט 39">
            <a:extLst>
              <a:ext uri="{FF2B5EF4-FFF2-40B4-BE49-F238E27FC236}">
                <a16:creationId xmlns:a16="http://schemas.microsoft.com/office/drawing/2014/main" id="{A39A7589-287F-2D55-5667-4E54FED7DAF2}"/>
              </a:ext>
            </a:extLst>
          </p:cNvPr>
          <p:cNvSpPr txBox="1"/>
          <p:nvPr/>
        </p:nvSpPr>
        <p:spPr>
          <a:xfrm>
            <a:off x="2503165" y="5896463"/>
            <a:ext cx="5212913" cy="2015936"/>
          </a:xfrm>
          <a:prstGeom prst="rect">
            <a:avLst/>
          </a:prstGeom>
          <a:noFill/>
        </p:spPr>
        <p:txBody>
          <a:bodyPr wrap="square" rtlCol="1">
            <a:spAutoFit/>
          </a:bodyPr>
          <a:lstStyle/>
          <a:p>
            <a:r>
              <a:rPr lang="en-US" sz="2500" dirty="0">
                <a:latin typeface="Public Sans" panose="020B0604020202020204" charset="0"/>
              </a:rPr>
              <a:t>• Perspective taking</a:t>
            </a:r>
          </a:p>
          <a:p>
            <a:r>
              <a:rPr lang="en-US" sz="2500" dirty="0">
                <a:latin typeface="Public Sans" panose="020B0604020202020204" charset="0"/>
              </a:rPr>
              <a:t>• Empathy</a:t>
            </a:r>
          </a:p>
          <a:p>
            <a:r>
              <a:rPr lang="en-US" sz="2500" dirty="0">
                <a:latin typeface="Public Sans" panose="020B0604020202020204" charset="0"/>
              </a:rPr>
              <a:t>• Appreciating diversity</a:t>
            </a:r>
          </a:p>
          <a:p>
            <a:r>
              <a:rPr lang="en-US" sz="2500" dirty="0">
                <a:latin typeface="Public Sans" panose="020B0604020202020204" charset="0"/>
              </a:rPr>
              <a:t>• Respect for others</a:t>
            </a:r>
          </a:p>
          <a:p>
            <a:endParaRPr lang="he-IL" sz="2500" dirty="0">
              <a:latin typeface="Public Sans" panose="020B0604020202020204" charset="0"/>
            </a:endParaRPr>
          </a:p>
        </p:txBody>
      </p:sp>
      <p:pic>
        <p:nvPicPr>
          <p:cNvPr id="42" name="תמונה 41" descr="תמונה שמכילה לבן, עיצוב&#10;&#10;תוכן בינה מלאכותית גנרטיבית עשוי להיות שגוי.">
            <a:extLst>
              <a:ext uri="{FF2B5EF4-FFF2-40B4-BE49-F238E27FC236}">
                <a16:creationId xmlns:a16="http://schemas.microsoft.com/office/drawing/2014/main" id="{8D9295EB-8080-6779-3BA8-59A1867DC137}"/>
              </a:ext>
            </a:extLst>
          </p:cNvPr>
          <p:cNvPicPr>
            <a:picLocks noChangeAspect="1"/>
          </p:cNvPicPr>
          <p:nvPr/>
        </p:nvPicPr>
        <p:blipFill>
          <a:blip r:embed="rId15"/>
          <a:stretch>
            <a:fillRect/>
          </a:stretch>
        </p:blipFill>
        <p:spPr>
          <a:xfrm>
            <a:off x="11989340" y="2405845"/>
            <a:ext cx="3814403" cy="2900534"/>
          </a:xfrm>
          <a:prstGeom prst="rect">
            <a:avLst/>
          </a:prstGeom>
        </p:spPr>
      </p:pic>
      <p:pic>
        <p:nvPicPr>
          <p:cNvPr id="43" name="תמונה 42" descr="תמונה שמכילה לבן, עיצוב&#10;&#10;תוכן בינה מלאכותית גנרטיבית עשוי להיות שגוי.">
            <a:extLst>
              <a:ext uri="{FF2B5EF4-FFF2-40B4-BE49-F238E27FC236}">
                <a16:creationId xmlns:a16="http://schemas.microsoft.com/office/drawing/2014/main" id="{9B684D20-9052-F9CC-FF3A-410F74EAE836}"/>
              </a:ext>
            </a:extLst>
          </p:cNvPr>
          <p:cNvPicPr>
            <a:picLocks noChangeAspect="1"/>
          </p:cNvPicPr>
          <p:nvPr/>
        </p:nvPicPr>
        <p:blipFill>
          <a:blip r:embed="rId15"/>
          <a:stretch>
            <a:fillRect/>
          </a:stretch>
        </p:blipFill>
        <p:spPr>
          <a:xfrm>
            <a:off x="12245276" y="5143500"/>
            <a:ext cx="3814403" cy="2900534"/>
          </a:xfrm>
          <a:prstGeom prst="rect">
            <a:avLst/>
          </a:prstGeom>
        </p:spPr>
      </p:pic>
      <p:pic>
        <p:nvPicPr>
          <p:cNvPr id="44" name="תמונה 43" descr="תמונה שמכילה לבן, עיצוב&#10;&#10;תוכן בינה מלאכותית גנרטיבית עשוי להיות שגוי.">
            <a:extLst>
              <a:ext uri="{FF2B5EF4-FFF2-40B4-BE49-F238E27FC236}">
                <a16:creationId xmlns:a16="http://schemas.microsoft.com/office/drawing/2014/main" id="{1E125A38-E9CA-C8F3-D7C6-AC5BEC6B9E93}"/>
              </a:ext>
            </a:extLst>
          </p:cNvPr>
          <p:cNvPicPr>
            <a:picLocks noChangeAspect="1"/>
          </p:cNvPicPr>
          <p:nvPr/>
        </p:nvPicPr>
        <p:blipFill>
          <a:blip r:embed="rId15"/>
          <a:stretch>
            <a:fillRect/>
          </a:stretch>
        </p:blipFill>
        <p:spPr>
          <a:xfrm>
            <a:off x="5109621" y="9016320"/>
            <a:ext cx="8110775" cy="757125"/>
          </a:xfrm>
          <a:prstGeom prst="rect">
            <a:avLst/>
          </a:prstGeom>
        </p:spPr>
      </p:pic>
      <p:sp>
        <p:nvSpPr>
          <p:cNvPr id="45" name="תיבת טקסט 44">
            <a:extLst>
              <a:ext uri="{FF2B5EF4-FFF2-40B4-BE49-F238E27FC236}">
                <a16:creationId xmlns:a16="http://schemas.microsoft.com/office/drawing/2014/main" id="{2634ECA6-B1F4-59E6-947F-51328B9A7984}"/>
              </a:ext>
            </a:extLst>
          </p:cNvPr>
          <p:cNvSpPr txBox="1"/>
          <p:nvPr/>
        </p:nvSpPr>
        <p:spPr>
          <a:xfrm>
            <a:off x="12082318" y="2719066"/>
            <a:ext cx="6506470" cy="2785378"/>
          </a:xfrm>
          <a:prstGeom prst="rect">
            <a:avLst/>
          </a:prstGeom>
          <a:noFill/>
        </p:spPr>
        <p:txBody>
          <a:bodyPr wrap="square" rtlCol="1">
            <a:spAutoFit/>
          </a:bodyPr>
          <a:lstStyle/>
          <a:p>
            <a:r>
              <a:rPr lang="en-US" sz="2500" dirty="0">
                <a:latin typeface="Public Sans" panose="020B0604020202020204" charset="0"/>
              </a:rPr>
              <a:t>• Impulse control</a:t>
            </a:r>
          </a:p>
          <a:p>
            <a:r>
              <a:rPr lang="en-US" sz="2500" dirty="0">
                <a:latin typeface="Public Sans" panose="020B0604020202020204" charset="0"/>
              </a:rPr>
              <a:t>• Stress management</a:t>
            </a:r>
          </a:p>
          <a:p>
            <a:r>
              <a:rPr lang="en-US" sz="2500" dirty="0">
                <a:latin typeface="Public Sans" panose="020B0604020202020204" charset="0"/>
              </a:rPr>
              <a:t>• Self-discipline</a:t>
            </a:r>
          </a:p>
          <a:p>
            <a:r>
              <a:rPr lang="en-US" sz="2500" dirty="0">
                <a:latin typeface="Public Sans" panose="020B0604020202020204" charset="0"/>
              </a:rPr>
              <a:t>• Self-motivation</a:t>
            </a:r>
          </a:p>
          <a:p>
            <a:r>
              <a:rPr lang="en-US" sz="2500" dirty="0">
                <a:latin typeface="Public Sans" panose="020B0604020202020204" charset="0"/>
              </a:rPr>
              <a:t>• Goal setting</a:t>
            </a:r>
          </a:p>
          <a:p>
            <a:r>
              <a:rPr lang="en-US" sz="2500" dirty="0">
                <a:latin typeface="Public Sans" panose="020B0604020202020204" charset="0"/>
              </a:rPr>
              <a:t>• Organizational skills</a:t>
            </a:r>
          </a:p>
          <a:p>
            <a:endParaRPr lang="he-IL" sz="2500" dirty="0">
              <a:latin typeface="Public Sans" panose="020B0604020202020204" charset="0"/>
            </a:endParaRPr>
          </a:p>
        </p:txBody>
      </p:sp>
      <p:sp>
        <p:nvSpPr>
          <p:cNvPr id="46" name="תיבת טקסט 45">
            <a:extLst>
              <a:ext uri="{FF2B5EF4-FFF2-40B4-BE49-F238E27FC236}">
                <a16:creationId xmlns:a16="http://schemas.microsoft.com/office/drawing/2014/main" id="{0EBAB80E-351F-29F6-06BB-662C35B67CE7}"/>
              </a:ext>
            </a:extLst>
          </p:cNvPr>
          <p:cNvSpPr txBox="1"/>
          <p:nvPr/>
        </p:nvSpPr>
        <p:spPr>
          <a:xfrm>
            <a:off x="12177029" y="5867693"/>
            <a:ext cx="6506470" cy="2400657"/>
          </a:xfrm>
          <a:prstGeom prst="rect">
            <a:avLst/>
          </a:prstGeom>
          <a:noFill/>
        </p:spPr>
        <p:txBody>
          <a:bodyPr wrap="square" rtlCol="1">
            <a:spAutoFit/>
          </a:bodyPr>
          <a:lstStyle/>
          <a:p>
            <a:r>
              <a:rPr lang="en-US" sz="2500" dirty="0">
                <a:latin typeface="Public Sans" panose="020B0604020202020204" charset="0"/>
              </a:rPr>
              <a:t>• Identifying problems</a:t>
            </a:r>
          </a:p>
          <a:p>
            <a:r>
              <a:rPr lang="en-US" sz="2500" dirty="0">
                <a:latin typeface="Public Sans" panose="020B0604020202020204" charset="0"/>
              </a:rPr>
              <a:t>• Analyzing situations</a:t>
            </a:r>
          </a:p>
          <a:p>
            <a:r>
              <a:rPr lang="en-US" sz="2500" dirty="0">
                <a:latin typeface="Public Sans" panose="020B0604020202020204" charset="0"/>
              </a:rPr>
              <a:t>• Solving problems</a:t>
            </a:r>
          </a:p>
          <a:p>
            <a:r>
              <a:rPr lang="en-US" sz="2500" dirty="0">
                <a:latin typeface="Public Sans" panose="020B0604020202020204" charset="0"/>
              </a:rPr>
              <a:t>• Evaluating</a:t>
            </a:r>
          </a:p>
          <a:p>
            <a:r>
              <a:rPr lang="en-US" sz="2500" dirty="0">
                <a:latin typeface="Public Sans" panose="020B0604020202020204" charset="0"/>
              </a:rPr>
              <a:t>• Reflecting</a:t>
            </a:r>
          </a:p>
          <a:p>
            <a:r>
              <a:rPr lang="en-US" sz="2500" dirty="0">
                <a:latin typeface="Public Sans" panose="020B0604020202020204" charset="0"/>
              </a:rPr>
              <a:t>• Ethical responsibility</a:t>
            </a:r>
          </a:p>
        </p:txBody>
      </p:sp>
      <p:sp>
        <p:nvSpPr>
          <p:cNvPr id="47" name="תיבת טקסט 46">
            <a:extLst>
              <a:ext uri="{FF2B5EF4-FFF2-40B4-BE49-F238E27FC236}">
                <a16:creationId xmlns:a16="http://schemas.microsoft.com/office/drawing/2014/main" id="{3A8C6B7F-2451-34F2-A8EF-2B190EA1EF1B}"/>
              </a:ext>
            </a:extLst>
          </p:cNvPr>
          <p:cNvSpPr txBox="1"/>
          <p:nvPr/>
        </p:nvSpPr>
        <p:spPr>
          <a:xfrm>
            <a:off x="4538871" y="8997005"/>
            <a:ext cx="9252274" cy="861774"/>
          </a:xfrm>
          <a:prstGeom prst="rect">
            <a:avLst/>
          </a:prstGeom>
          <a:noFill/>
        </p:spPr>
        <p:txBody>
          <a:bodyPr wrap="square" rtlCol="1">
            <a:spAutoFit/>
          </a:bodyPr>
          <a:lstStyle/>
          <a:p>
            <a:r>
              <a:rPr lang="en-US" sz="2500" dirty="0">
                <a:latin typeface="Public Sans" panose="020B0604020202020204" charset="0"/>
              </a:rPr>
              <a:t>• Communication • Social engagement • Relationship building • Teamwork • Conflict resolution • Seeking help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864306" y="-389955"/>
            <a:ext cx="2434137" cy="2420859"/>
          </a:xfrm>
          <a:custGeom>
            <a:avLst/>
            <a:gdLst/>
            <a:ahLst/>
            <a:cxnLst/>
            <a:rect l="l" t="t" r="r" b="b"/>
            <a:pathLst>
              <a:path w="2434137" h="2420859">
                <a:moveTo>
                  <a:pt x="0" y="0"/>
                </a:moveTo>
                <a:lnTo>
                  <a:pt x="2434137" y="0"/>
                </a:lnTo>
                <a:lnTo>
                  <a:pt x="2434137" y="2420860"/>
                </a:lnTo>
                <a:lnTo>
                  <a:pt x="0" y="242086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grpSp>
        <p:nvGrpSpPr>
          <p:cNvPr id="3" name="Group 3"/>
          <p:cNvGrpSpPr/>
          <p:nvPr/>
        </p:nvGrpSpPr>
        <p:grpSpPr>
          <a:xfrm>
            <a:off x="1423847" y="3587567"/>
            <a:ext cx="3471109" cy="3610360"/>
            <a:chOff x="0" y="0"/>
            <a:chExt cx="6350000" cy="6604745"/>
          </a:xfrm>
        </p:grpSpPr>
        <p:sp>
          <p:nvSpPr>
            <p:cNvPr id="4" name="Freeform 4"/>
            <p:cNvSpPr/>
            <p:nvPr/>
          </p:nvSpPr>
          <p:spPr>
            <a:xfrm>
              <a:off x="0" y="0"/>
              <a:ext cx="6350000" cy="6604745"/>
            </a:xfrm>
            <a:custGeom>
              <a:avLst/>
              <a:gdLst/>
              <a:ahLst/>
              <a:cxnLst/>
              <a:rect l="l" t="t" r="r" b="b"/>
              <a:pathLst>
                <a:path w="6350000" h="6604745">
                  <a:moveTo>
                    <a:pt x="6350000" y="3302412"/>
                  </a:moveTo>
                  <a:cubicBezTo>
                    <a:pt x="6350000" y="5126188"/>
                    <a:pt x="4928476" y="6604745"/>
                    <a:pt x="3175000" y="6604745"/>
                  </a:cubicBezTo>
                  <a:cubicBezTo>
                    <a:pt x="1421498" y="6604745"/>
                    <a:pt x="0" y="5126188"/>
                    <a:pt x="0" y="3302412"/>
                  </a:cubicBezTo>
                  <a:cubicBezTo>
                    <a:pt x="0" y="1478544"/>
                    <a:pt x="1421498" y="0"/>
                    <a:pt x="3175000" y="0"/>
                  </a:cubicBezTo>
                  <a:cubicBezTo>
                    <a:pt x="4928502" y="0"/>
                    <a:pt x="6350000" y="1478544"/>
                    <a:pt x="6350000" y="3302412"/>
                  </a:cubicBezTo>
                  <a:close/>
                </a:path>
              </a:pathLst>
            </a:custGeom>
            <a:blipFill>
              <a:blip r:embed="rId5"/>
              <a:stretch>
                <a:fillRect l="-15760" r="-15760"/>
              </a:stretch>
            </a:blipFill>
          </p:spPr>
          <p:txBody>
            <a:bodyPr/>
            <a:lstStyle/>
            <a:p>
              <a:endParaRPr lang="he-IL"/>
            </a:p>
          </p:txBody>
        </p:sp>
      </p:grpSp>
      <p:sp>
        <p:nvSpPr>
          <p:cNvPr id="5" name="Freeform 5">
            <a:extLst>
              <a:ext uri="{C183D7F6-B498-43B3-948B-1728B52AA6E4}">
                <adec:decorative xmlns:adec="http://schemas.microsoft.com/office/drawing/2017/decorative" xmlns="" val="1"/>
              </a:ext>
            </a:extLst>
          </p:cNvPr>
          <p:cNvSpPr/>
          <p:nvPr/>
        </p:nvSpPr>
        <p:spPr>
          <a:xfrm>
            <a:off x="-1184034" y="8095543"/>
            <a:ext cx="3073593" cy="3374204"/>
          </a:xfrm>
          <a:custGeom>
            <a:avLst/>
            <a:gdLst/>
            <a:ahLst/>
            <a:cxnLst/>
            <a:rect l="l" t="t" r="r" b="b"/>
            <a:pathLst>
              <a:path w="3073593" h="3374204">
                <a:moveTo>
                  <a:pt x="0" y="0"/>
                </a:moveTo>
                <a:lnTo>
                  <a:pt x="3073593" y="0"/>
                </a:lnTo>
                <a:lnTo>
                  <a:pt x="3073593" y="3374204"/>
                </a:lnTo>
                <a:lnTo>
                  <a:pt x="0" y="337420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grpSp>
        <p:nvGrpSpPr>
          <p:cNvPr id="6" name="Group 6"/>
          <p:cNvGrpSpPr/>
          <p:nvPr/>
        </p:nvGrpSpPr>
        <p:grpSpPr>
          <a:xfrm>
            <a:off x="7455320" y="3863568"/>
            <a:ext cx="3149226" cy="3149213"/>
            <a:chOff x="0" y="0"/>
            <a:chExt cx="6350000" cy="6349975"/>
          </a:xfrm>
        </p:grpSpPr>
        <p:sp>
          <p:nvSpPr>
            <p:cNvPr id="7" name="Freeform 7"/>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8"/>
              <a:stretch>
                <a:fillRect l="-23787" r="-23787"/>
              </a:stretch>
            </a:blipFill>
          </p:spPr>
          <p:txBody>
            <a:bodyPr/>
            <a:lstStyle/>
            <a:p>
              <a:endParaRPr lang="he-IL"/>
            </a:p>
          </p:txBody>
        </p:sp>
      </p:grpSp>
      <p:sp>
        <p:nvSpPr>
          <p:cNvPr id="8" name="Freeform 8">
            <a:extLst>
              <a:ext uri="{C183D7F6-B498-43B3-948B-1728B52AA6E4}">
                <adec:decorative xmlns:adec="http://schemas.microsoft.com/office/drawing/2017/decorative" xmlns="" val="1"/>
              </a:ext>
            </a:extLst>
          </p:cNvPr>
          <p:cNvSpPr/>
          <p:nvPr/>
        </p:nvSpPr>
        <p:spPr>
          <a:xfrm>
            <a:off x="16716391" y="-82598"/>
            <a:ext cx="1903350" cy="2222595"/>
          </a:xfrm>
          <a:custGeom>
            <a:avLst/>
            <a:gdLst/>
            <a:ahLst/>
            <a:cxnLst/>
            <a:rect l="l" t="t" r="r" b="b"/>
            <a:pathLst>
              <a:path w="1903350" h="2222595">
                <a:moveTo>
                  <a:pt x="0" y="0"/>
                </a:moveTo>
                <a:lnTo>
                  <a:pt x="1903350" y="0"/>
                </a:lnTo>
                <a:lnTo>
                  <a:pt x="1903350" y="2222596"/>
                </a:lnTo>
                <a:lnTo>
                  <a:pt x="0" y="2222596"/>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grpSp>
        <p:nvGrpSpPr>
          <p:cNvPr id="9" name="Group 9"/>
          <p:cNvGrpSpPr/>
          <p:nvPr/>
        </p:nvGrpSpPr>
        <p:grpSpPr>
          <a:xfrm>
            <a:off x="13892895" y="3766440"/>
            <a:ext cx="3149226" cy="3149214"/>
            <a:chOff x="0" y="0"/>
            <a:chExt cx="6350000" cy="6349975"/>
          </a:xfrm>
        </p:grpSpPr>
        <p:sp>
          <p:nvSpPr>
            <p:cNvPr id="10" name="Freeform 10"/>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11"/>
              <a:stretch>
                <a:fillRect/>
              </a:stretch>
            </a:blipFill>
          </p:spPr>
          <p:txBody>
            <a:bodyPr/>
            <a:lstStyle/>
            <a:p>
              <a:endParaRPr lang="he-IL"/>
            </a:p>
          </p:txBody>
        </p:sp>
      </p:grpSp>
      <p:grpSp>
        <p:nvGrpSpPr>
          <p:cNvPr id="11" name="Group 11"/>
          <p:cNvGrpSpPr/>
          <p:nvPr/>
        </p:nvGrpSpPr>
        <p:grpSpPr>
          <a:xfrm>
            <a:off x="712012" y="3154615"/>
            <a:ext cx="4658748" cy="953561"/>
            <a:chOff x="0" y="0"/>
            <a:chExt cx="6211664" cy="1271415"/>
          </a:xfrm>
        </p:grpSpPr>
        <p:sp>
          <p:nvSpPr>
            <p:cNvPr id="12" name="TextBox 12"/>
            <p:cNvSpPr txBox="1"/>
            <p:nvPr/>
          </p:nvSpPr>
          <p:spPr>
            <a:xfrm>
              <a:off x="0" y="-57150"/>
              <a:ext cx="6211664" cy="622624"/>
            </a:xfrm>
            <a:prstGeom prst="rect">
              <a:avLst/>
            </a:prstGeom>
          </p:spPr>
          <p:txBody>
            <a:bodyPr lIns="0" tIns="0" rIns="0" bIns="0" rtlCol="0" anchor="t">
              <a:spAutoFit/>
            </a:bodyPr>
            <a:lstStyle/>
            <a:p>
              <a:pPr algn="ctr">
                <a:lnSpc>
                  <a:spcPts val="3919"/>
                </a:lnSpc>
              </a:pPr>
              <a:r>
                <a:rPr lang="en-US" sz="2799" dirty="0">
                  <a:solidFill>
                    <a:srgbClr val="323232"/>
                  </a:solidFill>
                  <a:latin typeface="Calistoga"/>
                  <a:ea typeface="Calistoga"/>
                  <a:cs typeface="Calistoga"/>
                  <a:sym typeface="Calistoga"/>
                </a:rPr>
                <a:t>Escalating Challenges</a:t>
              </a:r>
            </a:p>
          </p:txBody>
        </p:sp>
        <p:sp>
          <p:nvSpPr>
            <p:cNvPr id="13" name="TextBox 13"/>
            <p:cNvSpPr txBox="1"/>
            <p:nvPr/>
          </p:nvSpPr>
          <p:spPr>
            <a:xfrm>
              <a:off x="0" y="730652"/>
              <a:ext cx="6211664" cy="540763"/>
            </a:xfrm>
            <a:prstGeom prst="rect">
              <a:avLst/>
            </a:prstGeom>
          </p:spPr>
          <p:txBody>
            <a:bodyPr lIns="0" tIns="0" rIns="0" bIns="0" rtlCol="0" anchor="t">
              <a:spAutoFit/>
            </a:bodyPr>
            <a:lstStyle/>
            <a:p>
              <a:pPr algn="ctr">
                <a:lnSpc>
                  <a:spcPts val="3419"/>
                </a:lnSpc>
              </a:pPr>
              <a:endParaRPr/>
            </a:p>
          </p:txBody>
        </p:sp>
      </p:grpSp>
      <p:grpSp>
        <p:nvGrpSpPr>
          <p:cNvPr id="14" name="Group 14"/>
          <p:cNvGrpSpPr/>
          <p:nvPr/>
        </p:nvGrpSpPr>
        <p:grpSpPr>
          <a:xfrm>
            <a:off x="2420517" y="678318"/>
            <a:ext cx="13944632" cy="3294314"/>
            <a:chOff x="0" y="-9525"/>
            <a:chExt cx="18592843" cy="4392418"/>
          </a:xfrm>
        </p:grpSpPr>
        <p:sp>
          <p:nvSpPr>
            <p:cNvPr id="15" name="TextBox 15"/>
            <p:cNvSpPr txBox="1"/>
            <p:nvPr/>
          </p:nvSpPr>
          <p:spPr>
            <a:xfrm>
              <a:off x="0" y="-9525"/>
              <a:ext cx="18592843" cy="3436838"/>
            </a:xfrm>
            <a:prstGeom prst="rect">
              <a:avLst/>
            </a:prstGeom>
          </p:spPr>
          <p:txBody>
            <a:bodyPr lIns="0" tIns="0" rIns="0" bIns="0" rtlCol="0" anchor="t">
              <a:spAutoFit/>
            </a:bodyPr>
            <a:lstStyle/>
            <a:p>
              <a:pPr marL="0" lvl="0" indent="0" algn="ctr">
                <a:lnSpc>
                  <a:spcPts val="6720"/>
                </a:lnSpc>
              </a:pPr>
              <a:r>
                <a:rPr lang="en-US" sz="5600" dirty="0">
                  <a:solidFill>
                    <a:schemeClr val="accent3">
                      <a:lumMod val="50000"/>
                    </a:schemeClr>
                  </a:solidFill>
                  <a:latin typeface="Calistoga"/>
                  <a:ea typeface="Calistoga"/>
                  <a:cs typeface="Calistoga"/>
                  <a:sym typeface="Calistoga"/>
                </a:rPr>
                <a:t>The Problem: An Urgent Need for SEL in Higher Education</a:t>
              </a:r>
            </a:p>
            <a:p>
              <a:pPr marL="0" lvl="0" indent="0" algn="ctr">
                <a:lnSpc>
                  <a:spcPts val="6720"/>
                </a:lnSpc>
              </a:pPr>
              <a:endParaRPr lang="en-US" sz="5600" dirty="0">
                <a:solidFill>
                  <a:srgbClr val="4F674F"/>
                </a:solidFill>
                <a:latin typeface="Calistoga"/>
                <a:ea typeface="Calistoga"/>
                <a:cs typeface="Calistoga"/>
                <a:sym typeface="Calistoga"/>
              </a:endParaRPr>
            </a:p>
          </p:txBody>
        </p:sp>
        <p:sp>
          <p:nvSpPr>
            <p:cNvPr id="16" name="TextBox 16"/>
            <p:cNvSpPr txBox="1"/>
            <p:nvPr/>
          </p:nvSpPr>
          <p:spPr>
            <a:xfrm>
              <a:off x="1081493" y="3750744"/>
              <a:ext cx="16429858" cy="632149"/>
            </a:xfrm>
            <a:prstGeom prst="rect">
              <a:avLst/>
            </a:prstGeom>
          </p:spPr>
          <p:txBody>
            <a:bodyPr lIns="0" tIns="0" rIns="0" bIns="0" rtlCol="0" anchor="t">
              <a:spAutoFit/>
            </a:bodyPr>
            <a:lstStyle/>
            <a:p>
              <a:pPr algn="ctr">
                <a:lnSpc>
                  <a:spcPts val="3920"/>
                </a:lnSpc>
              </a:pPr>
              <a:endParaRPr/>
            </a:p>
          </p:txBody>
        </p:sp>
      </p:grpSp>
      <p:grpSp>
        <p:nvGrpSpPr>
          <p:cNvPr id="17" name="Group 17"/>
          <p:cNvGrpSpPr/>
          <p:nvPr/>
        </p:nvGrpSpPr>
        <p:grpSpPr>
          <a:xfrm>
            <a:off x="6378867" y="3154615"/>
            <a:ext cx="5086873" cy="1417907"/>
            <a:chOff x="0" y="0"/>
            <a:chExt cx="6782498" cy="1890542"/>
          </a:xfrm>
        </p:grpSpPr>
        <p:sp>
          <p:nvSpPr>
            <p:cNvPr id="18" name="TextBox 18"/>
            <p:cNvSpPr txBox="1"/>
            <p:nvPr/>
          </p:nvSpPr>
          <p:spPr>
            <a:xfrm>
              <a:off x="0" y="-57150"/>
              <a:ext cx="6782498" cy="622624"/>
            </a:xfrm>
            <a:prstGeom prst="rect">
              <a:avLst/>
            </a:prstGeom>
          </p:spPr>
          <p:txBody>
            <a:bodyPr lIns="0" tIns="0" rIns="0" bIns="0" rtlCol="0" anchor="t">
              <a:spAutoFit/>
            </a:bodyPr>
            <a:lstStyle/>
            <a:p>
              <a:pPr algn="ctr">
                <a:lnSpc>
                  <a:spcPts val="3919"/>
                </a:lnSpc>
              </a:pPr>
              <a:r>
                <a:rPr lang="en-US" sz="2799" dirty="0">
                  <a:solidFill>
                    <a:srgbClr val="323232"/>
                  </a:solidFill>
                  <a:latin typeface="Calistoga"/>
                  <a:ea typeface="Calistoga"/>
                  <a:cs typeface="Calistoga"/>
                  <a:sym typeface="Calistoga"/>
                </a:rPr>
                <a:t>Impact on Academic Success</a:t>
              </a:r>
            </a:p>
          </p:txBody>
        </p:sp>
        <p:sp>
          <p:nvSpPr>
            <p:cNvPr id="19" name="TextBox 19"/>
            <p:cNvSpPr txBox="1"/>
            <p:nvPr/>
          </p:nvSpPr>
          <p:spPr>
            <a:xfrm>
              <a:off x="0" y="1377985"/>
              <a:ext cx="5849371" cy="512557"/>
            </a:xfrm>
            <a:prstGeom prst="rect">
              <a:avLst/>
            </a:prstGeom>
          </p:spPr>
          <p:txBody>
            <a:bodyPr lIns="0" tIns="0" rIns="0" bIns="0" rtlCol="0" anchor="t">
              <a:spAutoFit/>
            </a:bodyPr>
            <a:lstStyle/>
            <a:p>
              <a:pPr algn="ctr">
                <a:lnSpc>
                  <a:spcPts val="3220"/>
                </a:lnSpc>
              </a:pPr>
              <a:endParaRPr/>
            </a:p>
          </p:txBody>
        </p:sp>
      </p:grpSp>
      <p:grpSp>
        <p:nvGrpSpPr>
          <p:cNvPr id="20" name="Group 20"/>
          <p:cNvGrpSpPr/>
          <p:nvPr/>
        </p:nvGrpSpPr>
        <p:grpSpPr>
          <a:xfrm>
            <a:off x="12949651" y="3154615"/>
            <a:ext cx="5086873" cy="1417907"/>
            <a:chOff x="0" y="0"/>
            <a:chExt cx="6782498" cy="1890542"/>
          </a:xfrm>
        </p:grpSpPr>
        <p:sp>
          <p:nvSpPr>
            <p:cNvPr id="21" name="TextBox 21"/>
            <p:cNvSpPr txBox="1"/>
            <p:nvPr/>
          </p:nvSpPr>
          <p:spPr>
            <a:xfrm>
              <a:off x="0" y="-57150"/>
              <a:ext cx="6782498" cy="622624"/>
            </a:xfrm>
            <a:prstGeom prst="rect">
              <a:avLst/>
            </a:prstGeom>
          </p:spPr>
          <p:txBody>
            <a:bodyPr lIns="0" tIns="0" rIns="0" bIns="0" rtlCol="0" anchor="t">
              <a:spAutoFit/>
            </a:bodyPr>
            <a:lstStyle/>
            <a:p>
              <a:pPr algn="ctr">
                <a:lnSpc>
                  <a:spcPts val="3919"/>
                </a:lnSpc>
              </a:pPr>
              <a:r>
                <a:rPr lang="en-US" sz="2799" dirty="0">
                  <a:solidFill>
                    <a:srgbClr val="323232"/>
                  </a:solidFill>
                  <a:latin typeface="Calistoga"/>
                  <a:ea typeface="Calistoga"/>
                  <a:cs typeface="Calistoga"/>
                  <a:sym typeface="Calistoga"/>
                </a:rPr>
                <a:t>Limitations of Existing Support</a:t>
              </a:r>
            </a:p>
          </p:txBody>
        </p:sp>
        <p:sp>
          <p:nvSpPr>
            <p:cNvPr id="22" name="TextBox 22"/>
            <p:cNvSpPr txBox="1"/>
            <p:nvPr/>
          </p:nvSpPr>
          <p:spPr>
            <a:xfrm>
              <a:off x="0" y="1377985"/>
              <a:ext cx="5849371" cy="512557"/>
            </a:xfrm>
            <a:prstGeom prst="rect">
              <a:avLst/>
            </a:prstGeom>
          </p:spPr>
          <p:txBody>
            <a:bodyPr lIns="0" tIns="0" rIns="0" bIns="0" rtlCol="0" anchor="t">
              <a:spAutoFit/>
            </a:bodyPr>
            <a:lstStyle/>
            <a:p>
              <a:pPr algn="ctr">
                <a:lnSpc>
                  <a:spcPts val="3220"/>
                </a:lnSpc>
              </a:pPr>
              <a:endParaRPr/>
            </a:p>
          </p:txBody>
        </p:sp>
      </p:grpSp>
      <p:sp>
        <p:nvSpPr>
          <p:cNvPr id="23" name="TextBox 23"/>
          <p:cNvSpPr txBox="1"/>
          <p:nvPr/>
        </p:nvSpPr>
        <p:spPr>
          <a:xfrm>
            <a:off x="597172" y="7140777"/>
            <a:ext cx="5124460" cy="1198657"/>
          </a:xfrm>
          <a:prstGeom prst="rect">
            <a:avLst/>
          </a:prstGeom>
        </p:spPr>
        <p:txBody>
          <a:bodyPr lIns="0" tIns="0" rIns="0" bIns="0" rtlCol="0" anchor="t">
            <a:spAutoFit/>
          </a:bodyPr>
          <a:lstStyle/>
          <a:p>
            <a:pPr algn="ctr">
              <a:lnSpc>
                <a:spcPts val="3220"/>
              </a:lnSpc>
              <a:spcBef>
                <a:spcPct val="0"/>
              </a:spcBef>
            </a:pPr>
            <a:r>
              <a:rPr lang="en-US" sz="2300" dirty="0">
                <a:solidFill>
                  <a:srgbClr val="000000"/>
                </a:solidFill>
                <a:latin typeface="Public Sans"/>
                <a:ea typeface="Public Sans"/>
                <a:cs typeface="Public Sans"/>
                <a:sym typeface="Public Sans"/>
              </a:rPr>
              <a:t>University students face increasing emotional and psychological challenges</a:t>
            </a:r>
          </a:p>
        </p:txBody>
      </p:sp>
      <p:sp>
        <p:nvSpPr>
          <p:cNvPr id="24" name="TextBox 24"/>
          <p:cNvSpPr txBox="1"/>
          <p:nvPr/>
        </p:nvSpPr>
        <p:spPr>
          <a:xfrm>
            <a:off x="6682260" y="7140777"/>
            <a:ext cx="4923480" cy="1598632"/>
          </a:xfrm>
          <a:prstGeom prst="rect">
            <a:avLst/>
          </a:prstGeom>
        </p:spPr>
        <p:txBody>
          <a:bodyPr lIns="0" tIns="0" rIns="0" bIns="0" rtlCol="0" anchor="t">
            <a:spAutoFit/>
          </a:bodyPr>
          <a:lstStyle/>
          <a:p>
            <a:pPr algn="ctr">
              <a:lnSpc>
                <a:spcPts val="3220"/>
              </a:lnSpc>
              <a:spcBef>
                <a:spcPct val="0"/>
              </a:spcBef>
            </a:pPr>
            <a:r>
              <a:rPr lang="en-US" sz="2300" dirty="0">
                <a:solidFill>
                  <a:srgbClr val="000000"/>
                </a:solidFill>
                <a:latin typeface="Public Sans"/>
                <a:ea typeface="Public Sans"/>
                <a:cs typeface="Public Sans"/>
                <a:sym typeface="Public Sans"/>
              </a:rPr>
              <a:t>These difficulties threaten well-being and create significant barriers to academic engagement and performance.</a:t>
            </a:r>
          </a:p>
        </p:txBody>
      </p:sp>
      <p:sp>
        <p:nvSpPr>
          <p:cNvPr id="25" name="TextBox 25"/>
          <p:cNvSpPr txBox="1"/>
          <p:nvPr/>
        </p:nvSpPr>
        <p:spPr>
          <a:xfrm>
            <a:off x="13429652" y="7140778"/>
            <a:ext cx="4075712" cy="1198656"/>
          </a:xfrm>
          <a:prstGeom prst="rect">
            <a:avLst/>
          </a:prstGeom>
        </p:spPr>
        <p:txBody>
          <a:bodyPr lIns="0" tIns="0" rIns="0" bIns="0" rtlCol="0" anchor="t">
            <a:spAutoFit/>
          </a:bodyPr>
          <a:lstStyle/>
          <a:p>
            <a:pPr algn="ctr">
              <a:lnSpc>
                <a:spcPts val="3220"/>
              </a:lnSpc>
              <a:spcBef>
                <a:spcPct val="0"/>
              </a:spcBef>
            </a:pPr>
            <a:r>
              <a:rPr lang="en-US" sz="2300" dirty="0">
                <a:solidFill>
                  <a:srgbClr val="000000"/>
                </a:solidFill>
                <a:latin typeface="Public Sans"/>
                <a:ea typeface="Public Sans"/>
                <a:cs typeface="Public Sans"/>
                <a:sym typeface="Public Sans"/>
              </a:rPr>
              <a:t>Many students lack practical, accessible, non-judgmental SEL practice opportunities.</a:t>
            </a:r>
          </a:p>
        </p:txBody>
      </p:sp>
      <p:sp>
        <p:nvSpPr>
          <p:cNvPr id="27" name="TextBox 11">
            <a:extLst>
              <a:ext uri="{FF2B5EF4-FFF2-40B4-BE49-F238E27FC236}">
                <a16:creationId xmlns:a16="http://schemas.microsoft.com/office/drawing/2014/main" id="{B2017A1A-6355-BCDF-6879-699E9DBA1597}"/>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grpSp>
        <p:nvGrpSpPr>
          <p:cNvPr id="2" name="Group 2"/>
          <p:cNvGrpSpPr/>
          <p:nvPr/>
        </p:nvGrpSpPr>
        <p:grpSpPr>
          <a:xfrm>
            <a:off x="1943100" y="725771"/>
            <a:ext cx="15407537" cy="1667962"/>
            <a:chOff x="-706347" y="156600"/>
            <a:chExt cx="20543383" cy="2223949"/>
          </a:xfrm>
        </p:grpSpPr>
        <p:sp>
          <p:nvSpPr>
            <p:cNvPr id="3" name="TextBox 3"/>
            <p:cNvSpPr txBox="1"/>
            <p:nvPr/>
          </p:nvSpPr>
          <p:spPr>
            <a:xfrm>
              <a:off x="-706347" y="156600"/>
              <a:ext cx="20543383" cy="1342418"/>
            </a:xfrm>
            <a:prstGeom prst="rect">
              <a:avLst/>
            </a:prstGeom>
          </p:spPr>
          <p:txBody>
            <a:bodyPr wrap="square" lIns="0" tIns="0" rIns="0" bIns="0" rtlCol="0" anchor="t">
              <a:spAutoFit/>
            </a:bodyPr>
            <a:lstStyle/>
            <a:p>
              <a:pPr lvl="0" algn="ctr">
                <a:lnSpc>
                  <a:spcPts val="8399"/>
                </a:lnSpc>
              </a:pPr>
              <a:r>
                <a:rPr lang="en-US" sz="5600" dirty="0">
                  <a:solidFill>
                    <a:schemeClr val="accent3">
                      <a:lumMod val="50000"/>
                    </a:schemeClr>
                  </a:solidFill>
                  <a:latin typeface="Calistoga"/>
                  <a:ea typeface="Calistoga"/>
                  <a:cs typeface="Calistoga"/>
                  <a:sym typeface="Calistoga"/>
                </a:rPr>
                <a:t>Current SEL Tools in Higher Education :The Gap</a:t>
              </a:r>
            </a:p>
          </p:txBody>
        </p:sp>
        <p:sp>
          <p:nvSpPr>
            <p:cNvPr id="4" name="TextBox 4"/>
            <p:cNvSpPr txBox="1"/>
            <p:nvPr/>
          </p:nvSpPr>
          <p:spPr>
            <a:xfrm>
              <a:off x="555593" y="1724044"/>
              <a:ext cx="17584047" cy="656505"/>
            </a:xfrm>
            <a:prstGeom prst="rect">
              <a:avLst/>
            </a:prstGeom>
          </p:spPr>
          <p:txBody>
            <a:bodyPr lIns="0" tIns="0" rIns="0" bIns="0" rtlCol="0" anchor="t">
              <a:spAutoFit/>
            </a:bodyPr>
            <a:lstStyle/>
            <a:p>
              <a:pPr algn="ctr">
                <a:lnSpc>
                  <a:spcPts val="4200"/>
                </a:lnSpc>
              </a:pPr>
              <a:endParaRPr lang="en-US" sz="3000" dirty="0">
                <a:solidFill>
                  <a:srgbClr val="323232"/>
                </a:solidFill>
                <a:latin typeface="Public Sans"/>
                <a:ea typeface="Public Sans"/>
                <a:cs typeface="Public Sans"/>
                <a:sym typeface="Public Sans"/>
              </a:endParaRPr>
            </a:p>
          </p:txBody>
        </p:sp>
      </p:grpSp>
      <p:sp>
        <p:nvSpPr>
          <p:cNvPr id="5" name="Freeform 5">
            <a:extLst>
              <a:ext uri="{C183D7F6-B498-43B3-948B-1728B52AA6E4}">
                <adec:decorative xmlns:adec="http://schemas.microsoft.com/office/drawing/2017/decorative" xmlns="" val="1"/>
              </a:ext>
            </a:extLst>
          </p:cNvPr>
          <p:cNvSpPr/>
          <p:nvPr/>
        </p:nvSpPr>
        <p:spPr>
          <a:xfrm>
            <a:off x="-4483771" y="7723304"/>
            <a:ext cx="6956631" cy="7085457"/>
          </a:xfrm>
          <a:custGeom>
            <a:avLst/>
            <a:gdLst/>
            <a:ahLst/>
            <a:cxnLst/>
            <a:rect l="l" t="t" r="r" b="b"/>
            <a:pathLst>
              <a:path w="6956631" h="7085457">
                <a:moveTo>
                  <a:pt x="0" y="0"/>
                </a:moveTo>
                <a:lnTo>
                  <a:pt x="6956631" y="0"/>
                </a:lnTo>
                <a:lnTo>
                  <a:pt x="6956631" y="7085457"/>
                </a:lnTo>
                <a:lnTo>
                  <a:pt x="0" y="708545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6" name="Freeform 6">
            <a:extLst>
              <a:ext uri="{C183D7F6-B498-43B3-948B-1728B52AA6E4}">
                <adec:decorative xmlns:adec="http://schemas.microsoft.com/office/drawing/2017/decorative" xmlns="" val="1"/>
              </a:ext>
            </a:extLst>
          </p:cNvPr>
          <p:cNvSpPr/>
          <p:nvPr/>
        </p:nvSpPr>
        <p:spPr>
          <a:xfrm>
            <a:off x="-3807266" y="-3846912"/>
            <a:ext cx="6034849" cy="6262579"/>
          </a:xfrm>
          <a:custGeom>
            <a:avLst/>
            <a:gdLst/>
            <a:ahLst/>
            <a:cxnLst/>
            <a:rect l="l" t="t" r="r" b="b"/>
            <a:pathLst>
              <a:path w="6034849" h="6262579">
                <a:moveTo>
                  <a:pt x="0" y="0"/>
                </a:moveTo>
                <a:lnTo>
                  <a:pt x="6034849" y="0"/>
                </a:lnTo>
                <a:lnTo>
                  <a:pt x="6034849" y="6262579"/>
                </a:lnTo>
                <a:lnTo>
                  <a:pt x="0" y="626257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7" name="Freeform 7">
            <a:extLst>
              <a:ext uri="{C183D7F6-B498-43B3-948B-1728B52AA6E4}">
                <adec:decorative xmlns:adec="http://schemas.microsoft.com/office/drawing/2017/decorative" xmlns="" val="1"/>
              </a:ext>
            </a:extLst>
          </p:cNvPr>
          <p:cNvSpPr/>
          <p:nvPr/>
        </p:nvSpPr>
        <p:spPr>
          <a:xfrm rot="-1436842">
            <a:off x="-1048182" y="-855086"/>
            <a:ext cx="2340418" cy="2392620"/>
          </a:xfrm>
          <a:custGeom>
            <a:avLst/>
            <a:gdLst/>
            <a:ahLst/>
            <a:cxnLst/>
            <a:rect l="l" t="t" r="r" b="b"/>
            <a:pathLst>
              <a:path w="2340418" h="2392620">
                <a:moveTo>
                  <a:pt x="0" y="0"/>
                </a:moveTo>
                <a:lnTo>
                  <a:pt x="2340418" y="0"/>
                </a:lnTo>
                <a:lnTo>
                  <a:pt x="2340418" y="2392620"/>
                </a:lnTo>
                <a:lnTo>
                  <a:pt x="0" y="239262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8" name="Freeform 8">
            <a:extLst>
              <a:ext uri="{C183D7F6-B498-43B3-948B-1728B52AA6E4}">
                <adec:decorative xmlns:adec="http://schemas.microsoft.com/office/drawing/2017/decorative" xmlns="" val="1"/>
              </a:ext>
            </a:extLst>
          </p:cNvPr>
          <p:cNvSpPr/>
          <p:nvPr/>
        </p:nvSpPr>
        <p:spPr>
          <a:xfrm>
            <a:off x="-1433028" y="8346109"/>
            <a:ext cx="2606695" cy="2919923"/>
          </a:xfrm>
          <a:custGeom>
            <a:avLst/>
            <a:gdLst/>
            <a:ahLst/>
            <a:cxnLst/>
            <a:rect l="l" t="t" r="r" b="b"/>
            <a:pathLst>
              <a:path w="2606695" h="2919923">
                <a:moveTo>
                  <a:pt x="0" y="0"/>
                </a:moveTo>
                <a:lnTo>
                  <a:pt x="2606695" y="0"/>
                </a:lnTo>
                <a:lnTo>
                  <a:pt x="2606695" y="2919924"/>
                </a:lnTo>
                <a:lnTo>
                  <a:pt x="0" y="2919924"/>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16" name="תיבת טקסט 15">
            <a:extLst>
              <a:ext uri="{FF2B5EF4-FFF2-40B4-BE49-F238E27FC236}">
                <a16:creationId xmlns:a16="http://schemas.microsoft.com/office/drawing/2014/main" id="{4B0582FF-02AD-1D23-CB41-D02655B88670}"/>
              </a:ext>
            </a:extLst>
          </p:cNvPr>
          <p:cNvSpPr txBox="1"/>
          <p:nvPr/>
        </p:nvSpPr>
        <p:spPr>
          <a:xfrm>
            <a:off x="2282672" y="7807500"/>
            <a:ext cx="14401800" cy="1077218"/>
          </a:xfrm>
          <a:prstGeom prst="rect">
            <a:avLst/>
          </a:prstGeom>
          <a:noFill/>
        </p:spPr>
        <p:txBody>
          <a:bodyPr wrap="square" rtlCol="1">
            <a:spAutoFit/>
          </a:bodyPr>
          <a:lstStyle/>
          <a:p>
            <a:pPr algn="ctr"/>
            <a:r>
              <a:rPr lang="en-US" sz="3200" b="1" dirty="0">
                <a:latin typeface="Public Sans" panose="020B0604020202020204" charset="0"/>
              </a:rPr>
              <a:t>Conclusion: There are no suitable tools that combine these features for higher education students.</a:t>
            </a:r>
          </a:p>
        </p:txBody>
      </p:sp>
      <p:sp>
        <p:nvSpPr>
          <p:cNvPr id="19" name="TextBox 10">
            <a:extLst>
              <a:ext uri="{FF2B5EF4-FFF2-40B4-BE49-F238E27FC236}">
                <a16:creationId xmlns:a16="http://schemas.microsoft.com/office/drawing/2014/main" id="{AE9F5143-6CFE-E3F9-53CF-5E425715E8BD}"/>
              </a:ext>
            </a:extLst>
          </p:cNvPr>
          <p:cNvSpPr txBox="1"/>
          <p:nvPr/>
        </p:nvSpPr>
        <p:spPr>
          <a:xfrm>
            <a:off x="1981200" y="3888128"/>
            <a:ext cx="5181600" cy="606704"/>
          </a:xfrm>
          <a:prstGeom prst="rect">
            <a:avLst/>
          </a:prstGeom>
        </p:spPr>
        <p:txBody>
          <a:bodyPr wrap="square" lIns="0" tIns="0" rIns="0" bIns="0" rtlCol="0" anchor="t">
            <a:spAutoFit/>
          </a:bodyPr>
          <a:lstStyle/>
          <a:p>
            <a:pPr marL="800990" lvl="1" indent="-400495" algn="l">
              <a:lnSpc>
                <a:spcPts val="5194"/>
              </a:lnSpc>
              <a:buFont typeface="Arial"/>
              <a:buChar char="•"/>
            </a:pPr>
            <a:r>
              <a:rPr lang="en-US" sz="3000" dirty="0">
                <a:solidFill>
                  <a:srgbClr val="323232"/>
                </a:solidFill>
                <a:latin typeface="Calistoga"/>
                <a:ea typeface="Calistoga"/>
                <a:cs typeface="Calistoga"/>
                <a:sym typeface="Calistoga"/>
              </a:rPr>
              <a:t>Non-Judgmental Spaces.</a:t>
            </a:r>
          </a:p>
        </p:txBody>
      </p:sp>
      <p:sp>
        <p:nvSpPr>
          <p:cNvPr id="20" name="TextBox 13">
            <a:extLst>
              <a:ext uri="{FF2B5EF4-FFF2-40B4-BE49-F238E27FC236}">
                <a16:creationId xmlns:a16="http://schemas.microsoft.com/office/drawing/2014/main" id="{804A1DB7-B8AA-D829-424D-9173B922C582}"/>
              </a:ext>
            </a:extLst>
          </p:cNvPr>
          <p:cNvSpPr txBox="1"/>
          <p:nvPr/>
        </p:nvSpPr>
        <p:spPr>
          <a:xfrm>
            <a:off x="11429320" y="3880121"/>
            <a:ext cx="4571999" cy="606705"/>
          </a:xfrm>
          <a:prstGeom prst="rect">
            <a:avLst/>
          </a:prstGeom>
        </p:spPr>
        <p:txBody>
          <a:bodyPr wrap="square" lIns="0" tIns="0" rIns="0" bIns="0" rtlCol="0" anchor="t">
            <a:spAutoFit/>
          </a:bodyPr>
          <a:lstStyle/>
          <a:p>
            <a:pPr marL="800990" lvl="1" indent="-400495" algn="l">
              <a:lnSpc>
                <a:spcPts val="5194"/>
              </a:lnSpc>
              <a:buFont typeface="Arial"/>
              <a:buChar char="•"/>
            </a:pPr>
            <a:r>
              <a:rPr lang="en-US" sz="3000" dirty="0">
                <a:solidFill>
                  <a:srgbClr val="323232"/>
                </a:solidFill>
                <a:latin typeface="Calistoga"/>
                <a:ea typeface="Calistoga"/>
                <a:cs typeface="Calistoga"/>
                <a:sym typeface="Calistoga"/>
              </a:rPr>
              <a:t>Always Available.</a:t>
            </a:r>
          </a:p>
        </p:txBody>
      </p:sp>
      <p:sp>
        <p:nvSpPr>
          <p:cNvPr id="21" name="TextBox 11">
            <a:extLst>
              <a:ext uri="{FF2B5EF4-FFF2-40B4-BE49-F238E27FC236}">
                <a16:creationId xmlns:a16="http://schemas.microsoft.com/office/drawing/2014/main" id="{66903499-6356-C797-1FF5-55573A27F3C6}"/>
              </a:ext>
            </a:extLst>
          </p:cNvPr>
          <p:cNvSpPr txBox="1"/>
          <p:nvPr/>
        </p:nvSpPr>
        <p:spPr>
          <a:xfrm>
            <a:off x="1981200" y="6467770"/>
            <a:ext cx="6248400" cy="606705"/>
          </a:xfrm>
          <a:prstGeom prst="rect">
            <a:avLst/>
          </a:prstGeom>
        </p:spPr>
        <p:txBody>
          <a:bodyPr wrap="square" lIns="0" tIns="0" rIns="0" bIns="0" rtlCol="0" anchor="t">
            <a:spAutoFit/>
          </a:bodyPr>
          <a:lstStyle/>
          <a:p>
            <a:pPr marL="800990" lvl="1" indent="-400495" algn="l">
              <a:lnSpc>
                <a:spcPts val="5194"/>
              </a:lnSpc>
              <a:buFont typeface="Arial"/>
              <a:buChar char="•"/>
            </a:pPr>
            <a:r>
              <a:rPr lang="en-US" sz="3000" dirty="0">
                <a:solidFill>
                  <a:srgbClr val="323232"/>
                </a:solidFill>
                <a:latin typeface="Calistoga"/>
                <a:ea typeface="Calistoga"/>
                <a:cs typeface="Calistoga"/>
                <a:sym typeface="Calistoga"/>
              </a:rPr>
              <a:t> Instructor-Independent.</a:t>
            </a:r>
          </a:p>
        </p:txBody>
      </p:sp>
      <p:sp>
        <p:nvSpPr>
          <p:cNvPr id="22" name="TextBox 14">
            <a:extLst>
              <a:ext uri="{FF2B5EF4-FFF2-40B4-BE49-F238E27FC236}">
                <a16:creationId xmlns:a16="http://schemas.microsoft.com/office/drawing/2014/main" id="{B38A63DE-0C26-2B13-B9FB-EC60E45FADDD}"/>
              </a:ext>
            </a:extLst>
          </p:cNvPr>
          <p:cNvSpPr txBox="1"/>
          <p:nvPr/>
        </p:nvSpPr>
        <p:spPr>
          <a:xfrm>
            <a:off x="11125200" y="6461409"/>
            <a:ext cx="4602373" cy="606705"/>
          </a:xfrm>
          <a:prstGeom prst="rect">
            <a:avLst/>
          </a:prstGeom>
        </p:spPr>
        <p:txBody>
          <a:bodyPr wrap="square" lIns="0" tIns="0" rIns="0" bIns="0" rtlCol="0" anchor="t">
            <a:spAutoFit/>
          </a:bodyPr>
          <a:lstStyle/>
          <a:p>
            <a:pPr marL="800990" lvl="1" indent="-400495" algn="l">
              <a:lnSpc>
                <a:spcPts val="5194"/>
              </a:lnSpc>
              <a:buFont typeface="Arial"/>
              <a:buChar char="•"/>
            </a:pPr>
            <a:r>
              <a:rPr lang="en-US" sz="3000" dirty="0">
                <a:solidFill>
                  <a:srgbClr val="323232"/>
                </a:solidFill>
                <a:latin typeface="Calistoga"/>
                <a:ea typeface="Calistoga"/>
                <a:cs typeface="Calistoga"/>
                <a:sym typeface="Calistoga"/>
              </a:rPr>
              <a:t>Automated Guidance.</a:t>
            </a:r>
          </a:p>
        </p:txBody>
      </p:sp>
      <p:pic>
        <p:nvPicPr>
          <p:cNvPr id="29" name="תמונה 28" descr="תמונה שמכילה עיגול, צילום מסך, גרפיקה, גופן&#10;&#10;תוכן בינה מלאכותית גנרטיבית עשוי להיות שגוי.">
            <a:extLst>
              <a:ext uri="{FF2B5EF4-FFF2-40B4-BE49-F238E27FC236}">
                <a16:creationId xmlns:a16="http://schemas.microsoft.com/office/drawing/2014/main" id="{155C12A9-3FE5-190F-1F4E-2AF9D657392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72000" y="2968903"/>
            <a:ext cx="9358490" cy="3795918"/>
          </a:xfrm>
          <a:prstGeom prst="rect">
            <a:avLst/>
          </a:prstGeom>
        </p:spPr>
      </p:pic>
      <p:pic>
        <p:nvPicPr>
          <p:cNvPr id="33" name="תמונה 32">
            <a:extLst>
              <a:ext uri="{FF2B5EF4-FFF2-40B4-BE49-F238E27FC236}">
                <a16:creationId xmlns:a16="http://schemas.microsoft.com/office/drawing/2014/main" id="{88FA2D5E-A87A-FF10-D87B-037E6BFA9759}"/>
              </a:ext>
            </a:extLst>
          </p:cNvPr>
          <p:cNvPicPr>
            <a:picLocks noChangeAspect="1"/>
          </p:cNvPicPr>
          <p:nvPr/>
        </p:nvPicPr>
        <p:blipFill>
          <a:blip r:embed="rId12"/>
          <a:stretch>
            <a:fillRect/>
          </a:stretch>
        </p:blipFill>
        <p:spPr>
          <a:xfrm>
            <a:off x="4631114" y="5541010"/>
            <a:ext cx="1764143" cy="1002295"/>
          </a:xfrm>
          <a:prstGeom prst="rect">
            <a:avLst/>
          </a:prstGeom>
        </p:spPr>
      </p:pic>
      <p:pic>
        <p:nvPicPr>
          <p:cNvPr id="36" name="תמונה 35" descr="תמונה שמכילה טקסט, סמל, שחור, שרטוט&#10;&#10;תוכן בינה מלאכותית גנרטיבית עשוי להיות שגוי.">
            <a:extLst>
              <a:ext uri="{FF2B5EF4-FFF2-40B4-BE49-F238E27FC236}">
                <a16:creationId xmlns:a16="http://schemas.microsoft.com/office/drawing/2014/main" id="{F6353ED0-C0BD-D468-A936-B3105F1C4B6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43500" y="5678567"/>
            <a:ext cx="1038225" cy="1197012"/>
          </a:xfrm>
          <a:prstGeom prst="rect">
            <a:avLst/>
          </a:prstGeom>
        </p:spPr>
      </p:pic>
      <p:sp>
        <p:nvSpPr>
          <p:cNvPr id="9" name="TextBox 11">
            <a:extLst>
              <a:ext uri="{FF2B5EF4-FFF2-40B4-BE49-F238E27FC236}">
                <a16:creationId xmlns:a16="http://schemas.microsoft.com/office/drawing/2014/main" id="{11E2356A-F984-D600-6A2B-3B3D3F5FB3EB}"/>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4</a:t>
            </a:r>
          </a:p>
        </p:txBody>
      </p:sp>
      <p:sp>
        <p:nvSpPr>
          <p:cNvPr id="10" name="TextBox 12">
            <a:extLst>
              <a:ext uri="{FF2B5EF4-FFF2-40B4-BE49-F238E27FC236}">
                <a16:creationId xmlns:a16="http://schemas.microsoft.com/office/drawing/2014/main" id="{96AC402F-892D-527C-0FB0-C3F83E29DEF0}"/>
              </a:ext>
            </a:extLst>
          </p:cNvPr>
          <p:cNvSpPr txBox="1"/>
          <p:nvPr/>
        </p:nvSpPr>
        <p:spPr>
          <a:xfrm>
            <a:off x="107650" y="9691238"/>
            <a:ext cx="17403070" cy="553998"/>
          </a:xfrm>
          <a:prstGeom prst="rect">
            <a:avLst/>
          </a:prstGeom>
        </p:spPr>
        <p:txBody>
          <a:bodyPr wrap="square" lIns="0" tIns="0" rIns="0" bIns="0" rtlCol="0" anchor="t">
            <a:spAutoFit/>
          </a:bodyPr>
          <a:lstStyle/>
          <a:p>
            <a:r>
              <a:rPr lang="en-US" dirty="0">
                <a:latin typeface="Public Sans" panose="020B0604020202020204" charset="0"/>
              </a:rPr>
              <a:t>Wang, D., &amp; Ishak, Z. (2025). Unveiling the implementation of social-emotional learning among college students: A systematic literature review. International Journal of Learning, Teaching and Educational Research, 24(5), 376–399. </a:t>
            </a:r>
            <a:r>
              <a:rPr lang="en-US" u="sng" dirty="0">
                <a:latin typeface="Public Sans" panose="020B0604020202020204" charset="0"/>
                <a:hlinkClick r:id="rId14"/>
              </a:rPr>
              <a:t>https://doi.org/10.26803/ijlter.24.5.20</a:t>
            </a:r>
            <a:endParaRPr lang="en-US" sz="3000" dirty="0">
              <a:latin typeface="Public Sans"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7259300" y="8940432"/>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195343" y="199355"/>
            <a:ext cx="1146492" cy="1079787"/>
          </a:xfrm>
          <a:custGeom>
            <a:avLst/>
            <a:gdLst/>
            <a:ahLst/>
            <a:cxnLst/>
            <a:rect l="l" t="t" r="r" b="b"/>
            <a:pathLst>
              <a:path w="1146492" h="1079787">
                <a:moveTo>
                  <a:pt x="0" y="0"/>
                </a:moveTo>
                <a:lnTo>
                  <a:pt x="1146492" y="0"/>
                </a:lnTo>
                <a:lnTo>
                  <a:pt x="1146492" y="1079787"/>
                </a:lnTo>
                <a:lnTo>
                  <a:pt x="0" y="107978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a:off x="15492213" y="289311"/>
            <a:ext cx="836066" cy="899875"/>
          </a:xfrm>
          <a:custGeom>
            <a:avLst/>
            <a:gdLst/>
            <a:ahLst/>
            <a:cxnLst/>
            <a:rect l="l" t="t" r="r" b="b"/>
            <a:pathLst>
              <a:path w="836066" h="899875">
                <a:moveTo>
                  <a:pt x="0" y="0"/>
                </a:moveTo>
                <a:lnTo>
                  <a:pt x="836066" y="0"/>
                </a:lnTo>
                <a:lnTo>
                  <a:pt x="836066" y="899875"/>
                </a:lnTo>
                <a:lnTo>
                  <a:pt x="0" y="899875"/>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3778593" y="-13192"/>
            <a:ext cx="1024825" cy="1041873"/>
          </a:xfrm>
          <a:custGeom>
            <a:avLst/>
            <a:gdLst/>
            <a:ahLst/>
            <a:cxnLst/>
            <a:rect l="l" t="t" r="r" b="b"/>
            <a:pathLst>
              <a:path w="1024825" h="1041873">
                <a:moveTo>
                  <a:pt x="0" y="0"/>
                </a:moveTo>
                <a:lnTo>
                  <a:pt x="1024825" y="0"/>
                </a:lnTo>
                <a:lnTo>
                  <a:pt x="1024825" y="1041873"/>
                </a:lnTo>
                <a:lnTo>
                  <a:pt x="0" y="1041873"/>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6" name="Freeform 6"/>
          <p:cNvSpPr/>
          <p:nvPr/>
        </p:nvSpPr>
        <p:spPr>
          <a:xfrm>
            <a:off x="1335973" y="2174618"/>
            <a:ext cx="15574565" cy="7588855"/>
          </a:xfrm>
          <a:custGeom>
            <a:avLst/>
            <a:gdLst/>
            <a:ahLst/>
            <a:cxnLst/>
            <a:rect l="l" t="t" r="r" b="b"/>
            <a:pathLst>
              <a:path w="15185548" h="6916763">
                <a:moveTo>
                  <a:pt x="0" y="0"/>
                </a:moveTo>
                <a:lnTo>
                  <a:pt x="15185548" y="0"/>
                </a:lnTo>
                <a:lnTo>
                  <a:pt x="15185548" y="6916763"/>
                </a:lnTo>
                <a:lnTo>
                  <a:pt x="0" y="6916763"/>
                </a:lnTo>
                <a:lnTo>
                  <a:pt x="0" y="0"/>
                </a:lnTo>
                <a:close/>
              </a:path>
            </a:pathLst>
          </a:custGeom>
          <a:blipFill>
            <a:blip r:embed="rId11"/>
            <a:stretch>
              <a:fillRect t="-15689" b="-6982"/>
            </a:stretch>
          </a:blipFill>
        </p:spPr>
        <p:txBody>
          <a:bodyPr/>
          <a:lstStyle/>
          <a:p>
            <a:endParaRPr lang="he-IL" dirty="0"/>
          </a:p>
        </p:txBody>
      </p:sp>
      <p:sp>
        <p:nvSpPr>
          <p:cNvPr id="7" name="Freeform 7"/>
          <p:cNvSpPr/>
          <p:nvPr/>
        </p:nvSpPr>
        <p:spPr>
          <a:xfrm>
            <a:off x="6806175" y="5865444"/>
            <a:ext cx="2490225" cy="1052200"/>
          </a:xfrm>
          <a:custGeom>
            <a:avLst/>
            <a:gdLst/>
            <a:ahLst/>
            <a:cxnLst/>
            <a:rect l="l" t="t" r="r" b="b"/>
            <a:pathLst>
              <a:path w="2361271" h="1052200">
                <a:moveTo>
                  <a:pt x="0" y="0"/>
                </a:moveTo>
                <a:lnTo>
                  <a:pt x="2361271" y="0"/>
                </a:lnTo>
                <a:lnTo>
                  <a:pt x="2361271" y="1052200"/>
                </a:lnTo>
                <a:lnTo>
                  <a:pt x="0" y="1052200"/>
                </a:lnTo>
                <a:lnTo>
                  <a:pt x="0" y="0"/>
                </a:lnTo>
                <a:close/>
              </a:path>
            </a:pathLst>
          </a:custGeom>
          <a:blipFill>
            <a:blip r:embed="rId12"/>
            <a:stretch>
              <a:fillRect t="-3366" b="-3366"/>
            </a:stretch>
          </a:blipFill>
        </p:spPr>
        <p:txBody>
          <a:bodyPr/>
          <a:lstStyle/>
          <a:p>
            <a:endParaRPr lang="he-IL"/>
          </a:p>
        </p:txBody>
      </p:sp>
      <p:sp>
        <p:nvSpPr>
          <p:cNvPr id="8" name="TextBox 8"/>
          <p:cNvSpPr txBox="1"/>
          <p:nvPr/>
        </p:nvSpPr>
        <p:spPr>
          <a:xfrm>
            <a:off x="1399009" y="1674514"/>
            <a:ext cx="8378833" cy="833690"/>
          </a:xfrm>
          <a:prstGeom prst="rect">
            <a:avLst/>
          </a:prstGeom>
        </p:spPr>
        <p:txBody>
          <a:bodyPr wrap="square" lIns="0" tIns="0" rIns="0" bIns="0" rtlCol="0" anchor="t">
            <a:spAutoFit/>
          </a:bodyPr>
          <a:lstStyle/>
          <a:p>
            <a:pPr algn="just">
              <a:lnSpc>
                <a:spcPts val="3356"/>
              </a:lnSpc>
            </a:pPr>
            <a:r>
              <a:rPr lang="en-US" sz="2397" dirty="0">
                <a:latin typeface="Calistoga" panose="020B0604020202020204" charset="0"/>
                <a:ea typeface="Public Sans Bold"/>
                <a:cs typeface="Public Sans Bold"/>
                <a:sym typeface="Public Sans Bold"/>
              </a:rPr>
              <a:t>Initial Context: An Educational Platform</a:t>
            </a:r>
          </a:p>
          <a:p>
            <a:pPr algn="just">
              <a:lnSpc>
                <a:spcPts val="3356"/>
              </a:lnSpc>
            </a:pPr>
            <a:endParaRPr lang="en-US" sz="2397" dirty="0">
              <a:latin typeface="Public Sans"/>
              <a:ea typeface="Public Sans"/>
              <a:cs typeface="Public Sans"/>
              <a:sym typeface="Public Sans"/>
            </a:endParaRPr>
          </a:p>
        </p:txBody>
      </p:sp>
      <p:sp>
        <p:nvSpPr>
          <p:cNvPr id="9" name="TextBox 9"/>
          <p:cNvSpPr txBox="1"/>
          <p:nvPr/>
        </p:nvSpPr>
        <p:spPr>
          <a:xfrm>
            <a:off x="10074390" y="1631134"/>
            <a:ext cx="7672315" cy="833754"/>
          </a:xfrm>
          <a:prstGeom prst="rect">
            <a:avLst/>
          </a:prstGeom>
        </p:spPr>
        <p:txBody>
          <a:bodyPr lIns="0" tIns="0" rIns="0" bIns="0" rtlCol="0" anchor="t">
            <a:spAutoFit/>
          </a:bodyPr>
          <a:lstStyle/>
          <a:p>
            <a:pPr algn="l">
              <a:lnSpc>
                <a:spcPts val="3360"/>
              </a:lnSpc>
            </a:pPr>
            <a:r>
              <a:rPr lang="en-US" sz="2400" dirty="0">
                <a:latin typeface="Calistoga" panose="020B0604020202020204" charset="0"/>
                <a:ea typeface="Public Sans Bold"/>
                <a:cs typeface="Public Sans Bold"/>
                <a:sym typeface="Public Sans Bold"/>
              </a:rPr>
              <a:t>Adaptation for Research</a:t>
            </a:r>
            <a:r>
              <a:rPr lang="en-US" sz="2400" dirty="0">
                <a:latin typeface="Calistoga" panose="020B0604020202020204" charset="0"/>
                <a:ea typeface="Public Sans"/>
                <a:cs typeface="Public Sans"/>
                <a:sym typeface="Public Sans"/>
              </a:rPr>
              <a:t>: A Controlled Instrument</a:t>
            </a:r>
          </a:p>
          <a:p>
            <a:pPr algn="l">
              <a:lnSpc>
                <a:spcPts val="3360"/>
              </a:lnSpc>
            </a:pPr>
            <a:endParaRPr lang="en-US" sz="2400" dirty="0">
              <a:latin typeface="Public Sans"/>
              <a:ea typeface="Public Sans"/>
              <a:cs typeface="Public Sans"/>
              <a:sym typeface="Public Sans"/>
            </a:endParaRPr>
          </a:p>
        </p:txBody>
      </p:sp>
      <p:sp>
        <p:nvSpPr>
          <p:cNvPr id="10" name="TextBox 10"/>
          <p:cNvSpPr txBox="1"/>
          <p:nvPr/>
        </p:nvSpPr>
        <p:spPr>
          <a:xfrm>
            <a:off x="3606726" y="193912"/>
            <a:ext cx="10655765" cy="1006814"/>
          </a:xfrm>
          <a:prstGeom prst="rect">
            <a:avLst/>
          </a:prstGeom>
        </p:spPr>
        <p:txBody>
          <a:bodyPr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Where We Started</a:t>
            </a:r>
          </a:p>
        </p:txBody>
      </p:sp>
      <p:sp>
        <p:nvSpPr>
          <p:cNvPr id="12" name="TextBox 12"/>
          <p:cNvSpPr txBox="1"/>
          <p:nvPr/>
        </p:nvSpPr>
        <p:spPr>
          <a:xfrm>
            <a:off x="6916799" y="5933873"/>
            <a:ext cx="2212317" cy="915342"/>
          </a:xfrm>
          <a:prstGeom prst="rect">
            <a:avLst/>
          </a:prstGeom>
        </p:spPr>
        <p:txBody>
          <a:bodyPr lIns="0" tIns="0" rIns="0" bIns="0" rtlCol="0" anchor="t">
            <a:spAutoFit/>
          </a:bodyPr>
          <a:lstStyle/>
          <a:p>
            <a:pPr algn="ctr">
              <a:lnSpc>
                <a:spcPts val="3631"/>
              </a:lnSpc>
              <a:spcBef>
                <a:spcPct val="0"/>
              </a:spcBef>
            </a:pPr>
            <a:r>
              <a:rPr lang="en-US" sz="2700" dirty="0">
                <a:solidFill>
                  <a:srgbClr val="000000"/>
                </a:solidFill>
                <a:latin typeface="Public Sans"/>
                <a:ea typeface="Public Sans"/>
                <a:cs typeface="Public Sans"/>
                <a:sym typeface="Public Sans"/>
              </a:rPr>
              <a:t>Existing WEB system</a:t>
            </a:r>
          </a:p>
        </p:txBody>
      </p:sp>
      <p:sp>
        <p:nvSpPr>
          <p:cNvPr id="13" name="TextBox 10">
            <a:extLst>
              <a:ext uri="{FF2B5EF4-FFF2-40B4-BE49-F238E27FC236}">
                <a16:creationId xmlns:a16="http://schemas.microsoft.com/office/drawing/2014/main" id="{7C2756A6-B303-2383-B928-C83D3BCCD7E8}"/>
              </a:ext>
            </a:extLst>
          </p:cNvPr>
          <p:cNvSpPr txBox="1"/>
          <p:nvPr/>
        </p:nvSpPr>
        <p:spPr>
          <a:xfrm>
            <a:off x="1759006" y="9808421"/>
            <a:ext cx="14728497" cy="415498"/>
          </a:xfrm>
          <a:prstGeom prst="rect">
            <a:avLst/>
          </a:prstGeom>
        </p:spPr>
        <p:txBody>
          <a:bodyPr wrap="square" lIns="0" tIns="0" rIns="0" bIns="0" rtlCol="0" anchor="t">
            <a:spAutoFit/>
          </a:bodyPr>
          <a:lstStyle/>
          <a:p>
            <a:r>
              <a:rPr lang="en-US" sz="2700" b="1" dirty="0">
                <a:latin typeface="Public Sans" panose="020B0604020202020204" charset="0"/>
              </a:rPr>
              <a:t>The final project builds on an existing system by introducing a dedicated research pathway.</a:t>
            </a:r>
          </a:p>
        </p:txBody>
      </p:sp>
      <p:pic>
        <p:nvPicPr>
          <p:cNvPr id="20" name="תמונה 19" descr="תמונה שמכילה טקסט, גופן, לבן, עיצוב&#10;&#10;תוכן בינה מלאכותית גנרטיבית עשוי להיות שגוי.">
            <a:extLst>
              <a:ext uri="{FF2B5EF4-FFF2-40B4-BE49-F238E27FC236}">
                <a16:creationId xmlns:a16="http://schemas.microsoft.com/office/drawing/2014/main" id="{A10F01F3-CB9C-485C-D9F1-CBA143CF0DBD}"/>
              </a:ext>
            </a:extLst>
          </p:cNvPr>
          <p:cNvPicPr>
            <a:picLocks noChangeAspect="1"/>
          </p:cNvPicPr>
          <p:nvPr/>
        </p:nvPicPr>
        <p:blipFill>
          <a:blip r:embed="rId13"/>
          <a:stretch>
            <a:fillRect/>
          </a:stretch>
        </p:blipFill>
        <p:spPr>
          <a:xfrm>
            <a:off x="3753474" y="4538717"/>
            <a:ext cx="1885325" cy="784420"/>
          </a:xfrm>
          <a:prstGeom prst="rect">
            <a:avLst/>
          </a:prstGeom>
        </p:spPr>
      </p:pic>
      <p:sp>
        <p:nvSpPr>
          <p:cNvPr id="14" name="TextBox 11">
            <a:extLst>
              <a:ext uri="{FF2B5EF4-FFF2-40B4-BE49-F238E27FC236}">
                <a16:creationId xmlns:a16="http://schemas.microsoft.com/office/drawing/2014/main" id="{AC0BDABC-A465-E687-8026-7CB726B32F18}"/>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5</a:t>
            </a:r>
          </a:p>
        </p:txBody>
      </p:sp>
      <p:pic>
        <p:nvPicPr>
          <p:cNvPr id="11" name="תמונה 10"/>
          <p:cNvPicPr>
            <a:picLocks noChangeAspect="1"/>
          </p:cNvPicPr>
          <p:nvPr/>
        </p:nvPicPr>
        <p:blipFill>
          <a:blip r:embed="rId14"/>
          <a:stretch>
            <a:fillRect/>
          </a:stretch>
        </p:blipFill>
        <p:spPr>
          <a:xfrm>
            <a:off x="13069477" y="4697532"/>
            <a:ext cx="2386027" cy="466790"/>
          </a:xfrm>
          <a:prstGeom prst="rect">
            <a:avLst/>
          </a:prstGeom>
        </p:spPr>
      </p:pic>
      <p:sp>
        <p:nvSpPr>
          <p:cNvPr id="15" name="TextBox 14"/>
          <p:cNvSpPr txBox="1"/>
          <p:nvPr/>
        </p:nvSpPr>
        <p:spPr>
          <a:xfrm>
            <a:off x="7315200" y="7277100"/>
            <a:ext cx="1539868" cy="1143000"/>
          </a:xfrm>
          <a:prstGeom prst="rect">
            <a:avLst/>
          </a:prstGeom>
          <a:noFill/>
        </p:spPr>
        <p:txBody>
          <a:bodyPr wrap="square" rtlCol="1">
            <a:spAutoFit/>
          </a:bodyPr>
          <a:lstStyle/>
          <a:p>
            <a:endParaRPr lang="he-IL" dirty="0"/>
          </a:p>
        </p:txBody>
      </p:sp>
      <p:pic>
        <p:nvPicPr>
          <p:cNvPr id="16" name="תמונה 15"/>
          <p:cNvPicPr>
            <a:picLocks noChangeAspect="1"/>
          </p:cNvPicPr>
          <p:nvPr/>
        </p:nvPicPr>
        <p:blipFill>
          <a:blip r:embed="rId15"/>
          <a:stretch>
            <a:fillRect/>
          </a:stretch>
        </p:blipFill>
        <p:spPr>
          <a:xfrm>
            <a:off x="13121691" y="3789198"/>
            <a:ext cx="3052092" cy="5311282"/>
          </a:xfrm>
          <a:prstGeom prst="rect">
            <a:avLst/>
          </a:prstGeom>
        </p:spPr>
      </p:pic>
      <p:sp>
        <p:nvSpPr>
          <p:cNvPr id="17" name="TextBox 16"/>
          <p:cNvSpPr txBox="1"/>
          <p:nvPr/>
        </p:nvSpPr>
        <p:spPr>
          <a:xfrm>
            <a:off x="13184758" y="3854921"/>
            <a:ext cx="3258802" cy="4401205"/>
          </a:xfrm>
          <a:prstGeom prst="rect">
            <a:avLst/>
          </a:prstGeom>
          <a:noFill/>
        </p:spPr>
        <p:txBody>
          <a:bodyPr wrap="square" rtlCol="1">
            <a:spAutoFit/>
          </a:bodyPr>
          <a:lstStyle/>
          <a:p>
            <a:pPr algn="ctr"/>
            <a:r>
              <a:rPr lang="en-US" sz="2700" dirty="0">
                <a:latin typeface="Public Sans" panose="020B0604020202020204" charset="0"/>
              </a:rPr>
              <a:t>Research Mode</a:t>
            </a:r>
          </a:p>
          <a:p>
            <a:pPr algn="ctr"/>
            <a:endParaRPr lang="he-IL" sz="2700" dirty="0">
              <a:latin typeface="Public Sans" panose="020B0604020202020204" charset="0"/>
            </a:endParaRPr>
          </a:p>
          <a:p>
            <a:r>
              <a:rPr lang="en-US" sz="2700" dirty="0">
                <a:latin typeface="Public Sans" panose="020B0604020202020204" charset="0"/>
              </a:rPr>
              <a:t>Dedicated     research entry</a:t>
            </a:r>
          </a:p>
          <a:p>
            <a:endParaRPr lang="en-US" sz="2700" dirty="0">
              <a:latin typeface="Public Sans" panose="020B0604020202020204" charset="0"/>
            </a:endParaRPr>
          </a:p>
          <a:p>
            <a:r>
              <a:rPr lang="en-US" sz="2700" dirty="0">
                <a:latin typeface="Public Sans" panose="020B0604020202020204" charset="0"/>
              </a:rPr>
              <a:t>Structured “join Study ” flow </a:t>
            </a:r>
          </a:p>
          <a:p>
            <a:endParaRPr lang="en-US" sz="2700" dirty="0">
              <a:latin typeface="Public Sans" panose="020B0604020202020204" charset="0"/>
            </a:endParaRPr>
          </a:p>
          <a:p>
            <a:r>
              <a:rPr lang="en-US" sz="2700" dirty="0">
                <a:latin typeface="Public Sans" panose="020B0604020202020204" charset="0"/>
              </a:rPr>
              <a:t>Only study-path data analyzed</a:t>
            </a:r>
            <a:endParaRPr lang="he-IL" sz="2700" dirty="0">
              <a:latin typeface="Public Sans" panose="020B0604020202020204" charset="0"/>
            </a:endParaRPr>
          </a:p>
        </p:txBody>
      </p:sp>
      <p:pic>
        <p:nvPicPr>
          <p:cNvPr id="21" name="תמונה 20"/>
          <p:cNvPicPr>
            <a:picLocks noChangeAspect="1"/>
          </p:cNvPicPr>
          <p:nvPr/>
        </p:nvPicPr>
        <p:blipFill>
          <a:blip r:embed="rId16"/>
          <a:stretch>
            <a:fillRect/>
          </a:stretch>
        </p:blipFill>
        <p:spPr>
          <a:xfrm>
            <a:off x="12984705" y="7329145"/>
            <a:ext cx="200053" cy="276264"/>
          </a:xfrm>
          <a:prstGeom prst="rect">
            <a:avLst/>
          </a:prstGeom>
        </p:spPr>
      </p:pic>
      <p:pic>
        <p:nvPicPr>
          <p:cNvPr id="22" name="תמונה 21"/>
          <p:cNvPicPr>
            <a:picLocks noChangeAspect="1"/>
          </p:cNvPicPr>
          <p:nvPr/>
        </p:nvPicPr>
        <p:blipFill>
          <a:blip r:embed="rId16"/>
          <a:stretch>
            <a:fillRect/>
          </a:stretch>
        </p:blipFill>
        <p:spPr>
          <a:xfrm>
            <a:off x="12995558" y="4750356"/>
            <a:ext cx="200053" cy="276264"/>
          </a:xfrm>
          <a:prstGeom prst="rect">
            <a:avLst/>
          </a:prstGeom>
        </p:spPr>
      </p:pic>
      <p:pic>
        <p:nvPicPr>
          <p:cNvPr id="23" name="תמונה 22"/>
          <p:cNvPicPr>
            <a:picLocks noChangeAspect="1"/>
          </p:cNvPicPr>
          <p:nvPr/>
        </p:nvPicPr>
        <p:blipFill>
          <a:blip r:embed="rId16"/>
          <a:stretch>
            <a:fillRect/>
          </a:stretch>
        </p:blipFill>
        <p:spPr>
          <a:xfrm>
            <a:off x="12967195" y="6055524"/>
            <a:ext cx="200053" cy="276264"/>
          </a:xfrm>
          <a:prstGeom prst="rect">
            <a:avLst/>
          </a:prstGeom>
        </p:spPr>
      </p:pic>
      <p:pic>
        <p:nvPicPr>
          <p:cNvPr id="19" name="תמונה 18">
            <a:extLst>
              <a:ext uri="{FF2B5EF4-FFF2-40B4-BE49-F238E27FC236}">
                <a16:creationId xmlns:a16="http://schemas.microsoft.com/office/drawing/2014/main" id="{DE7A3070-F1B2-B8BD-BD37-73A925EED31A}"/>
              </a:ext>
            </a:extLst>
          </p:cNvPr>
          <p:cNvPicPr>
            <a:picLocks noChangeAspect="1"/>
          </p:cNvPicPr>
          <p:nvPr/>
        </p:nvPicPr>
        <p:blipFill>
          <a:blip r:embed="rId17"/>
          <a:stretch>
            <a:fillRect/>
          </a:stretch>
        </p:blipFill>
        <p:spPr>
          <a:xfrm>
            <a:off x="8772473" y="5081579"/>
            <a:ext cx="743054" cy="123842"/>
          </a:xfrm>
          <a:prstGeom prst="rect">
            <a:avLst/>
          </a:prstGeom>
        </p:spPr>
      </p:pic>
      <p:pic>
        <p:nvPicPr>
          <p:cNvPr id="25" name="תמונה 24">
            <a:extLst>
              <a:ext uri="{FF2B5EF4-FFF2-40B4-BE49-F238E27FC236}">
                <a16:creationId xmlns:a16="http://schemas.microsoft.com/office/drawing/2014/main" id="{70F1185A-BB57-1238-2B33-F425D52F9EF4}"/>
              </a:ext>
            </a:extLst>
          </p:cNvPr>
          <p:cNvPicPr>
            <a:picLocks noChangeAspect="1"/>
          </p:cNvPicPr>
          <p:nvPr/>
        </p:nvPicPr>
        <p:blipFill>
          <a:blip r:embed="rId17"/>
          <a:stretch>
            <a:fillRect/>
          </a:stretch>
        </p:blipFill>
        <p:spPr>
          <a:xfrm>
            <a:off x="3795739" y="4432604"/>
            <a:ext cx="1422783" cy="890534"/>
          </a:xfrm>
          <a:prstGeom prst="rect">
            <a:avLst/>
          </a:prstGeom>
        </p:spPr>
      </p:pic>
      <p:pic>
        <p:nvPicPr>
          <p:cNvPr id="26" name="תמונה 25">
            <a:extLst>
              <a:ext uri="{FF2B5EF4-FFF2-40B4-BE49-F238E27FC236}">
                <a16:creationId xmlns:a16="http://schemas.microsoft.com/office/drawing/2014/main" id="{43E5E0C5-17CF-5CE5-076D-79E4B3BFB250}"/>
              </a:ext>
            </a:extLst>
          </p:cNvPr>
          <p:cNvPicPr>
            <a:picLocks noChangeAspect="1"/>
          </p:cNvPicPr>
          <p:nvPr/>
        </p:nvPicPr>
        <p:blipFill>
          <a:blip r:embed="rId17"/>
          <a:stretch>
            <a:fillRect/>
          </a:stretch>
        </p:blipFill>
        <p:spPr>
          <a:xfrm>
            <a:off x="3795739" y="6220385"/>
            <a:ext cx="1885325" cy="890534"/>
          </a:xfrm>
          <a:prstGeom prst="rect">
            <a:avLst/>
          </a:prstGeom>
        </p:spPr>
      </p:pic>
      <p:pic>
        <p:nvPicPr>
          <p:cNvPr id="27" name="תמונה 26">
            <a:extLst>
              <a:ext uri="{FF2B5EF4-FFF2-40B4-BE49-F238E27FC236}">
                <a16:creationId xmlns:a16="http://schemas.microsoft.com/office/drawing/2014/main" id="{49112A0D-E84B-07F7-D7A3-069AB0FA4C20}"/>
              </a:ext>
            </a:extLst>
          </p:cNvPr>
          <p:cNvPicPr>
            <a:picLocks noChangeAspect="1"/>
          </p:cNvPicPr>
          <p:nvPr/>
        </p:nvPicPr>
        <p:blipFill>
          <a:blip r:embed="rId17"/>
          <a:stretch>
            <a:fillRect/>
          </a:stretch>
        </p:blipFill>
        <p:spPr>
          <a:xfrm>
            <a:off x="3795739" y="7974832"/>
            <a:ext cx="1885325" cy="1060485"/>
          </a:xfrm>
          <a:prstGeom prst="rect">
            <a:avLst/>
          </a:prstGeom>
        </p:spPr>
      </p:pic>
      <p:sp>
        <p:nvSpPr>
          <p:cNvPr id="28" name="תיבת טקסט 27">
            <a:extLst>
              <a:ext uri="{FF2B5EF4-FFF2-40B4-BE49-F238E27FC236}">
                <a16:creationId xmlns:a16="http://schemas.microsoft.com/office/drawing/2014/main" id="{ACE58214-C6C6-0FC4-BF62-8875B562CBA2}"/>
              </a:ext>
            </a:extLst>
          </p:cNvPr>
          <p:cNvSpPr txBox="1"/>
          <p:nvPr/>
        </p:nvSpPr>
        <p:spPr>
          <a:xfrm>
            <a:off x="3745754" y="4432604"/>
            <a:ext cx="2386027" cy="923330"/>
          </a:xfrm>
          <a:prstGeom prst="rect">
            <a:avLst/>
          </a:prstGeom>
          <a:noFill/>
        </p:spPr>
        <p:txBody>
          <a:bodyPr wrap="square" rtlCol="1">
            <a:spAutoFit/>
          </a:bodyPr>
          <a:lstStyle/>
          <a:p>
            <a:r>
              <a:rPr lang="en-US" sz="2700" dirty="0">
                <a:latin typeface="Public Sans" panose="020B0604020202020204" charset="0"/>
              </a:rPr>
              <a:t>Student Experience</a:t>
            </a:r>
            <a:endParaRPr lang="he-IL" sz="2700" dirty="0">
              <a:latin typeface="Public Sans" panose="020B0604020202020204" charset="0"/>
            </a:endParaRPr>
          </a:p>
        </p:txBody>
      </p:sp>
      <p:sp>
        <p:nvSpPr>
          <p:cNvPr id="30" name="תיבת טקסט 29">
            <a:extLst>
              <a:ext uri="{FF2B5EF4-FFF2-40B4-BE49-F238E27FC236}">
                <a16:creationId xmlns:a16="http://schemas.microsoft.com/office/drawing/2014/main" id="{B5EB0972-6F41-0CF7-0F83-8D7970837E0D}"/>
              </a:ext>
            </a:extLst>
          </p:cNvPr>
          <p:cNvSpPr txBox="1"/>
          <p:nvPr/>
        </p:nvSpPr>
        <p:spPr>
          <a:xfrm>
            <a:off x="3795739" y="6224865"/>
            <a:ext cx="2386027" cy="954107"/>
          </a:xfrm>
          <a:prstGeom prst="rect">
            <a:avLst/>
          </a:prstGeom>
          <a:noFill/>
        </p:spPr>
        <p:txBody>
          <a:bodyPr wrap="square" rtlCol="1">
            <a:spAutoFit/>
          </a:bodyPr>
          <a:lstStyle/>
          <a:p>
            <a:r>
              <a:rPr lang="en-US" sz="2700" dirty="0">
                <a:latin typeface="Public Sans" panose="020B0604020202020204" charset="0"/>
              </a:rPr>
              <a:t>Automated AI Analysis</a:t>
            </a:r>
            <a:endParaRPr lang="he-IL" sz="2700" dirty="0">
              <a:latin typeface="Public Sans" panose="020B0604020202020204" charset="0"/>
            </a:endParaRPr>
          </a:p>
        </p:txBody>
      </p:sp>
      <p:sp>
        <p:nvSpPr>
          <p:cNvPr id="31" name="תיבת טקסט 30">
            <a:extLst>
              <a:ext uri="{FF2B5EF4-FFF2-40B4-BE49-F238E27FC236}">
                <a16:creationId xmlns:a16="http://schemas.microsoft.com/office/drawing/2014/main" id="{B53BE659-6D6B-AA6A-EFB6-11B40CFCD85B}"/>
              </a:ext>
            </a:extLst>
          </p:cNvPr>
          <p:cNvSpPr txBox="1"/>
          <p:nvPr/>
        </p:nvSpPr>
        <p:spPr>
          <a:xfrm>
            <a:off x="3832539" y="7830278"/>
            <a:ext cx="2757236" cy="1384995"/>
          </a:xfrm>
          <a:prstGeom prst="rect">
            <a:avLst/>
          </a:prstGeom>
          <a:noFill/>
        </p:spPr>
        <p:txBody>
          <a:bodyPr wrap="square" rtlCol="1">
            <a:spAutoFit/>
          </a:bodyPr>
          <a:lstStyle/>
          <a:p>
            <a:r>
              <a:rPr lang="en-US" sz="2700" dirty="0">
                <a:latin typeface="Public Sans" panose="020B0604020202020204" charset="0"/>
              </a:rPr>
              <a:t>Instructor &amp; Student Dashboards</a:t>
            </a:r>
            <a:endParaRPr lang="he-IL" sz="2700" dirty="0">
              <a:latin typeface="Public Sans" panose="020B0604020202020204" charset="0"/>
            </a:endParaRPr>
          </a:p>
        </p:txBody>
      </p:sp>
      <p:pic>
        <p:nvPicPr>
          <p:cNvPr id="33" name="תמונה 32">
            <a:extLst>
              <a:ext uri="{FF2B5EF4-FFF2-40B4-BE49-F238E27FC236}">
                <a16:creationId xmlns:a16="http://schemas.microsoft.com/office/drawing/2014/main" id="{E425D618-4752-5813-C674-A8D866237848}"/>
              </a:ext>
            </a:extLst>
          </p:cNvPr>
          <p:cNvPicPr>
            <a:picLocks noChangeAspect="1"/>
          </p:cNvPicPr>
          <p:nvPr/>
        </p:nvPicPr>
        <p:blipFill>
          <a:blip r:embed="rId18"/>
          <a:stretch>
            <a:fillRect/>
          </a:stretch>
        </p:blipFill>
        <p:spPr>
          <a:xfrm>
            <a:off x="2381249" y="3051688"/>
            <a:ext cx="3750531" cy="466790"/>
          </a:xfrm>
          <a:prstGeom prst="rect">
            <a:avLst/>
          </a:prstGeom>
        </p:spPr>
      </p:pic>
      <p:pic>
        <p:nvPicPr>
          <p:cNvPr id="34" name="תמונה 33">
            <a:extLst>
              <a:ext uri="{FF2B5EF4-FFF2-40B4-BE49-F238E27FC236}">
                <a16:creationId xmlns:a16="http://schemas.microsoft.com/office/drawing/2014/main" id="{3FD4209C-C3A6-C690-7B4A-BD6D56723F0F}"/>
              </a:ext>
            </a:extLst>
          </p:cNvPr>
          <p:cNvPicPr>
            <a:picLocks noChangeAspect="1"/>
          </p:cNvPicPr>
          <p:nvPr/>
        </p:nvPicPr>
        <p:blipFill>
          <a:blip r:embed="rId18"/>
          <a:stretch>
            <a:fillRect/>
          </a:stretch>
        </p:blipFill>
        <p:spPr>
          <a:xfrm>
            <a:off x="2032487" y="3284681"/>
            <a:ext cx="4368313" cy="466790"/>
          </a:xfrm>
          <a:prstGeom prst="rect">
            <a:avLst/>
          </a:prstGeom>
        </p:spPr>
      </p:pic>
      <p:sp>
        <p:nvSpPr>
          <p:cNvPr id="35" name="תיבת טקסט 34">
            <a:extLst>
              <a:ext uri="{FF2B5EF4-FFF2-40B4-BE49-F238E27FC236}">
                <a16:creationId xmlns:a16="http://schemas.microsoft.com/office/drawing/2014/main" id="{D1BC1B68-4B17-12FF-AFD4-A0D72B9AF0DE}"/>
              </a:ext>
            </a:extLst>
          </p:cNvPr>
          <p:cNvSpPr txBox="1"/>
          <p:nvPr/>
        </p:nvSpPr>
        <p:spPr>
          <a:xfrm>
            <a:off x="2297766" y="2903670"/>
            <a:ext cx="4418727" cy="923330"/>
          </a:xfrm>
          <a:prstGeom prst="rect">
            <a:avLst/>
          </a:prstGeom>
          <a:noFill/>
        </p:spPr>
        <p:txBody>
          <a:bodyPr wrap="square" rtlCol="1">
            <a:spAutoFit/>
          </a:bodyPr>
          <a:lstStyle/>
          <a:p>
            <a:r>
              <a:rPr lang="en-US" sz="2700" dirty="0">
                <a:latin typeface="Public Sans" panose="020B0604020202020204" charset="0"/>
              </a:rPr>
              <a:t>Core Components: Educational &amp; Analytical</a:t>
            </a:r>
          </a:p>
        </p:txBody>
      </p:sp>
      <p:pic>
        <p:nvPicPr>
          <p:cNvPr id="38" name="תמונה 37">
            <a:extLst>
              <a:ext uri="{FF2B5EF4-FFF2-40B4-BE49-F238E27FC236}">
                <a16:creationId xmlns:a16="http://schemas.microsoft.com/office/drawing/2014/main" id="{C3093E09-8DBC-35E1-16A6-5A21C0E8F4F2}"/>
              </a:ext>
            </a:extLst>
          </p:cNvPr>
          <p:cNvPicPr>
            <a:picLocks noChangeAspect="1"/>
          </p:cNvPicPr>
          <p:nvPr/>
        </p:nvPicPr>
        <p:blipFill>
          <a:blip r:embed="rId19"/>
          <a:stretch>
            <a:fillRect/>
          </a:stretch>
        </p:blipFill>
        <p:spPr>
          <a:xfrm>
            <a:off x="10087619" y="5089742"/>
            <a:ext cx="1956378" cy="466789"/>
          </a:xfrm>
          <a:prstGeom prst="rect">
            <a:avLst/>
          </a:prstGeom>
        </p:spPr>
      </p:pic>
      <p:pic>
        <p:nvPicPr>
          <p:cNvPr id="39" name="תמונה 38">
            <a:extLst>
              <a:ext uri="{FF2B5EF4-FFF2-40B4-BE49-F238E27FC236}">
                <a16:creationId xmlns:a16="http://schemas.microsoft.com/office/drawing/2014/main" id="{9F93296F-6501-E791-CC01-FE8546A5E62C}"/>
              </a:ext>
            </a:extLst>
          </p:cNvPr>
          <p:cNvPicPr>
            <a:picLocks noChangeAspect="1"/>
          </p:cNvPicPr>
          <p:nvPr/>
        </p:nvPicPr>
        <p:blipFill>
          <a:blip r:embed="rId19"/>
          <a:stretch>
            <a:fillRect/>
          </a:stretch>
        </p:blipFill>
        <p:spPr>
          <a:xfrm>
            <a:off x="10010191" y="5265741"/>
            <a:ext cx="1956378" cy="466789"/>
          </a:xfrm>
          <a:prstGeom prst="rect">
            <a:avLst/>
          </a:prstGeom>
        </p:spPr>
      </p:pic>
      <p:pic>
        <p:nvPicPr>
          <p:cNvPr id="40" name="תמונה 39">
            <a:extLst>
              <a:ext uri="{FF2B5EF4-FFF2-40B4-BE49-F238E27FC236}">
                <a16:creationId xmlns:a16="http://schemas.microsoft.com/office/drawing/2014/main" id="{F6E235E3-17EE-2487-A498-73F5B9E21A72}"/>
              </a:ext>
            </a:extLst>
          </p:cNvPr>
          <p:cNvPicPr>
            <a:picLocks noChangeAspect="1"/>
          </p:cNvPicPr>
          <p:nvPr/>
        </p:nvPicPr>
        <p:blipFill>
          <a:blip r:embed="rId19"/>
          <a:stretch>
            <a:fillRect/>
          </a:stretch>
        </p:blipFill>
        <p:spPr>
          <a:xfrm>
            <a:off x="9991140" y="8112382"/>
            <a:ext cx="1956378" cy="466789"/>
          </a:xfrm>
          <a:prstGeom prst="rect">
            <a:avLst/>
          </a:prstGeom>
        </p:spPr>
      </p:pic>
      <p:pic>
        <p:nvPicPr>
          <p:cNvPr id="41" name="תמונה 40">
            <a:extLst>
              <a:ext uri="{FF2B5EF4-FFF2-40B4-BE49-F238E27FC236}">
                <a16:creationId xmlns:a16="http://schemas.microsoft.com/office/drawing/2014/main" id="{D2E4DFC9-6A0F-65A5-1325-9DBCCD55CAB1}"/>
              </a:ext>
            </a:extLst>
          </p:cNvPr>
          <p:cNvPicPr>
            <a:picLocks noChangeAspect="1"/>
          </p:cNvPicPr>
          <p:nvPr/>
        </p:nvPicPr>
        <p:blipFill>
          <a:blip r:embed="rId19"/>
          <a:stretch>
            <a:fillRect/>
          </a:stretch>
        </p:blipFill>
        <p:spPr>
          <a:xfrm>
            <a:off x="10126029" y="8357384"/>
            <a:ext cx="1956378" cy="466789"/>
          </a:xfrm>
          <a:prstGeom prst="rect">
            <a:avLst/>
          </a:prstGeom>
        </p:spPr>
      </p:pic>
      <p:pic>
        <p:nvPicPr>
          <p:cNvPr id="42" name="תמונה 41">
            <a:extLst>
              <a:ext uri="{FF2B5EF4-FFF2-40B4-BE49-F238E27FC236}">
                <a16:creationId xmlns:a16="http://schemas.microsoft.com/office/drawing/2014/main" id="{46BC22FB-4563-5464-C2FA-6E20635DE2CE}"/>
              </a:ext>
            </a:extLst>
          </p:cNvPr>
          <p:cNvPicPr>
            <a:picLocks noChangeAspect="1"/>
          </p:cNvPicPr>
          <p:nvPr/>
        </p:nvPicPr>
        <p:blipFill>
          <a:blip r:embed="rId19"/>
          <a:stretch>
            <a:fillRect/>
          </a:stretch>
        </p:blipFill>
        <p:spPr>
          <a:xfrm>
            <a:off x="10106669" y="8604347"/>
            <a:ext cx="1956378" cy="466789"/>
          </a:xfrm>
          <a:prstGeom prst="rect">
            <a:avLst/>
          </a:prstGeom>
        </p:spPr>
      </p:pic>
      <p:sp>
        <p:nvSpPr>
          <p:cNvPr id="43" name="תיבת טקסט 42">
            <a:extLst>
              <a:ext uri="{FF2B5EF4-FFF2-40B4-BE49-F238E27FC236}">
                <a16:creationId xmlns:a16="http://schemas.microsoft.com/office/drawing/2014/main" id="{BED1A760-A081-C778-9C31-C2E7D2BEE934}"/>
              </a:ext>
            </a:extLst>
          </p:cNvPr>
          <p:cNvSpPr txBox="1"/>
          <p:nvPr/>
        </p:nvSpPr>
        <p:spPr>
          <a:xfrm>
            <a:off x="9857146" y="5014521"/>
            <a:ext cx="2299072" cy="923330"/>
          </a:xfrm>
          <a:prstGeom prst="rect">
            <a:avLst/>
          </a:prstGeom>
          <a:noFill/>
        </p:spPr>
        <p:txBody>
          <a:bodyPr wrap="square" rtlCol="1">
            <a:spAutoFit/>
          </a:bodyPr>
          <a:lstStyle/>
          <a:p>
            <a:pPr algn="ctr"/>
            <a:r>
              <a:rPr lang="en-US" sz="2700" dirty="0">
                <a:latin typeface="Public Sans" panose="020B0604020202020204" charset="0"/>
              </a:rPr>
              <a:t>Research Entry</a:t>
            </a:r>
            <a:endParaRPr lang="he-IL" sz="2700" b="1" dirty="0">
              <a:latin typeface="Public Sans" panose="020B0604020202020204" charset="0"/>
            </a:endParaRPr>
          </a:p>
        </p:txBody>
      </p:sp>
      <p:sp>
        <p:nvSpPr>
          <p:cNvPr id="44" name="תיבת טקסט 43">
            <a:extLst>
              <a:ext uri="{FF2B5EF4-FFF2-40B4-BE49-F238E27FC236}">
                <a16:creationId xmlns:a16="http://schemas.microsoft.com/office/drawing/2014/main" id="{9DEC77FA-03EB-837F-0B9A-78A43DEB1030}"/>
              </a:ext>
            </a:extLst>
          </p:cNvPr>
          <p:cNvSpPr txBox="1"/>
          <p:nvPr/>
        </p:nvSpPr>
        <p:spPr>
          <a:xfrm>
            <a:off x="9872794" y="8185989"/>
            <a:ext cx="2386027" cy="923330"/>
          </a:xfrm>
          <a:prstGeom prst="rect">
            <a:avLst/>
          </a:prstGeom>
          <a:noFill/>
        </p:spPr>
        <p:txBody>
          <a:bodyPr wrap="square" rtlCol="1">
            <a:spAutoFit/>
          </a:bodyPr>
          <a:lstStyle/>
          <a:p>
            <a:pPr algn="ctr"/>
            <a:r>
              <a:rPr lang="en-US" sz="2700" dirty="0">
                <a:latin typeface="Public Sans" panose="020B0604020202020204" charset="0"/>
              </a:rPr>
              <a:t>“Join Study”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745168" y="8214875"/>
            <a:ext cx="2626974" cy="2675621"/>
          </a:xfrm>
          <a:custGeom>
            <a:avLst/>
            <a:gdLst/>
            <a:ahLst/>
            <a:cxnLst/>
            <a:rect l="l" t="t" r="r" b="b"/>
            <a:pathLst>
              <a:path w="2626974" h="2675621">
                <a:moveTo>
                  <a:pt x="0" y="0"/>
                </a:moveTo>
                <a:lnTo>
                  <a:pt x="2626973" y="0"/>
                </a:lnTo>
                <a:lnTo>
                  <a:pt x="2626973" y="2675622"/>
                </a:lnTo>
                <a:lnTo>
                  <a:pt x="0" y="267562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4397388" y="-3705384"/>
            <a:ext cx="6034849" cy="6262579"/>
          </a:xfrm>
          <a:custGeom>
            <a:avLst/>
            <a:gdLst/>
            <a:ahLst/>
            <a:cxnLst/>
            <a:rect l="l" t="t" r="r" b="b"/>
            <a:pathLst>
              <a:path w="6034849" h="6262579">
                <a:moveTo>
                  <a:pt x="0" y="0"/>
                </a:moveTo>
                <a:lnTo>
                  <a:pt x="6034849" y="0"/>
                </a:lnTo>
                <a:lnTo>
                  <a:pt x="6034849" y="6262579"/>
                </a:lnTo>
                <a:lnTo>
                  <a:pt x="0" y="626257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rot="-1436842">
            <a:off x="-1299533" y="-926765"/>
            <a:ext cx="2340418" cy="2392620"/>
          </a:xfrm>
          <a:custGeom>
            <a:avLst/>
            <a:gdLst/>
            <a:ahLst/>
            <a:cxnLst/>
            <a:rect l="l" t="t" r="r" b="b"/>
            <a:pathLst>
              <a:path w="2340418" h="2392620">
                <a:moveTo>
                  <a:pt x="0" y="0"/>
                </a:moveTo>
                <a:lnTo>
                  <a:pt x="2340417" y="0"/>
                </a:lnTo>
                <a:lnTo>
                  <a:pt x="2340417" y="2392620"/>
                </a:lnTo>
                <a:lnTo>
                  <a:pt x="0" y="239262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2459729" y="8214875"/>
            <a:ext cx="3429121" cy="3841174"/>
          </a:xfrm>
          <a:custGeom>
            <a:avLst/>
            <a:gdLst/>
            <a:ahLst/>
            <a:cxnLst/>
            <a:rect l="l" t="t" r="r" b="b"/>
            <a:pathLst>
              <a:path w="3429121" h="3841174">
                <a:moveTo>
                  <a:pt x="0" y="0"/>
                </a:moveTo>
                <a:lnTo>
                  <a:pt x="3429121" y="0"/>
                </a:lnTo>
                <a:lnTo>
                  <a:pt x="3429121" y="3841175"/>
                </a:lnTo>
                <a:lnTo>
                  <a:pt x="0" y="384117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he-IL"/>
          </a:p>
        </p:txBody>
      </p:sp>
      <p:sp>
        <p:nvSpPr>
          <p:cNvPr id="6" name="Freeform 6"/>
          <p:cNvSpPr/>
          <p:nvPr/>
        </p:nvSpPr>
        <p:spPr>
          <a:xfrm>
            <a:off x="2296983" y="2243849"/>
            <a:ext cx="1553722" cy="1103185"/>
          </a:xfrm>
          <a:custGeom>
            <a:avLst/>
            <a:gdLst/>
            <a:ahLst/>
            <a:cxnLst/>
            <a:rect l="l" t="t" r="r" b="b"/>
            <a:pathLst>
              <a:path w="1553722" h="1103185">
                <a:moveTo>
                  <a:pt x="0" y="0"/>
                </a:moveTo>
                <a:lnTo>
                  <a:pt x="1553722" y="0"/>
                </a:lnTo>
                <a:lnTo>
                  <a:pt x="1553722" y="1103184"/>
                </a:lnTo>
                <a:lnTo>
                  <a:pt x="0" y="1103184"/>
                </a:lnTo>
                <a:lnTo>
                  <a:pt x="0" y="0"/>
                </a:lnTo>
                <a:close/>
              </a:path>
            </a:pathLst>
          </a:custGeom>
          <a:blipFill>
            <a:blip r:embed="rId10"/>
            <a:stretch>
              <a:fillRect/>
            </a:stretch>
          </a:blipFill>
        </p:spPr>
        <p:txBody>
          <a:bodyPr/>
          <a:lstStyle/>
          <a:p>
            <a:endParaRPr lang="he-IL"/>
          </a:p>
        </p:txBody>
      </p:sp>
      <p:grpSp>
        <p:nvGrpSpPr>
          <p:cNvPr id="7" name="Group 7"/>
          <p:cNvGrpSpPr/>
          <p:nvPr/>
        </p:nvGrpSpPr>
        <p:grpSpPr>
          <a:xfrm>
            <a:off x="3782637" y="398762"/>
            <a:ext cx="13143142" cy="2702309"/>
            <a:chOff x="0" y="172289"/>
            <a:chExt cx="17524189" cy="3603080"/>
          </a:xfrm>
        </p:grpSpPr>
        <p:sp>
          <p:nvSpPr>
            <p:cNvPr id="8" name="TextBox 8"/>
            <p:cNvSpPr txBox="1"/>
            <p:nvPr/>
          </p:nvSpPr>
          <p:spPr>
            <a:xfrm>
              <a:off x="21288" y="172289"/>
              <a:ext cx="17502901" cy="1342419"/>
            </a:xfrm>
            <a:prstGeom prst="rect">
              <a:avLst/>
            </a:prstGeom>
          </p:spPr>
          <p:txBody>
            <a:bodyPr lIns="0" tIns="0" rIns="0" bIns="0" rtlCol="0" anchor="t">
              <a:spAutoFit/>
            </a:bodyPr>
            <a:lstStyle/>
            <a:p>
              <a:pPr marL="0" lvl="0" indent="0" algn="l">
                <a:lnSpc>
                  <a:spcPts val="8399"/>
                </a:lnSpc>
              </a:pPr>
              <a:r>
                <a:rPr lang="en-US" sz="5600" dirty="0">
                  <a:solidFill>
                    <a:schemeClr val="accent3">
                      <a:lumMod val="50000"/>
                    </a:schemeClr>
                  </a:solidFill>
                  <a:latin typeface="Calistoga"/>
                  <a:ea typeface="Calistoga"/>
                  <a:cs typeface="Calistoga"/>
                  <a:sym typeface="Calistoga"/>
                </a:rPr>
                <a:t>Functional Requirements</a:t>
              </a:r>
            </a:p>
          </p:txBody>
        </p:sp>
        <p:sp>
          <p:nvSpPr>
            <p:cNvPr id="9" name="TextBox 9"/>
            <p:cNvSpPr txBox="1"/>
            <p:nvPr/>
          </p:nvSpPr>
          <p:spPr>
            <a:xfrm>
              <a:off x="0" y="3143220"/>
              <a:ext cx="15650585" cy="632149"/>
            </a:xfrm>
            <a:prstGeom prst="rect">
              <a:avLst/>
            </a:prstGeom>
          </p:spPr>
          <p:txBody>
            <a:bodyPr lIns="0" tIns="0" rIns="0" bIns="0" rtlCol="0" anchor="t">
              <a:spAutoFit/>
            </a:bodyPr>
            <a:lstStyle/>
            <a:p>
              <a:pPr algn="l">
                <a:lnSpc>
                  <a:spcPts val="3920"/>
                </a:lnSpc>
              </a:pPr>
              <a:endParaRPr/>
            </a:p>
          </p:txBody>
        </p:sp>
      </p:grpSp>
      <p:grpSp>
        <p:nvGrpSpPr>
          <p:cNvPr id="10" name="Group 10"/>
          <p:cNvGrpSpPr/>
          <p:nvPr/>
        </p:nvGrpSpPr>
        <p:grpSpPr>
          <a:xfrm>
            <a:off x="4138825" y="2349922"/>
            <a:ext cx="12446732" cy="7785540"/>
            <a:chOff x="0" y="-66675"/>
            <a:chExt cx="16595642" cy="10380721"/>
          </a:xfrm>
        </p:grpSpPr>
        <p:sp>
          <p:nvSpPr>
            <p:cNvPr id="11" name="TextBox 11"/>
            <p:cNvSpPr txBox="1"/>
            <p:nvPr/>
          </p:nvSpPr>
          <p:spPr>
            <a:xfrm>
              <a:off x="0" y="-66675"/>
              <a:ext cx="16595642" cy="1351055"/>
            </a:xfrm>
            <a:prstGeom prst="rect">
              <a:avLst/>
            </a:prstGeom>
          </p:spPr>
          <p:txBody>
            <a:bodyPr lIns="0" tIns="0" rIns="0" bIns="0" rtlCol="0" anchor="t">
              <a:spAutoFit/>
            </a:bodyPr>
            <a:lstStyle/>
            <a:p>
              <a:pPr>
                <a:lnSpc>
                  <a:spcPts val="4200"/>
                </a:lnSpc>
              </a:pPr>
              <a:r>
                <a:rPr lang="en-US" sz="3590" dirty="0">
                  <a:latin typeface="Calistoga" panose="020B0604020202020204" charset="0"/>
                </a:rPr>
                <a:t>Anonymous Participation:</a:t>
              </a:r>
              <a:r>
                <a:rPr lang="en-US" sz="3200" dirty="0"/>
                <a:t/>
              </a:r>
              <a:br>
                <a:rPr lang="en-US" sz="3200" dirty="0"/>
              </a:br>
              <a:r>
                <a:rPr lang="en-US" sz="2400" dirty="0">
                  <a:latin typeface="Public Sans" panose="020B0604020202020204" charset="0"/>
                </a:rPr>
                <a:t>Collect any personally identifying information (random UUID)</a:t>
              </a:r>
              <a:endParaRPr lang="en-US" sz="2400" dirty="0">
                <a:latin typeface="Public Sans" panose="020B0604020202020204" charset="0"/>
                <a:ea typeface="Calistoga"/>
                <a:cs typeface="Calistoga"/>
                <a:sym typeface="Calistoga"/>
              </a:endParaRPr>
            </a:p>
          </p:txBody>
        </p:sp>
        <p:sp>
          <p:nvSpPr>
            <p:cNvPr id="12" name="TextBox 12"/>
            <p:cNvSpPr txBox="1"/>
            <p:nvPr/>
          </p:nvSpPr>
          <p:spPr>
            <a:xfrm>
              <a:off x="0" y="4904247"/>
              <a:ext cx="16595642" cy="1351055"/>
            </a:xfrm>
            <a:prstGeom prst="rect">
              <a:avLst/>
            </a:prstGeom>
          </p:spPr>
          <p:txBody>
            <a:bodyPr lIns="0" tIns="0" rIns="0" bIns="0" rtlCol="0" anchor="t">
              <a:spAutoFit/>
            </a:bodyPr>
            <a:lstStyle/>
            <a:p>
              <a:pPr>
                <a:lnSpc>
                  <a:spcPts val="4199"/>
                </a:lnSpc>
              </a:pPr>
              <a:r>
                <a:rPr lang="en-US" sz="3590" dirty="0">
                  <a:latin typeface="Calistoga" panose="020B0604020202020204" charset="0"/>
                </a:rPr>
                <a:t>Socratic Dialogue (Experimental Groups):</a:t>
              </a:r>
              <a:r>
                <a:rPr lang="en-US" sz="3200" dirty="0"/>
                <a:t/>
              </a:r>
              <a:br>
                <a:rPr lang="en-US" sz="3200" dirty="0"/>
              </a:br>
              <a:r>
                <a:rPr lang="en-US" sz="2400" dirty="0">
                  <a:latin typeface="Public Sans" panose="020B0604020202020204" charset="0"/>
                </a:rPr>
                <a:t>Interactive chat for a guided, non-judgmental Socratic dialogue based on user input.</a:t>
              </a:r>
              <a:endParaRPr lang="en-US" sz="2400" dirty="0">
                <a:solidFill>
                  <a:srgbClr val="323232"/>
                </a:solidFill>
                <a:latin typeface="Public Sans" panose="020B0604020202020204" charset="0"/>
                <a:ea typeface="Calistoga"/>
                <a:cs typeface="Calistoga"/>
                <a:sym typeface="Calistoga"/>
              </a:endParaRPr>
            </a:p>
          </p:txBody>
        </p:sp>
        <p:sp>
          <p:nvSpPr>
            <p:cNvPr id="13" name="TextBox 13"/>
            <p:cNvSpPr txBox="1"/>
            <p:nvPr/>
          </p:nvSpPr>
          <p:spPr>
            <a:xfrm>
              <a:off x="0" y="9591831"/>
              <a:ext cx="16595642" cy="722215"/>
            </a:xfrm>
            <a:prstGeom prst="rect">
              <a:avLst/>
            </a:prstGeom>
          </p:spPr>
          <p:txBody>
            <a:bodyPr lIns="0" tIns="0" rIns="0" bIns="0" rtlCol="0" anchor="t">
              <a:spAutoFit/>
            </a:bodyPr>
            <a:lstStyle/>
            <a:p>
              <a:pPr algn="l">
                <a:lnSpc>
                  <a:spcPts val="4544"/>
                </a:lnSpc>
              </a:pPr>
              <a:endParaRPr/>
            </a:p>
          </p:txBody>
        </p:sp>
        <p:sp>
          <p:nvSpPr>
            <p:cNvPr id="14" name="TextBox 14"/>
            <p:cNvSpPr txBox="1"/>
            <p:nvPr/>
          </p:nvSpPr>
          <p:spPr>
            <a:xfrm>
              <a:off x="0" y="2552951"/>
              <a:ext cx="16595642" cy="1351055"/>
            </a:xfrm>
            <a:prstGeom prst="rect">
              <a:avLst/>
            </a:prstGeom>
          </p:spPr>
          <p:txBody>
            <a:bodyPr lIns="0" tIns="0" rIns="0" bIns="0" rtlCol="0" anchor="t">
              <a:spAutoFit/>
            </a:bodyPr>
            <a:lstStyle/>
            <a:p>
              <a:pPr>
                <a:lnSpc>
                  <a:spcPts val="4199"/>
                </a:lnSpc>
              </a:pPr>
              <a:r>
                <a:rPr lang="en-US" sz="3590" dirty="0">
                  <a:latin typeface="Calistoga" panose="020B0604020202020204" charset="0"/>
                </a:rPr>
                <a:t>Pre/Post Questionnaires:</a:t>
              </a:r>
              <a:r>
                <a:rPr lang="en-US" sz="3200" dirty="0"/>
                <a:t/>
              </a:r>
              <a:br>
                <a:rPr lang="en-US" sz="3200" dirty="0"/>
              </a:br>
              <a:r>
                <a:rPr lang="en-US" sz="2400" dirty="0">
                  <a:latin typeface="Public Sans" panose="020B0604020202020204" charset="0"/>
                </a:rPr>
                <a:t>Saves responses for the validated CASEL questionnaire at the start (Pre) and end (Post).</a:t>
              </a:r>
              <a:endParaRPr lang="en-US" sz="2400" dirty="0">
                <a:solidFill>
                  <a:srgbClr val="323232"/>
                </a:solidFill>
                <a:latin typeface="Public Sans" panose="020B0604020202020204" charset="0"/>
                <a:ea typeface="Calistoga"/>
                <a:cs typeface="Calistoga"/>
                <a:sym typeface="Calistoga"/>
              </a:endParaRPr>
            </a:p>
          </p:txBody>
        </p:sp>
        <p:sp>
          <p:nvSpPr>
            <p:cNvPr id="15" name="TextBox 15"/>
            <p:cNvSpPr txBox="1"/>
            <p:nvPr/>
          </p:nvSpPr>
          <p:spPr>
            <a:xfrm>
              <a:off x="0" y="7243276"/>
              <a:ext cx="16595642" cy="1351055"/>
            </a:xfrm>
            <a:prstGeom prst="rect">
              <a:avLst/>
            </a:prstGeom>
          </p:spPr>
          <p:txBody>
            <a:bodyPr lIns="0" tIns="0" rIns="0" bIns="0" rtlCol="0" anchor="t">
              <a:spAutoFit/>
            </a:bodyPr>
            <a:lstStyle/>
            <a:p>
              <a:pPr>
                <a:lnSpc>
                  <a:spcPts val="4200"/>
                </a:lnSpc>
              </a:pPr>
              <a:r>
                <a:rPr lang="en-US" sz="3590" dirty="0">
                  <a:latin typeface="Calistoga" panose="020B0604020202020204" charset="0"/>
                </a:rPr>
                <a:t>Automatic CASEL-Based Analysis:</a:t>
              </a:r>
              <a:r>
                <a:rPr lang="en-US" sz="3200" dirty="0"/>
                <a:t/>
              </a:r>
              <a:br>
                <a:rPr lang="en-US" sz="3200" dirty="0"/>
              </a:br>
              <a:r>
                <a:rPr lang="en-US" sz="2400" dirty="0">
                  <a:latin typeface="Public Sans" panose="020B0604020202020204" charset="0"/>
                </a:rPr>
                <a:t>Generates a structured assessment across the five CASEL competencies.</a:t>
              </a:r>
              <a:endParaRPr lang="en-US" sz="2400" dirty="0">
                <a:solidFill>
                  <a:srgbClr val="323232"/>
                </a:solidFill>
                <a:latin typeface="Public Sans" panose="020B0604020202020204" charset="0"/>
                <a:ea typeface="Calistoga"/>
                <a:cs typeface="Calistoga"/>
                <a:sym typeface="Calistoga"/>
              </a:endParaRPr>
            </a:p>
          </p:txBody>
        </p:sp>
      </p:grpSp>
      <p:sp>
        <p:nvSpPr>
          <p:cNvPr id="16" name="Freeform 16"/>
          <p:cNvSpPr/>
          <p:nvPr/>
        </p:nvSpPr>
        <p:spPr>
          <a:xfrm>
            <a:off x="2188453" y="4237580"/>
            <a:ext cx="1610150" cy="1110448"/>
          </a:xfrm>
          <a:custGeom>
            <a:avLst/>
            <a:gdLst/>
            <a:ahLst/>
            <a:cxnLst/>
            <a:rect l="l" t="t" r="r" b="b"/>
            <a:pathLst>
              <a:path w="1610150" h="1110448">
                <a:moveTo>
                  <a:pt x="0" y="0"/>
                </a:moveTo>
                <a:lnTo>
                  <a:pt x="1610150" y="0"/>
                </a:lnTo>
                <a:lnTo>
                  <a:pt x="1610150" y="1110448"/>
                </a:lnTo>
                <a:lnTo>
                  <a:pt x="0" y="1110448"/>
                </a:lnTo>
                <a:lnTo>
                  <a:pt x="0" y="0"/>
                </a:lnTo>
                <a:close/>
              </a:path>
            </a:pathLst>
          </a:custGeom>
          <a:blipFill>
            <a:blip r:embed="rId11"/>
            <a:stretch>
              <a:fillRect/>
            </a:stretch>
          </a:blipFill>
        </p:spPr>
        <p:txBody>
          <a:bodyPr/>
          <a:lstStyle/>
          <a:p>
            <a:endParaRPr lang="he-IL"/>
          </a:p>
        </p:txBody>
      </p:sp>
      <p:sp>
        <p:nvSpPr>
          <p:cNvPr id="17" name="Freeform 17"/>
          <p:cNvSpPr/>
          <p:nvPr/>
        </p:nvSpPr>
        <p:spPr>
          <a:xfrm>
            <a:off x="2468876" y="6121192"/>
            <a:ext cx="1157978" cy="1113724"/>
          </a:xfrm>
          <a:custGeom>
            <a:avLst/>
            <a:gdLst/>
            <a:ahLst/>
            <a:cxnLst/>
            <a:rect l="l" t="t" r="r" b="b"/>
            <a:pathLst>
              <a:path w="1157978" h="1113724">
                <a:moveTo>
                  <a:pt x="0" y="0"/>
                </a:moveTo>
                <a:lnTo>
                  <a:pt x="1157978" y="0"/>
                </a:lnTo>
                <a:lnTo>
                  <a:pt x="1157978" y="1113724"/>
                </a:lnTo>
                <a:lnTo>
                  <a:pt x="0" y="1113724"/>
                </a:lnTo>
                <a:lnTo>
                  <a:pt x="0" y="0"/>
                </a:lnTo>
                <a:close/>
              </a:path>
            </a:pathLst>
          </a:custGeom>
          <a:blipFill>
            <a:blip r:embed="rId12"/>
            <a:stretch>
              <a:fillRect/>
            </a:stretch>
          </a:blipFill>
        </p:spPr>
        <p:txBody>
          <a:bodyPr/>
          <a:lstStyle/>
          <a:p>
            <a:endParaRPr lang="he-IL"/>
          </a:p>
        </p:txBody>
      </p:sp>
      <p:sp>
        <p:nvSpPr>
          <p:cNvPr id="18" name="Freeform 18"/>
          <p:cNvSpPr/>
          <p:nvPr/>
        </p:nvSpPr>
        <p:spPr>
          <a:xfrm>
            <a:off x="2887518" y="7832385"/>
            <a:ext cx="911085" cy="1090188"/>
          </a:xfrm>
          <a:custGeom>
            <a:avLst/>
            <a:gdLst/>
            <a:ahLst/>
            <a:cxnLst/>
            <a:rect l="l" t="t" r="r" b="b"/>
            <a:pathLst>
              <a:path w="911085" h="1090188">
                <a:moveTo>
                  <a:pt x="0" y="0"/>
                </a:moveTo>
                <a:lnTo>
                  <a:pt x="911086" y="0"/>
                </a:lnTo>
                <a:lnTo>
                  <a:pt x="911086" y="1090188"/>
                </a:lnTo>
                <a:lnTo>
                  <a:pt x="0" y="1090188"/>
                </a:lnTo>
                <a:lnTo>
                  <a:pt x="0" y="0"/>
                </a:lnTo>
                <a:close/>
              </a:path>
            </a:pathLst>
          </a:custGeom>
          <a:blipFill>
            <a:blip r:embed="rId13"/>
            <a:stretch>
              <a:fillRect/>
            </a:stretch>
          </a:blipFill>
        </p:spPr>
        <p:txBody>
          <a:bodyPr/>
          <a:lstStyle/>
          <a:p>
            <a:endParaRPr lang="he-IL"/>
          </a:p>
        </p:txBody>
      </p:sp>
      <p:sp>
        <p:nvSpPr>
          <p:cNvPr id="20" name="Rectangle 1">
            <a:extLst>
              <a:ext uri="{FF2B5EF4-FFF2-40B4-BE49-F238E27FC236}">
                <a16:creationId xmlns:a16="http://schemas.microsoft.com/office/drawing/2014/main" id="{266321BE-DD2F-7977-6695-DBFD0E8BE81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1" name="Rectangle 2">
            <a:extLst>
              <a:ext uri="{FF2B5EF4-FFF2-40B4-BE49-F238E27FC236}">
                <a16:creationId xmlns:a16="http://schemas.microsoft.com/office/drawing/2014/main" id="{35E8737C-C2E2-5EA4-536F-1815469F3AA2}"/>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22" name="TextBox 11">
            <a:extLst>
              <a:ext uri="{FF2B5EF4-FFF2-40B4-BE49-F238E27FC236}">
                <a16:creationId xmlns:a16="http://schemas.microsoft.com/office/drawing/2014/main" id="{DE5953D1-DD56-468A-41DA-2512F989ED58}"/>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277918" y="7564594"/>
            <a:ext cx="3116187" cy="3173895"/>
          </a:xfrm>
          <a:custGeom>
            <a:avLst/>
            <a:gdLst/>
            <a:ahLst/>
            <a:cxnLst/>
            <a:rect l="l" t="t" r="r" b="b"/>
            <a:pathLst>
              <a:path w="3116187" h="3173895">
                <a:moveTo>
                  <a:pt x="0" y="0"/>
                </a:moveTo>
                <a:lnTo>
                  <a:pt x="3116187" y="0"/>
                </a:lnTo>
                <a:lnTo>
                  <a:pt x="3116187" y="3173894"/>
                </a:lnTo>
                <a:lnTo>
                  <a:pt x="0" y="317389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2587543" y="7999256"/>
            <a:ext cx="3429121" cy="3841174"/>
          </a:xfrm>
          <a:custGeom>
            <a:avLst/>
            <a:gdLst/>
            <a:ahLst/>
            <a:cxnLst/>
            <a:rect l="l" t="t" r="r" b="b"/>
            <a:pathLst>
              <a:path w="3429121" h="3841174">
                <a:moveTo>
                  <a:pt x="0" y="0"/>
                </a:moveTo>
                <a:lnTo>
                  <a:pt x="3429121" y="0"/>
                </a:lnTo>
                <a:lnTo>
                  <a:pt x="3429121" y="3841174"/>
                </a:lnTo>
                <a:lnTo>
                  <a:pt x="0" y="384117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grpSp>
        <p:nvGrpSpPr>
          <p:cNvPr id="4" name="Group 4"/>
          <p:cNvGrpSpPr/>
          <p:nvPr/>
        </p:nvGrpSpPr>
        <p:grpSpPr>
          <a:xfrm>
            <a:off x="3782637" y="269545"/>
            <a:ext cx="13127176" cy="2831526"/>
            <a:chOff x="0" y="0"/>
            <a:chExt cx="17502901" cy="3775369"/>
          </a:xfrm>
        </p:grpSpPr>
        <p:sp>
          <p:nvSpPr>
            <p:cNvPr id="5" name="TextBox 5"/>
            <p:cNvSpPr txBox="1"/>
            <p:nvPr/>
          </p:nvSpPr>
          <p:spPr>
            <a:xfrm>
              <a:off x="0" y="0"/>
              <a:ext cx="17502901" cy="1342419"/>
            </a:xfrm>
            <a:prstGeom prst="rect">
              <a:avLst/>
            </a:prstGeom>
          </p:spPr>
          <p:txBody>
            <a:bodyPr lIns="0" tIns="0" rIns="0" bIns="0" rtlCol="0" anchor="t">
              <a:spAutoFit/>
            </a:bodyPr>
            <a:lstStyle/>
            <a:p>
              <a:pPr marL="0" lvl="0" indent="0" algn="l">
                <a:lnSpc>
                  <a:spcPts val="8399"/>
                </a:lnSpc>
              </a:pPr>
              <a:r>
                <a:rPr lang="en-US" sz="5600" dirty="0">
                  <a:solidFill>
                    <a:schemeClr val="accent3">
                      <a:lumMod val="50000"/>
                    </a:schemeClr>
                  </a:solidFill>
                  <a:latin typeface="Calistoga"/>
                  <a:ea typeface="Calistoga"/>
                  <a:cs typeface="Calistoga"/>
                  <a:sym typeface="Calistoga"/>
                </a:rPr>
                <a:t>Non-Functional Requirements</a:t>
              </a:r>
            </a:p>
          </p:txBody>
        </p:sp>
        <p:sp>
          <p:nvSpPr>
            <p:cNvPr id="6" name="TextBox 6"/>
            <p:cNvSpPr txBox="1"/>
            <p:nvPr/>
          </p:nvSpPr>
          <p:spPr>
            <a:xfrm>
              <a:off x="0" y="3143220"/>
              <a:ext cx="15650585" cy="632149"/>
            </a:xfrm>
            <a:prstGeom prst="rect">
              <a:avLst/>
            </a:prstGeom>
          </p:spPr>
          <p:txBody>
            <a:bodyPr lIns="0" tIns="0" rIns="0" bIns="0" rtlCol="0" anchor="t">
              <a:spAutoFit/>
            </a:bodyPr>
            <a:lstStyle/>
            <a:p>
              <a:pPr algn="l">
                <a:lnSpc>
                  <a:spcPts val="3920"/>
                </a:lnSpc>
              </a:pPr>
              <a:endParaRPr/>
            </a:p>
          </p:txBody>
        </p:sp>
      </p:grpSp>
      <p:grpSp>
        <p:nvGrpSpPr>
          <p:cNvPr id="7" name="Group 7"/>
          <p:cNvGrpSpPr/>
          <p:nvPr/>
        </p:nvGrpSpPr>
        <p:grpSpPr>
          <a:xfrm>
            <a:off x="5101155" y="1770084"/>
            <a:ext cx="9093440" cy="8968405"/>
            <a:chOff x="-7259" y="-76200"/>
            <a:chExt cx="12124585" cy="11957873"/>
          </a:xfrm>
        </p:grpSpPr>
        <p:sp>
          <p:nvSpPr>
            <p:cNvPr id="8" name="TextBox 8"/>
            <p:cNvSpPr txBox="1"/>
            <p:nvPr/>
          </p:nvSpPr>
          <p:spPr>
            <a:xfrm>
              <a:off x="0" y="-76200"/>
              <a:ext cx="12114636" cy="2548989"/>
            </a:xfrm>
            <a:prstGeom prst="rect">
              <a:avLst/>
            </a:prstGeom>
          </p:spPr>
          <p:txBody>
            <a:bodyPr lIns="0" tIns="0" rIns="0" bIns="0" rtlCol="0" anchor="t">
              <a:spAutoFit/>
            </a:bodyPr>
            <a:lstStyle/>
            <a:p>
              <a:pPr algn="l">
                <a:lnSpc>
                  <a:spcPts val="5026"/>
                </a:lnSpc>
              </a:pPr>
              <a:r>
                <a:rPr lang="en-US" sz="3590" dirty="0">
                  <a:solidFill>
                    <a:srgbClr val="323232"/>
                  </a:solidFill>
                  <a:latin typeface="Calistoga"/>
                  <a:ea typeface="Calistoga"/>
                  <a:cs typeface="Calistoga"/>
                  <a:sym typeface="Calistoga"/>
                </a:rPr>
                <a:t>Performance:</a:t>
              </a:r>
            </a:p>
            <a:p>
              <a:r>
                <a:rPr lang="en-US" sz="2400" dirty="0">
                  <a:latin typeface="Public Sans" panose="020B0604020202020204" charset="0"/>
                </a:rPr>
                <a:t>AI analysis &lt; 15s; AI Socratic response &lt; 5s; Page loads &lt; 2s.</a:t>
              </a:r>
            </a:p>
            <a:p>
              <a:pPr algn="l">
                <a:lnSpc>
                  <a:spcPts val="3672"/>
                </a:lnSpc>
              </a:pPr>
              <a:endParaRPr lang="en-US" sz="2404" dirty="0">
                <a:solidFill>
                  <a:srgbClr val="000000"/>
                </a:solidFill>
                <a:latin typeface="Public Sans"/>
                <a:ea typeface="Public Sans"/>
                <a:cs typeface="Public Sans"/>
                <a:sym typeface="Public Sans"/>
              </a:endParaRPr>
            </a:p>
            <a:p>
              <a:pPr algn="l">
                <a:lnSpc>
                  <a:spcPts val="3672"/>
                </a:lnSpc>
              </a:pPr>
              <a:endParaRPr lang="en-US" sz="2404" dirty="0">
                <a:solidFill>
                  <a:srgbClr val="000000"/>
                </a:solidFill>
                <a:latin typeface="Public Sans"/>
                <a:ea typeface="Public Sans"/>
                <a:cs typeface="Public Sans"/>
                <a:sym typeface="Public Sans"/>
              </a:endParaRPr>
            </a:p>
          </p:txBody>
        </p:sp>
        <p:sp>
          <p:nvSpPr>
            <p:cNvPr id="9" name="TextBox 9"/>
            <p:cNvSpPr txBox="1"/>
            <p:nvPr/>
          </p:nvSpPr>
          <p:spPr>
            <a:xfrm>
              <a:off x="0" y="7520472"/>
              <a:ext cx="12114636" cy="571302"/>
            </a:xfrm>
            <a:prstGeom prst="rect">
              <a:avLst/>
            </a:prstGeom>
          </p:spPr>
          <p:txBody>
            <a:bodyPr lIns="0" tIns="0" rIns="0" bIns="0" rtlCol="0" anchor="t">
              <a:spAutoFit/>
            </a:bodyPr>
            <a:lstStyle/>
            <a:p>
              <a:pPr algn="l">
                <a:lnSpc>
                  <a:spcPts val="3672"/>
                </a:lnSpc>
              </a:pPr>
              <a:endParaRPr/>
            </a:p>
          </p:txBody>
        </p:sp>
        <p:sp>
          <p:nvSpPr>
            <p:cNvPr id="10" name="TextBox 10"/>
            <p:cNvSpPr txBox="1"/>
            <p:nvPr/>
          </p:nvSpPr>
          <p:spPr>
            <a:xfrm>
              <a:off x="0" y="11355511"/>
              <a:ext cx="12114636" cy="526162"/>
            </a:xfrm>
            <a:prstGeom prst="rect">
              <a:avLst/>
            </a:prstGeom>
          </p:spPr>
          <p:txBody>
            <a:bodyPr lIns="0" tIns="0" rIns="0" bIns="0" rtlCol="0" anchor="t">
              <a:spAutoFit/>
            </a:bodyPr>
            <a:lstStyle/>
            <a:p>
              <a:pPr algn="l">
                <a:lnSpc>
                  <a:spcPts val="3317"/>
                </a:lnSpc>
              </a:pPr>
              <a:endParaRPr/>
            </a:p>
          </p:txBody>
        </p:sp>
        <p:sp>
          <p:nvSpPr>
            <p:cNvPr id="11" name="TextBox 11"/>
            <p:cNvSpPr txBox="1"/>
            <p:nvPr/>
          </p:nvSpPr>
          <p:spPr>
            <a:xfrm>
              <a:off x="-7259" y="2157055"/>
              <a:ext cx="12114635" cy="1877695"/>
            </a:xfrm>
            <a:prstGeom prst="rect">
              <a:avLst/>
            </a:prstGeom>
          </p:spPr>
          <p:txBody>
            <a:bodyPr lIns="0" tIns="0" rIns="0" bIns="0" rtlCol="0" anchor="t">
              <a:spAutoFit/>
            </a:bodyPr>
            <a:lstStyle/>
            <a:p>
              <a:pPr algn="l">
                <a:lnSpc>
                  <a:spcPts val="5026"/>
                </a:lnSpc>
              </a:pPr>
              <a:r>
                <a:rPr lang="en-US" sz="3590" dirty="0">
                  <a:latin typeface="Calistoga"/>
                  <a:ea typeface="Calistoga"/>
                  <a:cs typeface="Calistoga"/>
                  <a:sym typeface="Calistoga"/>
                </a:rPr>
                <a:t>Availability:</a:t>
              </a:r>
            </a:p>
            <a:p>
              <a:r>
                <a:rPr lang="en-US" sz="2400" dirty="0">
                  <a:latin typeface="Public Sans" panose="020B0604020202020204" charset="0"/>
                </a:rPr>
                <a:t>System must be available at least 99% of the time.</a:t>
              </a:r>
            </a:p>
            <a:p>
              <a:pPr algn="l">
                <a:lnSpc>
                  <a:spcPts val="3359"/>
                </a:lnSpc>
              </a:pPr>
              <a:endParaRPr lang="en-US" sz="2400" dirty="0">
                <a:latin typeface="Public Sans"/>
                <a:ea typeface="Public Sans"/>
                <a:cs typeface="Public Sans"/>
                <a:sym typeface="Public Sans"/>
              </a:endParaRPr>
            </a:p>
          </p:txBody>
        </p:sp>
        <p:sp>
          <p:nvSpPr>
            <p:cNvPr id="12" name="TextBox 12"/>
            <p:cNvSpPr txBox="1"/>
            <p:nvPr/>
          </p:nvSpPr>
          <p:spPr>
            <a:xfrm>
              <a:off x="2690" y="4541227"/>
              <a:ext cx="12114636" cy="1347377"/>
            </a:xfrm>
            <a:prstGeom prst="rect">
              <a:avLst/>
            </a:prstGeom>
          </p:spPr>
          <p:txBody>
            <a:bodyPr lIns="0" tIns="0" rIns="0" bIns="0" rtlCol="0" anchor="t">
              <a:spAutoFit/>
            </a:bodyPr>
            <a:lstStyle/>
            <a:p>
              <a:pPr algn="l">
                <a:lnSpc>
                  <a:spcPts val="5026"/>
                </a:lnSpc>
              </a:pPr>
              <a:r>
                <a:rPr lang="en-US" sz="3590" dirty="0">
                  <a:solidFill>
                    <a:srgbClr val="323232"/>
                  </a:solidFill>
                  <a:latin typeface="Calistoga"/>
                  <a:ea typeface="Calistoga"/>
                  <a:cs typeface="Calistoga"/>
                  <a:sym typeface="Calistoga"/>
                </a:rPr>
                <a:t>Privacy and Security:</a:t>
              </a:r>
            </a:p>
            <a:p>
              <a:r>
                <a:rPr lang="en-US" sz="2400" dirty="0">
                  <a:latin typeface="Public Sans" panose="020B0604020202020204" charset="0"/>
                </a:rPr>
                <a:t>All data stored anonymously using UUIDs.</a:t>
              </a:r>
            </a:p>
          </p:txBody>
        </p:sp>
      </p:grpSp>
      <p:sp>
        <p:nvSpPr>
          <p:cNvPr id="13" name="Freeform 13"/>
          <p:cNvSpPr/>
          <p:nvPr/>
        </p:nvSpPr>
        <p:spPr>
          <a:xfrm>
            <a:off x="3448970" y="1830281"/>
            <a:ext cx="1416096" cy="1014367"/>
          </a:xfrm>
          <a:custGeom>
            <a:avLst/>
            <a:gdLst/>
            <a:ahLst/>
            <a:cxnLst/>
            <a:rect l="l" t="t" r="r" b="b"/>
            <a:pathLst>
              <a:path w="1416096" h="1014367">
                <a:moveTo>
                  <a:pt x="0" y="0"/>
                </a:moveTo>
                <a:lnTo>
                  <a:pt x="1416096" y="0"/>
                </a:lnTo>
                <a:lnTo>
                  <a:pt x="1416096" y="1014366"/>
                </a:lnTo>
                <a:lnTo>
                  <a:pt x="0" y="1014366"/>
                </a:lnTo>
                <a:lnTo>
                  <a:pt x="0" y="0"/>
                </a:lnTo>
                <a:close/>
              </a:path>
            </a:pathLst>
          </a:custGeom>
          <a:blipFill>
            <a:blip r:embed="rId6"/>
            <a:stretch>
              <a:fillRect/>
            </a:stretch>
          </a:blipFill>
        </p:spPr>
        <p:txBody>
          <a:bodyPr/>
          <a:lstStyle/>
          <a:p>
            <a:endParaRPr lang="he-IL"/>
          </a:p>
        </p:txBody>
      </p:sp>
      <p:sp>
        <p:nvSpPr>
          <p:cNvPr id="14" name="Freeform 14"/>
          <p:cNvSpPr/>
          <p:nvPr/>
        </p:nvSpPr>
        <p:spPr>
          <a:xfrm>
            <a:off x="3529436" y="3580700"/>
            <a:ext cx="1170190" cy="968433"/>
          </a:xfrm>
          <a:custGeom>
            <a:avLst/>
            <a:gdLst/>
            <a:ahLst/>
            <a:cxnLst/>
            <a:rect l="l" t="t" r="r" b="b"/>
            <a:pathLst>
              <a:path w="1170190" h="968433">
                <a:moveTo>
                  <a:pt x="0" y="0"/>
                </a:moveTo>
                <a:lnTo>
                  <a:pt x="1170190" y="0"/>
                </a:lnTo>
                <a:lnTo>
                  <a:pt x="1170190" y="968433"/>
                </a:lnTo>
                <a:lnTo>
                  <a:pt x="0" y="968433"/>
                </a:lnTo>
                <a:lnTo>
                  <a:pt x="0" y="0"/>
                </a:lnTo>
                <a:close/>
              </a:path>
            </a:pathLst>
          </a:custGeom>
          <a:blipFill>
            <a:blip r:embed="rId7"/>
            <a:stretch>
              <a:fillRect/>
            </a:stretch>
          </a:blipFill>
        </p:spPr>
        <p:txBody>
          <a:bodyPr/>
          <a:lstStyle/>
          <a:p>
            <a:endParaRPr lang="he-IL" dirty="0"/>
          </a:p>
        </p:txBody>
      </p:sp>
      <p:sp>
        <p:nvSpPr>
          <p:cNvPr id="15" name="Freeform 15"/>
          <p:cNvSpPr/>
          <p:nvPr/>
        </p:nvSpPr>
        <p:spPr>
          <a:xfrm>
            <a:off x="3516206" y="5308654"/>
            <a:ext cx="1095527" cy="1033370"/>
          </a:xfrm>
          <a:custGeom>
            <a:avLst/>
            <a:gdLst/>
            <a:ahLst/>
            <a:cxnLst/>
            <a:rect l="l" t="t" r="r" b="b"/>
            <a:pathLst>
              <a:path w="1095527" h="1033370">
                <a:moveTo>
                  <a:pt x="0" y="0"/>
                </a:moveTo>
                <a:lnTo>
                  <a:pt x="1095527" y="0"/>
                </a:lnTo>
                <a:lnTo>
                  <a:pt x="1095527" y="1033370"/>
                </a:lnTo>
                <a:lnTo>
                  <a:pt x="0" y="1033370"/>
                </a:lnTo>
                <a:lnTo>
                  <a:pt x="0" y="0"/>
                </a:lnTo>
                <a:close/>
              </a:path>
            </a:pathLst>
          </a:custGeom>
          <a:blipFill>
            <a:blip r:embed="rId8"/>
            <a:stretch>
              <a:fillRect/>
            </a:stretch>
          </a:blipFill>
        </p:spPr>
        <p:txBody>
          <a:bodyPr/>
          <a:lstStyle/>
          <a:p>
            <a:endParaRPr lang="he-IL"/>
          </a:p>
        </p:txBody>
      </p:sp>
      <p:sp>
        <p:nvSpPr>
          <p:cNvPr id="17" name="Freeform 17">
            <a:extLst>
              <a:ext uri="{C183D7F6-B498-43B3-948B-1728B52AA6E4}">
                <adec:decorative xmlns:adec="http://schemas.microsoft.com/office/drawing/2017/decorative" xmlns="" val="1"/>
              </a:ext>
            </a:extLst>
          </p:cNvPr>
          <p:cNvSpPr/>
          <p:nvPr/>
        </p:nvSpPr>
        <p:spPr>
          <a:xfrm>
            <a:off x="-3038039" y="-3756214"/>
            <a:ext cx="5352114" cy="6249814"/>
          </a:xfrm>
          <a:custGeom>
            <a:avLst/>
            <a:gdLst/>
            <a:ahLst/>
            <a:cxnLst/>
            <a:rect l="l" t="t" r="r" b="b"/>
            <a:pathLst>
              <a:path w="5352114" h="6249814">
                <a:moveTo>
                  <a:pt x="0" y="0"/>
                </a:moveTo>
                <a:lnTo>
                  <a:pt x="5352114" y="0"/>
                </a:lnTo>
                <a:lnTo>
                  <a:pt x="5352114" y="6249814"/>
                </a:lnTo>
                <a:lnTo>
                  <a:pt x="0" y="6249814"/>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18" name="Freeform 18">
            <a:extLst>
              <a:ext uri="{C183D7F6-B498-43B3-948B-1728B52AA6E4}">
                <adec:decorative xmlns:adec="http://schemas.microsoft.com/office/drawing/2017/decorative" xmlns="" val="1"/>
              </a:ext>
            </a:extLst>
          </p:cNvPr>
          <p:cNvSpPr/>
          <p:nvPr/>
        </p:nvSpPr>
        <p:spPr>
          <a:xfrm>
            <a:off x="-872983" y="-631307"/>
            <a:ext cx="2010619" cy="2164071"/>
          </a:xfrm>
          <a:custGeom>
            <a:avLst/>
            <a:gdLst/>
            <a:ahLst/>
            <a:cxnLst/>
            <a:rect l="l" t="t" r="r" b="b"/>
            <a:pathLst>
              <a:path w="2010619" h="2164071">
                <a:moveTo>
                  <a:pt x="0" y="0"/>
                </a:moveTo>
                <a:lnTo>
                  <a:pt x="2010619" y="0"/>
                </a:lnTo>
                <a:lnTo>
                  <a:pt x="2010619" y="2164071"/>
                </a:lnTo>
                <a:lnTo>
                  <a:pt x="0" y="2164071"/>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txBody>
          <a:bodyPr/>
          <a:lstStyle/>
          <a:p>
            <a:endParaRPr lang="he-IL"/>
          </a:p>
        </p:txBody>
      </p:sp>
      <p:sp>
        <p:nvSpPr>
          <p:cNvPr id="19" name="TextBox 12">
            <a:extLst>
              <a:ext uri="{FF2B5EF4-FFF2-40B4-BE49-F238E27FC236}">
                <a16:creationId xmlns:a16="http://schemas.microsoft.com/office/drawing/2014/main" id="{AA6DF8B0-0161-1A95-33BF-DFCA3BB00714}"/>
              </a:ext>
            </a:extLst>
          </p:cNvPr>
          <p:cNvSpPr txBox="1"/>
          <p:nvPr/>
        </p:nvSpPr>
        <p:spPr>
          <a:xfrm>
            <a:off x="5101155" y="6985379"/>
            <a:ext cx="8334416" cy="1842749"/>
          </a:xfrm>
          <a:prstGeom prst="rect">
            <a:avLst/>
          </a:prstGeom>
        </p:spPr>
        <p:txBody>
          <a:bodyPr wrap="square" lIns="0" tIns="0" rIns="0" bIns="0" rtlCol="0" anchor="t">
            <a:spAutoFit/>
          </a:bodyPr>
          <a:lstStyle/>
          <a:p>
            <a:r>
              <a:rPr lang="en-US" sz="3590" dirty="0">
                <a:latin typeface="Calistoga" panose="020B0604020202020204" charset="0"/>
              </a:rPr>
              <a:t>Ethical Considerations:</a:t>
            </a:r>
            <a:r>
              <a:rPr lang="en-US" sz="3600" dirty="0"/>
              <a:t/>
            </a:r>
            <a:br>
              <a:rPr lang="en-US" sz="3600" dirty="0"/>
            </a:br>
            <a:r>
              <a:rPr lang="en-US" sz="2400" dirty="0">
                <a:latin typeface="Public Sans" panose="020B0604020202020204" charset="0"/>
              </a:rPr>
              <a:t>Transparent communication on anonymity and data usage. AI tone must be non-judgmental, warm, and supportive.</a:t>
            </a:r>
          </a:p>
          <a:p>
            <a:pPr>
              <a:lnSpc>
                <a:spcPts val="5026"/>
              </a:lnSpc>
            </a:pPr>
            <a:endParaRPr lang="en-US" sz="2400" dirty="0">
              <a:latin typeface="Public Sans"/>
              <a:ea typeface="Public Sans"/>
              <a:cs typeface="Public Sans"/>
              <a:sym typeface="Public Sans"/>
            </a:endParaRPr>
          </a:p>
        </p:txBody>
      </p:sp>
      <p:pic>
        <p:nvPicPr>
          <p:cNvPr id="21" name="תמונה 20" descr="תמונה שמכילה סמל, קנה מידה&#10;&#10;תוכן בינה מלאכותית גנרטיבית עשוי להיות שגוי.">
            <a:extLst>
              <a:ext uri="{FF2B5EF4-FFF2-40B4-BE49-F238E27FC236}">
                <a16:creationId xmlns:a16="http://schemas.microsoft.com/office/drawing/2014/main" id="{EDC5452D-FEF8-8357-9C57-CD706CDE7FF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448970" y="6729719"/>
            <a:ext cx="1416096" cy="1757913"/>
          </a:xfrm>
          <a:prstGeom prst="rect">
            <a:avLst/>
          </a:prstGeom>
        </p:spPr>
      </p:pic>
      <p:sp>
        <p:nvSpPr>
          <p:cNvPr id="20" name="TextBox 11">
            <a:extLst>
              <a:ext uri="{FF2B5EF4-FFF2-40B4-BE49-F238E27FC236}">
                <a16:creationId xmlns:a16="http://schemas.microsoft.com/office/drawing/2014/main" id="{68C9B3DB-B99E-795D-DC7D-D89025BE259E}"/>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802171" y="2493600"/>
            <a:ext cx="2434137" cy="2420859"/>
          </a:xfrm>
          <a:custGeom>
            <a:avLst/>
            <a:gdLst/>
            <a:ahLst/>
            <a:cxnLst/>
            <a:rect l="l" t="t" r="r" b="b"/>
            <a:pathLst>
              <a:path w="2434137" h="2420859">
                <a:moveTo>
                  <a:pt x="0" y="0"/>
                </a:moveTo>
                <a:lnTo>
                  <a:pt x="2434137" y="0"/>
                </a:lnTo>
                <a:lnTo>
                  <a:pt x="2434137" y="2420860"/>
                </a:lnTo>
                <a:lnTo>
                  <a:pt x="0" y="242086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grpSp>
        <p:nvGrpSpPr>
          <p:cNvPr id="3" name="Group 3"/>
          <p:cNvGrpSpPr/>
          <p:nvPr/>
        </p:nvGrpSpPr>
        <p:grpSpPr>
          <a:xfrm>
            <a:off x="894983" y="3097837"/>
            <a:ext cx="2838183" cy="2838172"/>
            <a:chOff x="0" y="0"/>
            <a:chExt cx="6350000" cy="6349975"/>
          </a:xfrm>
        </p:grpSpPr>
        <p:sp>
          <p:nvSpPr>
            <p:cNvPr id="4" name="Freeform 4"/>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a:stretch>
            </a:blipFill>
          </p:spPr>
          <p:txBody>
            <a:bodyPr/>
            <a:lstStyle/>
            <a:p>
              <a:endParaRPr lang="he-IL"/>
            </a:p>
          </p:txBody>
        </p:sp>
      </p:grpSp>
      <p:sp>
        <p:nvSpPr>
          <p:cNvPr id="5" name="Freeform 5">
            <a:extLst>
              <a:ext uri="{C183D7F6-B498-43B3-948B-1728B52AA6E4}">
                <adec:decorative xmlns:adec="http://schemas.microsoft.com/office/drawing/2017/decorative" xmlns="" val="1"/>
              </a:ext>
            </a:extLst>
          </p:cNvPr>
          <p:cNvSpPr/>
          <p:nvPr/>
        </p:nvSpPr>
        <p:spPr>
          <a:xfrm>
            <a:off x="6960193" y="2493600"/>
            <a:ext cx="3073593" cy="3374204"/>
          </a:xfrm>
          <a:custGeom>
            <a:avLst/>
            <a:gdLst/>
            <a:ahLst/>
            <a:cxnLst/>
            <a:rect l="l" t="t" r="r" b="b"/>
            <a:pathLst>
              <a:path w="3073593" h="3374204">
                <a:moveTo>
                  <a:pt x="0" y="0"/>
                </a:moveTo>
                <a:lnTo>
                  <a:pt x="3073593" y="0"/>
                </a:lnTo>
                <a:lnTo>
                  <a:pt x="3073593" y="3374204"/>
                </a:lnTo>
                <a:lnTo>
                  <a:pt x="0" y="337420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grpSp>
        <p:nvGrpSpPr>
          <p:cNvPr id="6" name="Group 6"/>
          <p:cNvGrpSpPr/>
          <p:nvPr/>
        </p:nvGrpSpPr>
        <p:grpSpPr>
          <a:xfrm>
            <a:off x="7341718" y="2919358"/>
            <a:ext cx="2838183" cy="2838172"/>
            <a:chOff x="0" y="0"/>
            <a:chExt cx="6350000" cy="6349975"/>
          </a:xfrm>
        </p:grpSpPr>
        <p:sp>
          <p:nvSpPr>
            <p:cNvPr id="7" name="Freeform 7"/>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8"/>
              <a:stretch>
                <a:fillRect/>
              </a:stretch>
            </a:blipFill>
          </p:spPr>
          <p:txBody>
            <a:bodyPr/>
            <a:lstStyle/>
            <a:p>
              <a:endParaRPr lang="he-IL"/>
            </a:p>
          </p:txBody>
        </p:sp>
      </p:grpSp>
      <p:sp>
        <p:nvSpPr>
          <p:cNvPr id="8" name="Freeform 8">
            <a:extLst>
              <a:ext uri="{C183D7F6-B498-43B3-948B-1728B52AA6E4}">
                <adec:decorative xmlns:adec="http://schemas.microsoft.com/office/drawing/2017/decorative" xmlns="" val="1"/>
              </a:ext>
            </a:extLst>
          </p:cNvPr>
          <p:cNvSpPr/>
          <p:nvPr/>
        </p:nvSpPr>
        <p:spPr>
          <a:xfrm>
            <a:off x="13642338" y="2493600"/>
            <a:ext cx="1836556" cy="2144599"/>
          </a:xfrm>
          <a:custGeom>
            <a:avLst/>
            <a:gdLst/>
            <a:ahLst/>
            <a:cxnLst/>
            <a:rect l="l" t="t" r="r" b="b"/>
            <a:pathLst>
              <a:path w="1836556" h="2144599">
                <a:moveTo>
                  <a:pt x="0" y="0"/>
                </a:moveTo>
                <a:lnTo>
                  <a:pt x="1836557" y="0"/>
                </a:lnTo>
                <a:lnTo>
                  <a:pt x="1836557" y="2144599"/>
                </a:lnTo>
                <a:lnTo>
                  <a:pt x="0" y="2144599"/>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grpSp>
        <p:nvGrpSpPr>
          <p:cNvPr id="9" name="Group 9"/>
          <p:cNvGrpSpPr/>
          <p:nvPr/>
        </p:nvGrpSpPr>
        <p:grpSpPr>
          <a:xfrm>
            <a:off x="13068950" y="2761616"/>
            <a:ext cx="2838183" cy="2838172"/>
            <a:chOff x="0" y="0"/>
            <a:chExt cx="6350000" cy="6349975"/>
          </a:xfrm>
        </p:grpSpPr>
        <p:sp>
          <p:nvSpPr>
            <p:cNvPr id="10" name="Freeform 10"/>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11"/>
              <a:stretch>
                <a:fillRect l="-72607" r="-8029"/>
              </a:stretch>
            </a:blipFill>
          </p:spPr>
          <p:txBody>
            <a:bodyPr/>
            <a:lstStyle/>
            <a:p>
              <a:endParaRPr lang="he-IL"/>
            </a:p>
          </p:txBody>
        </p:sp>
      </p:grpSp>
      <p:grpSp>
        <p:nvGrpSpPr>
          <p:cNvPr id="11" name="Group 11"/>
          <p:cNvGrpSpPr/>
          <p:nvPr/>
        </p:nvGrpSpPr>
        <p:grpSpPr>
          <a:xfrm>
            <a:off x="2097942" y="302671"/>
            <a:ext cx="13944632" cy="1411829"/>
            <a:chOff x="-98323" y="-968039"/>
            <a:chExt cx="18592843" cy="3369534"/>
          </a:xfrm>
        </p:grpSpPr>
        <p:sp>
          <p:nvSpPr>
            <p:cNvPr id="12" name="TextBox 12"/>
            <p:cNvSpPr txBox="1"/>
            <p:nvPr/>
          </p:nvSpPr>
          <p:spPr>
            <a:xfrm>
              <a:off x="-98323" y="-968039"/>
              <a:ext cx="18592843" cy="1409650"/>
            </a:xfrm>
            <a:prstGeom prst="rect">
              <a:avLst/>
            </a:prstGeom>
          </p:spPr>
          <p:txBody>
            <a:bodyPr lIns="0" tIns="0" rIns="0" bIns="0" rtlCol="0" anchor="t">
              <a:spAutoFit/>
            </a:bodyPr>
            <a:lstStyle/>
            <a:p>
              <a:pPr marL="0" lvl="0" indent="0" algn="ctr">
                <a:lnSpc>
                  <a:spcPts val="8399"/>
                </a:lnSpc>
              </a:pPr>
              <a:r>
                <a:rPr lang="en-US" sz="6999" dirty="0">
                  <a:solidFill>
                    <a:schemeClr val="accent3">
                      <a:lumMod val="50000"/>
                    </a:schemeClr>
                  </a:solidFill>
                  <a:latin typeface="Calistoga"/>
                  <a:ea typeface="Calistoga"/>
                  <a:cs typeface="Calistoga"/>
                  <a:sym typeface="Calistoga"/>
                </a:rPr>
                <a:t>What Is a Socratic Bot?</a:t>
              </a:r>
            </a:p>
          </p:txBody>
        </p:sp>
        <p:sp>
          <p:nvSpPr>
            <p:cNvPr id="13" name="TextBox 13"/>
            <p:cNvSpPr txBox="1"/>
            <p:nvPr/>
          </p:nvSpPr>
          <p:spPr>
            <a:xfrm>
              <a:off x="1081493" y="1769346"/>
              <a:ext cx="16429858" cy="632149"/>
            </a:xfrm>
            <a:prstGeom prst="rect">
              <a:avLst/>
            </a:prstGeom>
          </p:spPr>
          <p:txBody>
            <a:bodyPr lIns="0" tIns="0" rIns="0" bIns="0" rtlCol="0" anchor="t">
              <a:spAutoFit/>
            </a:bodyPr>
            <a:lstStyle/>
            <a:p>
              <a:pPr algn="ctr">
                <a:lnSpc>
                  <a:spcPts val="3920"/>
                </a:lnSpc>
              </a:pPr>
              <a:endParaRPr/>
            </a:p>
          </p:txBody>
        </p:sp>
      </p:grpSp>
      <p:sp>
        <p:nvSpPr>
          <p:cNvPr id="14" name="Freeform 14">
            <a:extLst>
              <a:ext uri="{C183D7F6-B498-43B3-948B-1728B52AA6E4}">
                <adec:decorative xmlns:adec="http://schemas.microsoft.com/office/drawing/2017/decorative" xmlns="" val="1"/>
              </a:ext>
            </a:extLst>
          </p:cNvPr>
          <p:cNvSpPr/>
          <p:nvPr/>
        </p:nvSpPr>
        <p:spPr>
          <a:xfrm>
            <a:off x="-3038039" y="-3756214"/>
            <a:ext cx="5352114" cy="6249814"/>
          </a:xfrm>
          <a:custGeom>
            <a:avLst/>
            <a:gdLst/>
            <a:ahLst/>
            <a:cxnLst/>
            <a:rect l="l" t="t" r="r" b="b"/>
            <a:pathLst>
              <a:path w="5352114" h="6249814">
                <a:moveTo>
                  <a:pt x="0" y="0"/>
                </a:moveTo>
                <a:lnTo>
                  <a:pt x="5352114" y="0"/>
                </a:lnTo>
                <a:lnTo>
                  <a:pt x="5352114" y="6249814"/>
                </a:lnTo>
                <a:lnTo>
                  <a:pt x="0" y="6249814"/>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15" name="Freeform 15">
            <a:extLst>
              <a:ext uri="{C183D7F6-B498-43B3-948B-1728B52AA6E4}">
                <adec:decorative xmlns:adec="http://schemas.microsoft.com/office/drawing/2017/decorative" xmlns="" val="1"/>
              </a:ext>
            </a:extLst>
          </p:cNvPr>
          <p:cNvSpPr/>
          <p:nvPr/>
        </p:nvSpPr>
        <p:spPr>
          <a:xfrm>
            <a:off x="-872983" y="-631307"/>
            <a:ext cx="2010619" cy="2164071"/>
          </a:xfrm>
          <a:custGeom>
            <a:avLst/>
            <a:gdLst/>
            <a:ahLst/>
            <a:cxnLst/>
            <a:rect l="l" t="t" r="r" b="b"/>
            <a:pathLst>
              <a:path w="2010619" h="2164071">
                <a:moveTo>
                  <a:pt x="0" y="0"/>
                </a:moveTo>
                <a:lnTo>
                  <a:pt x="2010619" y="0"/>
                </a:lnTo>
                <a:lnTo>
                  <a:pt x="2010619" y="2164071"/>
                </a:lnTo>
                <a:lnTo>
                  <a:pt x="0" y="2164071"/>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txBody>
          <a:bodyPr/>
          <a:lstStyle/>
          <a:p>
            <a:endParaRPr lang="he-IL"/>
          </a:p>
        </p:txBody>
      </p:sp>
      <p:grpSp>
        <p:nvGrpSpPr>
          <p:cNvPr id="16" name="Group 16"/>
          <p:cNvGrpSpPr/>
          <p:nvPr/>
        </p:nvGrpSpPr>
        <p:grpSpPr>
          <a:xfrm>
            <a:off x="139051" y="6175431"/>
            <a:ext cx="6156848" cy="1515877"/>
            <a:chOff x="8965" y="98553"/>
            <a:chExt cx="8209131" cy="2021168"/>
          </a:xfrm>
        </p:grpSpPr>
        <p:sp>
          <p:nvSpPr>
            <p:cNvPr id="17" name="TextBox 17"/>
            <p:cNvSpPr txBox="1"/>
            <p:nvPr/>
          </p:nvSpPr>
          <p:spPr>
            <a:xfrm>
              <a:off x="8965" y="98553"/>
              <a:ext cx="5849371" cy="622624"/>
            </a:xfrm>
            <a:prstGeom prst="rect">
              <a:avLst/>
            </a:prstGeom>
          </p:spPr>
          <p:txBody>
            <a:bodyPr lIns="0" tIns="0" rIns="0" bIns="0" rtlCol="0" anchor="t">
              <a:spAutoFit/>
            </a:bodyPr>
            <a:lstStyle/>
            <a:p>
              <a:pPr algn="ctr">
                <a:lnSpc>
                  <a:spcPts val="3919"/>
                </a:lnSpc>
              </a:pPr>
              <a:r>
                <a:rPr lang="en-US" sz="2799" dirty="0">
                  <a:solidFill>
                    <a:srgbClr val="323232"/>
                  </a:solidFill>
                  <a:latin typeface="Calistoga"/>
                  <a:ea typeface="Calistoga"/>
                  <a:cs typeface="Calistoga"/>
                  <a:sym typeface="Calistoga"/>
                </a:rPr>
                <a:t>Definition</a:t>
              </a:r>
            </a:p>
          </p:txBody>
        </p:sp>
        <p:sp>
          <p:nvSpPr>
            <p:cNvPr id="18" name="TextBox 18"/>
            <p:cNvSpPr txBox="1"/>
            <p:nvPr/>
          </p:nvSpPr>
          <p:spPr>
            <a:xfrm>
              <a:off x="59185" y="1071827"/>
              <a:ext cx="8158911" cy="1047894"/>
            </a:xfrm>
            <a:prstGeom prst="rect">
              <a:avLst/>
            </a:prstGeom>
          </p:spPr>
          <p:txBody>
            <a:bodyPr lIns="0" tIns="0" rIns="0" bIns="0" rtlCol="0" anchor="t">
              <a:spAutoFit/>
            </a:bodyPr>
            <a:lstStyle/>
            <a:p>
              <a:pPr marL="496574" lvl="1" indent="-248287" algn="l">
                <a:lnSpc>
                  <a:spcPts val="3220"/>
                </a:lnSpc>
                <a:buFont typeface="Arial"/>
                <a:buChar char="•"/>
              </a:pPr>
              <a:r>
                <a:rPr lang="en-US" sz="2300" dirty="0">
                  <a:latin typeface="Public Sans"/>
                  <a:ea typeface="Public Sans"/>
                  <a:cs typeface="Public Sans"/>
                  <a:sym typeface="Public Sans"/>
                </a:rPr>
                <a:t>Inquiry through open-ended questions</a:t>
              </a:r>
            </a:p>
            <a:p>
              <a:pPr marL="496574" lvl="1" indent="-248287" algn="just">
                <a:lnSpc>
                  <a:spcPts val="3220"/>
                </a:lnSpc>
                <a:buFont typeface="Arial"/>
                <a:buChar char="•"/>
              </a:pPr>
              <a:r>
                <a:rPr lang="en-US" sz="2300" dirty="0">
                  <a:latin typeface="Public Sans"/>
                  <a:ea typeface="Public Sans"/>
                  <a:cs typeface="Public Sans"/>
                  <a:sym typeface="Public Sans"/>
                </a:rPr>
                <a:t>Promotes reflection and self-awareness</a:t>
              </a:r>
            </a:p>
          </p:txBody>
        </p:sp>
      </p:grpSp>
      <p:grpSp>
        <p:nvGrpSpPr>
          <p:cNvPr id="19" name="Group 19"/>
          <p:cNvGrpSpPr/>
          <p:nvPr/>
        </p:nvGrpSpPr>
        <p:grpSpPr>
          <a:xfrm>
            <a:off x="6423993" y="6175431"/>
            <a:ext cx="5515029" cy="2601239"/>
            <a:chOff x="-100020" y="-57150"/>
            <a:chExt cx="7353372" cy="3468317"/>
          </a:xfrm>
        </p:grpSpPr>
        <p:sp>
          <p:nvSpPr>
            <p:cNvPr id="20" name="TextBox 20"/>
            <p:cNvSpPr txBox="1"/>
            <p:nvPr/>
          </p:nvSpPr>
          <p:spPr>
            <a:xfrm>
              <a:off x="0" y="-57150"/>
              <a:ext cx="7253352" cy="632652"/>
            </a:xfrm>
            <a:prstGeom prst="rect">
              <a:avLst/>
            </a:prstGeom>
          </p:spPr>
          <p:txBody>
            <a:bodyPr wrap="square" lIns="0" tIns="0" rIns="0" bIns="0" rtlCol="0" anchor="t">
              <a:spAutoFit/>
            </a:bodyPr>
            <a:lstStyle/>
            <a:p>
              <a:pPr algn="ctr">
                <a:lnSpc>
                  <a:spcPts val="3919"/>
                </a:lnSpc>
              </a:pPr>
              <a:r>
                <a:rPr lang="en-US" sz="2799" dirty="0">
                  <a:solidFill>
                    <a:srgbClr val="323232"/>
                  </a:solidFill>
                  <a:latin typeface="Calistoga"/>
                  <a:ea typeface="Calistoga"/>
                  <a:cs typeface="Calistoga"/>
                  <a:sym typeface="Calistoga"/>
                </a:rPr>
                <a:t>The Socratic Bot in Our Study</a:t>
              </a:r>
            </a:p>
          </p:txBody>
        </p:sp>
        <p:sp>
          <p:nvSpPr>
            <p:cNvPr id="21" name="TextBox 21"/>
            <p:cNvSpPr txBox="1"/>
            <p:nvPr/>
          </p:nvSpPr>
          <p:spPr>
            <a:xfrm>
              <a:off x="-100020" y="846362"/>
              <a:ext cx="7253352" cy="2564805"/>
            </a:xfrm>
            <a:prstGeom prst="rect">
              <a:avLst/>
            </a:prstGeom>
          </p:spPr>
          <p:txBody>
            <a:bodyPr lIns="0" tIns="0" rIns="0" bIns="0" rtlCol="0" anchor="t">
              <a:spAutoFit/>
            </a:bodyPr>
            <a:lstStyle/>
            <a:p>
              <a:pPr marL="496571" lvl="1" indent="-248285" algn="l">
                <a:lnSpc>
                  <a:spcPts val="3220"/>
                </a:lnSpc>
                <a:buFont typeface="Arial"/>
                <a:buChar char="•"/>
              </a:pPr>
              <a:r>
                <a:rPr lang="en-US" sz="2300" dirty="0">
                  <a:latin typeface="Public Sans"/>
                  <a:ea typeface="Public Sans"/>
                  <a:cs typeface="Public Sans"/>
                  <a:sym typeface="Public Sans"/>
                </a:rPr>
                <a:t>AI-based conversational agent</a:t>
              </a:r>
            </a:p>
            <a:p>
              <a:pPr marL="496571" lvl="1" indent="-248285" algn="just">
                <a:lnSpc>
                  <a:spcPts val="3220"/>
                </a:lnSpc>
                <a:buFont typeface="Arial"/>
                <a:buChar char="•"/>
              </a:pPr>
              <a:r>
                <a:rPr lang="en-US" sz="2300" dirty="0">
                  <a:latin typeface="Public Sans"/>
                  <a:ea typeface="Public Sans"/>
                  <a:cs typeface="Public Sans"/>
                  <a:sym typeface="Public Sans"/>
                </a:rPr>
                <a:t>Supports self-reflection</a:t>
              </a:r>
            </a:p>
            <a:p>
              <a:pPr marL="496571" lvl="1" indent="-248285" algn="l">
                <a:lnSpc>
                  <a:spcPts val="3220"/>
                </a:lnSpc>
                <a:buFont typeface="Arial"/>
                <a:buChar char="•"/>
              </a:pPr>
              <a:r>
                <a:rPr lang="en-US" sz="2300" dirty="0">
                  <a:latin typeface="Public Sans"/>
                  <a:ea typeface="Public Sans"/>
                  <a:cs typeface="Public Sans"/>
                  <a:sym typeface="Public Sans"/>
                </a:rPr>
                <a:t>No advice, instruction, or evaluation</a:t>
              </a:r>
            </a:p>
            <a:p>
              <a:pPr algn="ctr">
                <a:lnSpc>
                  <a:spcPts val="2732"/>
                </a:lnSpc>
              </a:pPr>
              <a:endParaRPr lang="en-US" sz="2300" dirty="0">
                <a:latin typeface="Public Sans"/>
                <a:ea typeface="Public Sans"/>
                <a:cs typeface="Public Sans"/>
                <a:sym typeface="Public Sans"/>
              </a:endParaRPr>
            </a:p>
            <a:p>
              <a:pPr algn="ctr">
                <a:lnSpc>
                  <a:spcPts val="2732"/>
                </a:lnSpc>
              </a:pPr>
              <a:endParaRPr lang="en-US" sz="2300" dirty="0">
                <a:latin typeface="Public Sans"/>
                <a:ea typeface="Public Sans"/>
                <a:cs typeface="Public Sans"/>
                <a:sym typeface="Public Sans"/>
              </a:endParaRPr>
            </a:p>
          </p:txBody>
        </p:sp>
      </p:grpSp>
      <p:grpSp>
        <p:nvGrpSpPr>
          <p:cNvPr id="22" name="Group 22"/>
          <p:cNvGrpSpPr/>
          <p:nvPr/>
        </p:nvGrpSpPr>
        <p:grpSpPr>
          <a:xfrm>
            <a:off x="12765316" y="6181290"/>
            <a:ext cx="5217884" cy="1533615"/>
            <a:chOff x="0" y="-57150"/>
            <a:chExt cx="6957179" cy="2044818"/>
          </a:xfrm>
        </p:grpSpPr>
        <p:sp>
          <p:nvSpPr>
            <p:cNvPr id="23" name="TextBox 23"/>
            <p:cNvSpPr txBox="1"/>
            <p:nvPr/>
          </p:nvSpPr>
          <p:spPr>
            <a:xfrm>
              <a:off x="175788" y="-57150"/>
              <a:ext cx="5570784" cy="632652"/>
            </a:xfrm>
            <a:prstGeom prst="rect">
              <a:avLst/>
            </a:prstGeom>
          </p:spPr>
          <p:txBody>
            <a:bodyPr lIns="0" tIns="0" rIns="0" bIns="0" rtlCol="0" anchor="t">
              <a:spAutoFit/>
            </a:bodyPr>
            <a:lstStyle/>
            <a:p>
              <a:pPr algn="ctr">
                <a:lnSpc>
                  <a:spcPts val="3919"/>
                </a:lnSpc>
              </a:pPr>
              <a:r>
                <a:rPr lang="en-US" sz="2799" dirty="0">
                  <a:latin typeface="Calistoga"/>
                  <a:ea typeface="Calistoga"/>
                  <a:cs typeface="Calistoga"/>
                  <a:sym typeface="Calistoga"/>
                </a:rPr>
                <a:t>Expected Contribution</a:t>
              </a:r>
            </a:p>
          </p:txBody>
        </p:sp>
        <p:sp>
          <p:nvSpPr>
            <p:cNvPr id="24" name="TextBox 24"/>
            <p:cNvSpPr txBox="1"/>
            <p:nvPr/>
          </p:nvSpPr>
          <p:spPr>
            <a:xfrm>
              <a:off x="0" y="893352"/>
              <a:ext cx="6957179" cy="1094316"/>
            </a:xfrm>
            <a:prstGeom prst="rect">
              <a:avLst/>
            </a:prstGeom>
          </p:spPr>
          <p:txBody>
            <a:bodyPr wrap="square" lIns="0" tIns="0" rIns="0" bIns="0" rtlCol="0" anchor="t">
              <a:spAutoFit/>
            </a:bodyPr>
            <a:lstStyle/>
            <a:p>
              <a:pPr marL="496571" lvl="1" indent="-248285">
                <a:lnSpc>
                  <a:spcPts val="3220"/>
                </a:lnSpc>
                <a:buFont typeface="Arial"/>
                <a:buChar char="•"/>
              </a:pPr>
              <a:r>
                <a:rPr lang="en-US" sz="2400" dirty="0">
                  <a:latin typeface="Public Sans" panose="020B0604020202020204" charset="0"/>
                </a:rPr>
                <a:t>Supports SEL competencies through reflective engagement</a:t>
              </a:r>
              <a:endParaRPr lang="en-US" sz="2300" dirty="0">
                <a:latin typeface="Public Sans" panose="020B0604020202020204" charset="0"/>
                <a:ea typeface="Public Sans"/>
                <a:cs typeface="Public Sans"/>
                <a:sym typeface="Public Sans"/>
              </a:endParaRPr>
            </a:p>
          </p:txBody>
        </p:sp>
      </p:grpSp>
      <p:sp>
        <p:nvSpPr>
          <p:cNvPr id="26" name="TextBox 11">
            <a:extLst>
              <a:ext uri="{FF2B5EF4-FFF2-40B4-BE49-F238E27FC236}">
                <a16:creationId xmlns:a16="http://schemas.microsoft.com/office/drawing/2014/main" id="{7745B5C1-8386-2FF6-E56B-C163F5E15B6D}"/>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8</a:t>
            </a:r>
          </a:p>
        </p:txBody>
      </p:sp>
      <p:sp>
        <p:nvSpPr>
          <p:cNvPr id="25" name="TextBox 12">
            <a:extLst>
              <a:ext uri="{FF2B5EF4-FFF2-40B4-BE49-F238E27FC236}">
                <a16:creationId xmlns:a16="http://schemas.microsoft.com/office/drawing/2014/main" id="{A6E89517-8574-A08B-967F-D1B67281458E}"/>
              </a:ext>
            </a:extLst>
          </p:cNvPr>
          <p:cNvSpPr txBox="1"/>
          <p:nvPr/>
        </p:nvSpPr>
        <p:spPr>
          <a:xfrm>
            <a:off x="107650" y="9691238"/>
            <a:ext cx="17403070" cy="553998"/>
          </a:xfrm>
          <a:prstGeom prst="rect">
            <a:avLst/>
          </a:prstGeom>
        </p:spPr>
        <p:txBody>
          <a:bodyPr wrap="square" lIns="0" tIns="0" rIns="0" bIns="0" rtlCol="0" anchor="t">
            <a:spAutoFit/>
          </a:bodyPr>
          <a:lstStyle/>
          <a:p>
            <a:r>
              <a:rPr lang="en-US" dirty="0">
                <a:latin typeface="Public Sans" panose="020B0604020202020204" charset="0"/>
              </a:rPr>
              <a:t>Wang, D., &amp; Ishak, Z. (2025). Unveiling the implementation of social-emotional learning among college students: A systematic literature review. International Journal of Learning, Teaching and Educational Research, 24(5), 376–399. </a:t>
            </a:r>
            <a:r>
              <a:rPr lang="en-US" u="sng" dirty="0">
                <a:latin typeface="Public Sans" panose="020B0604020202020204" charset="0"/>
                <a:hlinkClick r:id="rId14"/>
              </a:rPr>
              <a:t>https://doi.org/10.26803/ijlter.24.5.20</a:t>
            </a:r>
            <a:endParaRPr lang="en-US" sz="3000" dirty="0">
              <a:latin typeface="Public Sans"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4228037" y="7723304"/>
            <a:ext cx="6956631" cy="7085457"/>
          </a:xfrm>
          <a:custGeom>
            <a:avLst/>
            <a:gdLst/>
            <a:ahLst/>
            <a:cxnLst/>
            <a:rect l="l" t="t" r="r" b="b"/>
            <a:pathLst>
              <a:path w="6956631" h="7085457">
                <a:moveTo>
                  <a:pt x="0" y="0"/>
                </a:moveTo>
                <a:lnTo>
                  <a:pt x="6956631" y="0"/>
                </a:lnTo>
                <a:lnTo>
                  <a:pt x="6956631" y="7085457"/>
                </a:lnTo>
                <a:lnTo>
                  <a:pt x="0" y="708545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3613136" y="-3509916"/>
            <a:ext cx="6034849" cy="6262579"/>
          </a:xfrm>
          <a:custGeom>
            <a:avLst/>
            <a:gdLst/>
            <a:ahLst/>
            <a:cxnLst/>
            <a:rect l="l" t="t" r="r" b="b"/>
            <a:pathLst>
              <a:path w="6034849" h="6262579">
                <a:moveTo>
                  <a:pt x="0" y="0"/>
                </a:moveTo>
                <a:lnTo>
                  <a:pt x="6034849" y="0"/>
                </a:lnTo>
                <a:lnTo>
                  <a:pt x="6034849" y="6262579"/>
                </a:lnTo>
                <a:lnTo>
                  <a:pt x="0" y="626257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rot="-1436842">
            <a:off x="-886207" y="-735743"/>
            <a:ext cx="2340418" cy="2392620"/>
          </a:xfrm>
          <a:custGeom>
            <a:avLst/>
            <a:gdLst/>
            <a:ahLst/>
            <a:cxnLst/>
            <a:rect l="l" t="t" r="r" b="b"/>
            <a:pathLst>
              <a:path w="2340418" h="2392620">
                <a:moveTo>
                  <a:pt x="0" y="0"/>
                </a:moveTo>
                <a:lnTo>
                  <a:pt x="2340418" y="0"/>
                </a:lnTo>
                <a:lnTo>
                  <a:pt x="2340418" y="2392620"/>
                </a:lnTo>
                <a:lnTo>
                  <a:pt x="0" y="239262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288830" y="7424858"/>
            <a:ext cx="3429121" cy="3841174"/>
          </a:xfrm>
          <a:custGeom>
            <a:avLst/>
            <a:gdLst/>
            <a:ahLst/>
            <a:cxnLst/>
            <a:rect l="l" t="t" r="r" b="b"/>
            <a:pathLst>
              <a:path w="3429121" h="3841174">
                <a:moveTo>
                  <a:pt x="0" y="0"/>
                </a:moveTo>
                <a:lnTo>
                  <a:pt x="3429121" y="0"/>
                </a:lnTo>
                <a:lnTo>
                  <a:pt x="3429121" y="3841175"/>
                </a:lnTo>
                <a:lnTo>
                  <a:pt x="0" y="384117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he-IL"/>
          </a:p>
        </p:txBody>
      </p:sp>
      <p:sp>
        <p:nvSpPr>
          <p:cNvPr id="6" name="Freeform 6"/>
          <p:cNvSpPr/>
          <p:nvPr/>
        </p:nvSpPr>
        <p:spPr>
          <a:xfrm>
            <a:off x="11555875" y="4632471"/>
            <a:ext cx="4410286" cy="5654529"/>
          </a:xfrm>
          <a:custGeom>
            <a:avLst/>
            <a:gdLst/>
            <a:ahLst/>
            <a:cxnLst/>
            <a:rect l="l" t="t" r="r" b="b"/>
            <a:pathLst>
              <a:path w="4410286" h="5654529">
                <a:moveTo>
                  <a:pt x="0" y="0"/>
                </a:moveTo>
                <a:lnTo>
                  <a:pt x="4410286" y="0"/>
                </a:lnTo>
                <a:lnTo>
                  <a:pt x="4410286" y="5654529"/>
                </a:lnTo>
                <a:lnTo>
                  <a:pt x="0" y="5654529"/>
                </a:lnTo>
                <a:lnTo>
                  <a:pt x="0" y="0"/>
                </a:lnTo>
                <a:close/>
              </a:path>
            </a:pathLst>
          </a:custGeom>
          <a:blipFill>
            <a:blip r:embed="rId10"/>
            <a:stretch>
              <a:fillRect/>
            </a:stretch>
          </a:blipFill>
        </p:spPr>
        <p:txBody>
          <a:bodyPr/>
          <a:lstStyle/>
          <a:p>
            <a:endParaRPr lang="he-IL"/>
          </a:p>
        </p:txBody>
      </p:sp>
      <p:grpSp>
        <p:nvGrpSpPr>
          <p:cNvPr id="7" name="Group 7"/>
          <p:cNvGrpSpPr/>
          <p:nvPr/>
        </p:nvGrpSpPr>
        <p:grpSpPr>
          <a:xfrm>
            <a:off x="3388974" y="651332"/>
            <a:ext cx="13810110" cy="3448114"/>
            <a:chOff x="0" y="0"/>
            <a:chExt cx="18413480" cy="4597485"/>
          </a:xfrm>
        </p:grpSpPr>
        <p:sp>
          <p:nvSpPr>
            <p:cNvPr id="8" name="TextBox 8"/>
            <p:cNvSpPr txBox="1"/>
            <p:nvPr/>
          </p:nvSpPr>
          <p:spPr>
            <a:xfrm>
              <a:off x="0" y="0"/>
              <a:ext cx="17517102" cy="1409650"/>
            </a:xfrm>
            <a:prstGeom prst="rect">
              <a:avLst/>
            </a:prstGeom>
          </p:spPr>
          <p:txBody>
            <a:bodyPr lIns="0" tIns="0" rIns="0" bIns="0" rtlCol="0" anchor="t">
              <a:spAutoFit/>
            </a:bodyPr>
            <a:lstStyle/>
            <a:p>
              <a:pPr marL="0" lvl="0" indent="0" algn="l">
                <a:lnSpc>
                  <a:spcPts val="8399"/>
                </a:lnSpc>
              </a:pPr>
              <a:r>
                <a:rPr lang="en-US" sz="6999" dirty="0">
                  <a:solidFill>
                    <a:schemeClr val="accent3">
                      <a:lumMod val="50000"/>
                    </a:schemeClr>
                  </a:solidFill>
                  <a:latin typeface="Calistoga"/>
                  <a:ea typeface="Calistoga"/>
                  <a:cs typeface="Calistoga"/>
                  <a:sym typeface="Calistoga"/>
                </a:rPr>
                <a:t>The Proposed Solution: </a:t>
              </a:r>
              <a:r>
                <a:rPr lang="en-US" sz="6999" dirty="0" err="1">
                  <a:solidFill>
                    <a:schemeClr val="accent3">
                      <a:lumMod val="50000"/>
                    </a:schemeClr>
                  </a:solidFill>
                  <a:latin typeface="Calistoga"/>
                  <a:ea typeface="Calistoga"/>
                  <a:cs typeface="Calistoga"/>
                  <a:sym typeface="Calistoga"/>
                </a:rPr>
                <a:t>CASELy</a:t>
              </a:r>
              <a:endParaRPr lang="en-US" sz="6999" dirty="0">
                <a:solidFill>
                  <a:schemeClr val="accent3">
                    <a:lumMod val="50000"/>
                  </a:schemeClr>
                </a:solidFill>
                <a:latin typeface="Calistoga"/>
                <a:ea typeface="Calistoga"/>
                <a:cs typeface="Calistoga"/>
                <a:sym typeface="Calistoga"/>
              </a:endParaRPr>
            </a:p>
          </p:txBody>
        </p:sp>
        <p:sp>
          <p:nvSpPr>
            <p:cNvPr id="9" name="TextBox 9"/>
            <p:cNvSpPr txBox="1"/>
            <p:nvPr/>
          </p:nvSpPr>
          <p:spPr>
            <a:xfrm>
              <a:off x="0" y="1992925"/>
              <a:ext cx="18413480" cy="2604560"/>
            </a:xfrm>
            <a:prstGeom prst="rect">
              <a:avLst/>
            </a:prstGeom>
          </p:spPr>
          <p:txBody>
            <a:bodyPr lIns="0" tIns="0" rIns="0" bIns="0" rtlCol="0" anchor="t">
              <a:spAutoFit/>
            </a:bodyPr>
            <a:lstStyle/>
            <a:p>
              <a:pPr algn="ctr">
                <a:lnSpc>
                  <a:spcPts val="3639"/>
                </a:lnSpc>
              </a:pPr>
              <a:r>
                <a:rPr lang="en-US" sz="2599" dirty="0">
                  <a:latin typeface="Public Sans"/>
                  <a:ea typeface="Public Sans"/>
                  <a:cs typeface="Public Sans"/>
                  <a:sym typeface="Public Sans"/>
                </a:rPr>
                <a:t>An anonymous web platform that leverages AI to foster SEL skills through reflective, Socratic dialogue.</a:t>
              </a:r>
            </a:p>
            <a:p>
              <a:pPr algn="l">
                <a:lnSpc>
                  <a:spcPts val="3306"/>
                </a:lnSpc>
              </a:pPr>
              <a:endParaRPr lang="en-US" sz="2599" dirty="0">
                <a:latin typeface="Public Sans"/>
                <a:ea typeface="Public Sans"/>
                <a:cs typeface="Public Sans"/>
                <a:sym typeface="Public Sans"/>
              </a:endParaRPr>
            </a:p>
            <a:p>
              <a:pPr algn="l">
                <a:lnSpc>
                  <a:spcPts val="4969"/>
                </a:lnSpc>
              </a:pPr>
              <a:r>
                <a:rPr lang="en-US" sz="3549" dirty="0">
                  <a:latin typeface="Calistoga" panose="020B0604020202020204" charset="0"/>
                  <a:ea typeface="Public Sans Bold"/>
                  <a:cs typeface="Public Sans Bold"/>
                  <a:sym typeface="Public Sans Bold"/>
                </a:rPr>
                <a:t>Core Principles:</a:t>
              </a:r>
            </a:p>
          </p:txBody>
        </p:sp>
      </p:grpSp>
      <p:grpSp>
        <p:nvGrpSpPr>
          <p:cNvPr id="10" name="Group 10"/>
          <p:cNvGrpSpPr/>
          <p:nvPr/>
        </p:nvGrpSpPr>
        <p:grpSpPr>
          <a:xfrm>
            <a:off x="3140291" y="4358382"/>
            <a:ext cx="10736649" cy="5173450"/>
            <a:chOff x="0" y="-66675"/>
            <a:chExt cx="14315533" cy="6897934"/>
          </a:xfrm>
        </p:grpSpPr>
        <p:sp>
          <p:nvSpPr>
            <p:cNvPr id="11" name="TextBox 11"/>
            <p:cNvSpPr txBox="1"/>
            <p:nvPr/>
          </p:nvSpPr>
          <p:spPr>
            <a:xfrm>
              <a:off x="0" y="-66675"/>
              <a:ext cx="14315533" cy="802871"/>
            </a:xfrm>
            <a:prstGeom prst="rect">
              <a:avLst/>
            </a:prstGeom>
          </p:spPr>
          <p:txBody>
            <a:bodyPr lIns="0" tIns="0" rIns="0" bIns="0" rtlCol="0" anchor="t">
              <a:spAutoFit/>
            </a:bodyPr>
            <a:lstStyle/>
            <a:p>
              <a:pPr marL="766444" lvl="1" indent="-383222" algn="just">
                <a:lnSpc>
                  <a:spcPts val="4969"/>
                </a:lnSpc>
                <a:buFont typeface="Arial"/>
                <a:buChar char="•"/>
              </a:pPr>
              <a:r>
                <a:rPr lang="en-US" sz="3549" dirty="0">
                  <a:solidFill>
                    <a:srgbClr val="323232"/>
                  </a:solidFill>
                  <a:latin typeface="Calistoga"/>
                  <a:ea typeface="Calistoga"/>
                  <a:cs typeface="Calistoga"/>
                  <a:sym typeface="Calistoga"/>
                </a:rPr>
                <a:t> </a:t>
              </a:r>
              <a:r>
                <a:rPr lang="en-US" sz="3549" dirty="0">
                  <a:latin typeface="Public Sans" panose="020B0604020202020204" charset="0"/>
                  <a:ea typeface="Calistoga"/>
                  <a:cs typeface="Calistoga"/>
                  <a:sym typeface="Calistoga"/>
                </a:rPr>
                <a:t>AI-Guided Socratic Dialogue</a:t>
              </a:r>
            </a:p>
          </p:txBody>
        </p:sp>
        <p:sp>
          <p:nvSpPr>
            <p:cNvPr id="12" name="TextBox 12"/>
            <p:cNvSpPr txBox="1"/>
            <p:nvPr/>
          </p:nvSpPr>
          <p:spPr>
            <a:xfrm>
              <a:off x="0" y="3142442"/>
              <a:ext cx="14315533" cy="784599"/>
            </a:xfrm>
            <a:prstGeom prst="rect">
              <a:avLst/>
            </a:prstGeom>
          </p:spPr>
          <p:txBody>
            <a:bodyPr lIns="0" tIns="0" rIns="0" bIns="0" rtlCol="0" anchor="t">
              <a:spAutoFit/>
            </a:bodyPr>
            <a:lstStyle/>
            <a:p>
              <a:pPr marL="766444" lvl="1" indent="-383222" algn="l">
                <a:lnSpc>
                  <a:spcPts val="4969"/>
                </a:lnSpc>
                <a:buFont typeface="Arial"/>
                <a:buChar char="•"/>
              </a:pPr>
              <a:r>
                <a:rPr lang="en-US" sz="3549" dirty="0">
                  <a:latin typeface="Public Sans" panose="020B0604020202020204" charset="0"/>
                  <a:ea typeface="Calistoga"/>
                  <a:cs typeface="Calistoga"/>
                  <a:sym typeface="Calistoga"/>
                </a:rPr>
                <a:t>Reflection-Based Learning</a:t>
              </a:r>
            </a:p>
          </p:txBody>
        </p:sp>
        <p:sp>
          <p:nvSpPr>
            <p:cNvPr id="13" name="TextBox 13"/>
            <p:cNvSpPr txBox="1"/>
            <p:nvPr/>
          </p:nvSpPr>
          <p:spPr>
            <a:xfrm>
              <a:off x="0" y="6208635"/>
              <a:ext cx="14315533" cy="622624"/>
            </a:xfrm>
            <a:prstGeom prst="rect">
              <a:avLst/>
            </a:prstGeom>
          </p:spPr>
          <p:txBody>
            <a:bodyPr lIns="0" tIns="0" rIns="0" bIns="0" rtlCol="0" anchor="t">
              <a:spAutoFit/>
            </a:bodyPr>
            <a:lstStyle/>
            <a:p>
              <a:pPr algn="l">
                <a:lnSpc>
                  <a:spcPts val="3919"/>
                </a:lnSpc>
              </a:pPr>
              <a:endParaRPr/>
            </a:p>
          </p:txBody>
        </p:sp>
        <p:sp>
          <p:nvSpPr>
            <p:cNvPr id="14" name="TextBox 14"/>
            <p:cNvSpPr txBox="1"/>
            <p:nvPr/>
          </p:nvSpPr>
          <p:spPr>
            <a:xfrm>
              <a:off x="0" y="1537884"/>
              <a:ext cx="14315533" cy="809196"/>
            </a:xfrm>
            <a:prstGeom prst="rect">
              <a:avLst/>
            </a:prstGeom>
          </p:spPr>
          <p:txBody>
            <a:bodyPr lIns="0" tIns="0" rIns="0" bIns="0" rtlCol="0" anchor="t">
              <a:spAutoFit/>
            </a:bodyPr>
            <a:lstStyle/>
            <a:p>
              <a:pPr marL="766444" lvl="1" indent="-383222" algn="l">
                <a:lnSpc>
                  <a:spcPts val="4969"/>
                </a:lnSpc>
                <a:buFont typeface="Arial"/>
                <a:buChar char="•"/>
              </a:pPr>
              <a:r>
                <a:rPr lang="en-US" sz="3549" dirty="0">
                  <a:latin typeface="Public Sans" panose="020B0604020202020204" charset="0"/>
                  <a:ea typeface="Calistoga"/>
                  <a:cs typeface="Calistoga"/>
                  <a:sym typeface="Calistoga"/>
                </a:rPr>
                <a:t> No Advice, No Judgment</a:t>
              </a:r>
            </a:p>
          </p:txBody>
        </p:sp>
        <p:sp>
          <p:nvSpPr>
            <p:cNvPr id="15" name="TextBox 15"/>
            <p:cNvSpPr txBox="1"/>
            <p:nvPr/>
          </p:nvSpPr>
          <p:spPr>
            <a:xfrm>
              <a:off x="0" y="4756526"/>
              <a:ext cx="14315533" cy="622624"/>
            </a:xfrm>
            <a:prstGeom prst="rect">
              <a:avLst/>
            </a:prstGeom>
          </p:spPr>
          <p:txBody>
            <a:bodyPr lIns="0" tIns="0" rIns="0" bIns="0" rtlCol="0" anchor="t">
              <a:spAutoFit/>
            </a:bodyPr>
            <a:lstStyle/>
            <a:p>
              <a:pPr algn="l">
                <a:lnSpc>
                  <a:spcPts val="3919"/>
                </a:lnSpc>
              </a:pPr>
              <a:endParaRPr/>
            </a:p>
          </p:txBody>
        </p:sp>
      </p:grpSp>
      <p:sp>
        <p:nvSpPr>
          <p:cNvPr id="16" name="Freeform 16">
            <a:extLst>
              <a:ext uri="{C183D7F6-B498-43B3-948B-1728B52AA6E4}">
                <adec:decorative xmlns:adec="http://schemas.microsoft.com/office/drawing/2017/decorative" xmlns="" val="1"/>
              </a:ext>
            </a:extLst>
          </p:cNvPr>
          <p:cNvSpPr/>
          <p:nvPr/>
        </p:nvSpPr>
        <p:spPr>
          <a:xfrm>
            <a:off x="15966161" y="2752663"/>
            <a:ext cx="1487142" cy="1655725"/>
          </a:xfrm>
          <a:custGeom>
            <a:avLst/>
            <a:gdLst/>
            <a:ahLst/>
            <a:cxnLst/>
            <a:rect l="l" t="t" r="r" b="b"/>
            <a:pathLst>
              <a:path w="1487142" h="1655725">
                <a:moveTo>
                  <a:pt x="0" y="0"/>
                </a:moveTo>
                <a:lnTo>
                  <a:pt x="1487142" y="0"/>
                </a:lnTo>
                <a:lnTo>
                  <a:pt x="1487142" y="1655725"/>
                </a:lnTo>
                <a:lnTo>
                  <a:pt x="0" y="1655725"/>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txBody>
          <a:bodyPr/>
          <a:lstStyle/>
          <a:p>
            <a:endParaRPr lang="he-IL"/>
          </a:p>
        </p:txBody>
      </p:sp>
      <p:sp>
        <p:nvSpPr>
          <p:cNvPr id="17" name="Freeform 17"/>
          <p:cNvSpPr/>
          <p:nvPr/>
        </p:nvSpPr>
        <p:spPr>
          <a:xfrm>
            <a:off x="16159949" y="0"/>
            <a:ext cx="2198701" cy="1714041"/>
          </a:xfrm>
          <a:custGeom>
            <a:avLst/>
            <a:gdLst/>
            <a:ahLst/>
            <a:cxnLst/>
            <a:rect l="l" t="t" r="r" b="b"/>
            <a:pathLst>
              <a:path w="2198701" h="1714041">
                <a:moveTo>
                  <a:pt x="0" y="0"/>
                </a:moveTo>
                <a:lnTo>
                  <a:pt x="2198702" y="0"/>
                </a:lnTo>
                <a:lnTo>
                  <a:pt x="2198702" y="1714041"/>
                </a:lnTo>
                <a:lnTo>
                  <a:pt x="0" y="1714041"/>
                </a:lnTo>
                <a:lnTo>
                  <a:pt x="0" y="0"/>
                </a:lnTo>
                <a:close/>
              </a:path>
            </a:pathLst>
          </a:custGeom>
          <a:blipFill>
            <a:blip r:embed="rId13"/>
            <a:stretch>
              <a:fillRect/>
            </a:stretch>
          </a:blipFill>
        </p:spPr>
        <p:txBody>
          <a:bodyPr/>
          <a:lstStyle/>
          <a:p>
            <a:endParaRPr lang="he-IL"/>
          </a:p>
        </p:txBody>
      </p:sp>
      <p:sp>
        <p:nvSpPr>
          <p:cNvPr id="19" name="TextBox 11">
            <a:extLst>
              <a:ext uri="{FF2B5EF4-FFF2-40B4-BE49-F238E27FC236}">
                <a16:creationId xmlns:a16="http://schemas.microsoft.com/office/drawing/2014/main" id="{78602FB1-5F3A-6205-07AC-505A3D8BF7CE}"/>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2971574" y="-911802"/>
            <a:ext cx="4333606" cy="4395562"/>
          </a:xfrm>
          <a:custGeom>
            <a:avLst/>
            <a:gdLst/>
            <a:ahLst/>
            <a:cxnLst/>
            <a:rect l="l" t="t" r="r" b="b"/>
            <a:pathLst>
              <a:path w="7168173" h="8370478">
                <a:moveTo>
                  <a:pt x="0" y="0"/>
                </a:moveTo>
                <a:lnTo>
                  <a:pt x="7168173" y="0"/>
                </a:lnTo>
                <a:lnTo>
                  <a:pt x="7168173" y="8370478"/>
                </a:lnTo>
                <a:lnTo>
                  <a:pt x="0" y="837047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rot="908262">
            <a:off x="16655514" y="9435283"/>
            <a:ext cx="5759539" cy="2399952"/>
          </a:xfrm>
          <a:custGeom>
            <a:avLst/>
            <a:gdLst/>
            <a:ahLst/>
            <a:cxnLst/>
            <a:rect l="l" t="t" r="r" b="b"/>
            <a:pathLst>
              <a:path w="6396631" h="6638014">
                <a:moveTo>
                  <a:pt x="0" y="0"/>
                </a:moveTo>
                <a:lnTo>
                  <a:pt x="6396631" y="0"/>
                </a:lnTo>
                <a:lnTo>
                  <a:pt x="6396631" y="6638013"/>
                </a:lnTo>
                <a:lnTo>
                  <a:pt x="0" y="663801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grpSp>
        <p:nvGrpSpPr>
          <p:cNvPr id="4" name="Group 4"/>
          <p:cNvGrpSpPr/>
          <p:nvPr/>
        </p:nvGrpSpPr>
        <p:grpSpPr>
          <a:xfrm>
            <a:off x="1765540" y="1067360"/>
            <a:ext cx="15160429" cy="5100341"/>
            <a:chOff x="-599815" y="757974"/>
            <a:chExt cx="20213905" cy="6800454"/>
          </a:xfrm>
        </p:grpSpPr>
        <p:sp>
          <p:nvSpPr>
            <p:cNvPr id="5" name="TextBox 5"/>
            <p:cNvSpPr txBox="1"/>
            <p:nvPr/>
          </p:nvSpPr>
          <p:spPr>
            <a:xfrm>
              <a:off x="-599815" y="757974"/>
              <a:ext cx="20213905" cy="4828513"/>
            </a:xfrm>
            <a:prstGeom prst="rect">
              <a:avLst/>
            </a:prstGeom>
          </p:spPr>
          <p:txBody>
            <a:bodyPr lIns="0" tIns="0" rIns="0" bIns="0" rtlCol="0" anchor="t">
              <a:spAutoFit/>
            </a:bodyPr>
            <a:lstStyle/>
            <a:p>
              <a:pPr algn="ctr">
                <a:lnSpc>
                  <a:spcPts val="6999"/>
                </a:lnSpc>
              </a:pPr>
              <a:r>
                <a:rPr lang="en-US" sz="5600" spc="-139" dirty="0">
                  <a:solidFill>
                    <a:schemeClr val="accent3">
                      <a:lumMod val="50000"/>
                    </a:schemeClr>
                  </a:solidFill>
                  <a:latin typeface="Calistoga"/>
                  <a:ea typeface="Calistoga"/>
                  <a:cs typeface="Calistoga"/>
                  <a:sym typeface="Calistoga"/>
                </a:rPr>
                <a:t>RESEARCH QUESTION</a:t>
              </a:r>
            </a:p>
            <a:p>
              <a:pPr algn="ctr">
                <a:lnSpc>
                  <a:spcPts val="6999"/>
                </a:lnSpc>
              </a:pPr>
              <a:endParaRPr lang="en-US" sz="5600" spc="-139" dirty="0">
                <a:solidFill>
                  <a:schemeClr val="accent3">
                    <a:lumMod val="50000"/>
                  </a:schemeClr>
                </a:solidFill>
                <a:latin typeface="Calistoga"/>
                <a:ea typeface="Calistoga"/>
                <a:cs typeface="Calistoga"/>
                <a:sym typeface="Calistoga"/>
              </a:endParaRPr>
            </a:p>
            <a:p>
              <a:pPr algn="ctr">
                <a:lnSpc>
                  <a:spcPts val="6999"/>
                </a:lnSpc>
              </a:pPr>
              <a:endParaRPr lang="en-US" sz="5600" spc="-139" dirty="0">
                <a:solidFill>
                  <a:schemeClr val="accent3">
                    <a:lumMod val="50000"/>
                  </a:schemeClr>
                </a:solidFill>
                <a:latin typeface="Calistoga"/>
                <a:ea typeface="Calistoga"/>
                <a:cs typeface="Calistoga"/>
                <a:sym typeface="Calistoga"/>
              </a:endParaRPr>
            </a:p>
            <a:p>
              <a:pPr algn="ctr">
                <a:lnSpc>
                  <a:spcPts val="6999"/>
                </a:lnSpc>
              </a:pPr>
              <a:endParaRPr lang="en-US" sz="5600" spc="-139" dirty="0">
                <a:solidFill>
                  <a:schemeClr val="accent3">
                    <a:lumMod val="50000"/>
                  </a:schemeClr>
                </a:solidFill>
                <a:latin typeface="Calistoga"/>
                <a:ea typeface="Calistoga"/>
                <a:cs typeface="Calistoga"/>
                <a:sym typeface="Calistoga"/>
              </a:endParaRPr>
            </a:p>
          </p:txBody>
        </p:sp>
        <p:sp>
          <p:nvSpPr>
            <p:cNvPr id="6" name="TextBox 6"/>
            <p:cNvSpPr txBox="1"/>
            <p:nvPr/>
          </p:nvSpPr>
          <p:spPr>
            <a:xfrm>
              <a:off x="1955984" y="3979841"/>
              <a:ext cx="17487936" cy="3578587"/>
            </a:xfrm>
            <a:prstGeom prst="rect">
              <a:avLst/>
            </a:prstGeom>
          </p:spPr>
          <p:txBody>
            <a:bodyPr lIns="0" tIns="0" rIns="0" bIns="0" rtlCol="0" anchor="t">
              <a:spAutoFit/>
            </a:bodyPr>
            <a:lstStyle/>
            <a:p>
              <a:pPr algn="ctr">
                <a:lnSpc>
                  <a:spcPts val="7098"/>
                </a:lnSpc>
              </a:pPr>
              <a:r>
                <a:rPr lang="en-US" sz="5070" dirty="0">
                  <a:latin typeface="Public Sans" panose="020B0604020202020204" charset="0"/>
                  <a:ea typeface="Public Sans Medium"/>
                  <a:cs typeface="Public Sans Medium"/>
                  <a:sym typeface="Public Sans Medium"/>
                </a:rPr>
                <a:t>How does an AI-based Socratic dialogue influence the development of SEL skills among higher education students?</a:t>
              </a:r>
            </a:p>
          </p:txBody>
        </p:sp>
      </p:grpSp>
      <p:sp>
        <p:nvSpPr>
          <p:cNvPr id="7" name="Freeform 7">
            <a:extLst>
              <a:ext uri="{C183D7F6-B498-43B3-948B-1728B52AA6E4}">
                <adec:decorative xmlns:adec="http://schemas.microsoft.com/office/drawing/2017/decorative" xmlns="" val="1"/>
              </a:ext>
            </a:extLst>
          </p:cNvPr>
          <p:cNvSpPr/>
          <p:nvPr/>
        </p:nvSpPr>
        <p:spPr>
          <a:xfrm>
            <a:off x="319526" y="266700"/>
            <a:ext cx="779824" cy="876597"/>
          </a:xfrm>
          <a:custGeom>
            <a:avLst/>
            <a:gdLst/>
            <a:ahLst/>
            <a:cxnLst/>
            <a:rect l="l" t="t" r="r" b="b"/>
            <a:pathLst>
              <a:path w="2784671" h="2997200">
                <a:moveTo>
                  <a:pt x="0" y="0"/>
                </a:moveTo>
                <a:lnTo>
                  <a:pt x="2784671" y="0"/>
                </a:lnTo>
                <a:lnTo>
                  <a:pt x="2784671" y="2997200"/>
                </a:lnTo>
                <a:lnTo>
                  <a:pt x="0" y="29972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8" name="Freeform 8"/>
          <p:cNvSpPr/>
          <p:nvPr/>
        </p:nvSpPr>
        <p:spPr>
          <a:xfrm>
            <a:off x="16159949" y="0"/>
            <a:ext cx="2198701" cy="1714041"/>
          </a:xfrm>
          <a:custGeom>
            <a:avLst/>
            <a:gdLst/>
            <a:ahLst/>
            <a:cxnLst/>
            <a:rect l="l" t="t" r="r" b="b"/>
            <a:pathLst>
              <a:path w="2198701" h="1714041">
                <a:moveTo>
                  <a:pt x="0" y="0"/>
                </a:moveTo>
                <a:lnTo>
                  <a:pt x="2198702" y="0"/>
                </a:lnTo>
                <a:lnTo>
                  <a:pt x="2198702" y="1714041"/>
                </a:lnTo>
                <a:lnTo>
                  <a:pt x="0" y="1714041"/>
                </a:lnTo>
                <a:lnTo>
                  <a:pt x="0" y="0"/>
                </a:lnTo>
                <a:close/>
              </a:path>
            </a:pathLst>
          </a:custGeom>
          <a:blipFill>
            <a:blip r:embed="rId8"/>
            <a:stretch>
              <a:fillRect/>
            </a:stretch>
          </a:blipFill>
        </p:spPr>
        <p:txBody>
          <a:bodyPr/>
          <a:lstStyle/>
          <a:p>
            <a:endParaRPr lang="he-IL"/>
          </a:p>
        </p:txBody>
      </p:sp>
      <p:sp>
        <p:nvSpPr>
          <p:cNvPr id="9" name="Freeform 9"/>
          <p:cNvSpPr/>
          <p:nvPr/>
        </p:nvSpPr>
        <p:spPr>
          <a:xfrm>
            <a:off x="0" y="8844724"/>
            <a:ext cx="2198701" cy="1714041"/>
          </a:xfrm>
          <a:custGeom>
            <a:avLst/>
            <a:gdLst/>
            <a:ahLst/>
            <a:cxnLst/>
            <a:rect l="l" t="t" r="r" b="b"/>
            <a:pathLst>
              <a:path w="2198701" h="1714041">
                <a:moveTo>
                  <a:pt x="0" y="0"/>
                </a:moveTo>
                <a:lnTo>
                  <a:pt x="2198701" y="0"/>
                </a:lnTo>
                <a:lnTo>
                  <a:pt x="2198701" y="1714041"/>
                </a:lnTo>
                <a:lnTo>
                  <a:pt x="0" y="1714041"/>
                </a:lnTo>
                <a:lnTo>
                  <a:pt x="0" y="0"/>
                </a:lnTo>
                <a:close/>
              </a:path>
            </a:pathLst>
          </a:custGeom>
          <a:blipFill>
            <a:blip r:embed="rId8"/>
            <a:stretch>
              <a:fillRect/>
            </a:stretch>
          </a:blipFill>
        </p:spPr>
        <p:txBody>
          <a:bodyPr/>
          <a:lstStyle/>
          <a:p>
            <a:endParaRPr lang="he-IL"/>
          </a:p>
        </p:txBody>
      </p:sp>
      <p:sp>
        <p:nvSpPr>
          <p:cNvPr id="11" name="TextBox 11">
            <a:extLst>
              <a:ext uri="{FF2B5EF4-FFF2-40B4-BE49-F238E27FC236}">
                <a16:creationId xmlns:a16="http://schemas.microsoft.com/office/drawing/2014/main" id="{80699CB1-3198-EEFE-DAE0-9B5D37B77302}"/>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5121763" y="-6031534"/>
            <a:ext cx="7006105" cy="8181227"/>
          </a:xfrm>
          <a:custGeom>
            <a:avLst/>
            <a:gdLst/>
            <a:ahLst/>
            <a:cxnLst/>
            <a:rect l="l" t="t" r="r" b="b"/>
            <a:pathLst>
              <a:path w="7006105" h="8181227">
                <a:moveTo>
                  <a:pt x="0" y="0"/>
                </a:moveTo>
                <a:lnTo>
                  <a:pt x="7006105" y="0"/>
                </a:lnTo>
                <a:lnTo>
                  <a:pt x="7006105" y="8181227"/>
                </a:lnTo>
                <a:lnTo>
                  <a:pt x="0" y="818122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6" name="Freeform 6"/>
          <p:cNvSpPr/>
          <p:nvPr/>
        </p:nvSpPr>
        <p:spPr>
          <a:xfrm rot="-1725337">
            <a:off x="15892202" y="8640463"/>
            <a:ext cx="775283" cy="775283"/>
          </a:xfrm>
          <a:custGeom>
            <a:avLst/>
            <a:gdLst/>
            <a:ahLst/>
            <a:cxnLst/>
            <a:rect l="l" t="t" r="r" b="b"/>
            <a:pathLst>
              <a:path w="775283" h="775283">
                <a:moveTo>
                  <a:pt x="0" y="0"/>
                </a:moveTo>
                <a:lnTo>
                  <a:pt x="775284" y="0"/>
                </a:lnTo>
                <a:lnTo>
                  <a:pt x="775284" y="775283"/>
                </a:lnTo>
                <a:lnTo>
                  <a:pt x="0" y="775283"/>
                </a:lnTo>
                <a:lnTo>
                  <a:pt x="0" y="0"/>
                </a:lnTo>
                <a:close/>
              </a:path>
            </a:pathLst>
          </a:custGeom>
          <a:blipFill>
            <a:blip r:embed="rId4"/>
            <a:stretch>
              <a:fillRect/>
            </a:stretch>
          </a:blipFill>
        </p:spPr>
        <p:txBody>
          <a:bodyPr/>
          <a:lstStyle/>
          <a:p>
            <a:endParaRPr lang="he-IL"/>
          </a:p>
        </p:txBody>
      </p:sp>
      <p:sp>
        <p:nvSpPr>
          <p:cNvPr id="7" name="Freeform 7"/>
          <p:cNvSpPr/>
          <p:nvPr/>
        </p:nvSpPr>
        <p:spPr>
          <a:xfrm rot="648580">
            <a:off x="15651784" y="9406248"/>
            <a:ext cx="533233" cy="838185"/>
          </a:xfrm>
          <a:custGeom>
            <a:avLst/>
            <a:gdLst/>
            <a:ahLst/>
            <a:cxnLst/>
            <a:rect l="l" t="t" r="r" b="b"/>
            <a:pathLst>
              <a:path w="533233" h="838185">
                <a:moveTo>
                  <a:pt x="0" y="0"/>
                </a:moveTo>
                <a:lnTo>
                  <a:pt x="533233" y="0"/>
                </a:lnTo>
                <a:lnTo>
                  <a:pt x="533233" y="838185"/>
                </a:lnTo>
                <a:lnTo>
                  <a:pt x="0" y="838185"/>
                </a:lnTo>
                <a:lnTo>
                  <a:pt x="0" y="0"/>
                </a:lnTo>
                <a:close/>
              </a:path>
            </a:pathLst>
          </a:custGeom>
          <a:blipFill>
            <a:blip r:embed="rId4"/>
            <a:stretch>
              <a:fillRect l="-28594" r="-28594"/>
            </a:stretch>
          </a:blipFill>
        </p:spPr>
        <p:txBody>
          <a:bodyPr/>
          <a:lstStyle/>
          <a:p>
            <a:endParaRPr lang="he-IL"/>
          </a:p>
        </p:txBody>
      </p:sp>
      <p:sp>
        <p:nvSpPr>
          <p:cNvPr id="10" name="TextBox 10"/>
          <p:cNvSpPr txBox="1"/>
          <p:nvPr/>
        </p:nvSpPr>
        <p:spPr>
          <a:xfrm>
            <a:off x="3088184" y="48278"/>
            <a:ext cx="12111633" cy="1141466"/>
          </a:xfrm>
          <a:prstGeom prst="rect">
            <a:avLst/>
          </a:prstGeom>
        </p:spPr>
        <p:txBody>
          <a:bodyPr lIns="0" tIns="0" rIns="0" bIns="0" rtlCol="0" anchor="t">
            <a:spAutoFit/>
          </a:bodyPr>
          <a:lstStyle/>
          <a:p>
            <a:pPr algn="ctr">
              <a:lnSpc>
                <a:spcPts val="9799"/>
              </a:lnSpc>
              <a:spcBef>
                <a:spcPct val="0"/>
              </a:spcBef>
            </a:pPr>
            <a:r>
              <a:rPr lang="en-US" sz="5600" dirty="0">
                <a:solidFill>
                  <a:schemeClr val="accent3">
                    <a:lumMod val="50000"/>
                  </a:schemeClr>
                </a:solidFill>
                <a:latin typeface="Calistoga"/>
                <a:ea typeface="Calistoga"/>
                <a:cs typeface="Calistoga"/>
                <a:sym typeface="Calistoga"/>
              </a:rPr>
              <a:t>Research Engineering process</a:t>
            </a:r>
          </a:p>
        </p:txBody>
      </p:sp>
      <p:sp>
        <p:nvSpPr>
          <p:cNvPr id="11" name="TextBox 11">
            <a:extLst>
              <a:ext uri="{FF2B5EF4-FFF2-40B4-BE49-F238E27FC236}">
                <a16:creationId xmlns:a16="http://schemas.microsoft.com/office/drawing/2014/main" id="{10F12B49-0C83-75EA-730E-53EF4E28C3F9}"/>
              </a:ext>
            </a:extLst>
          </p:cNvPr>
          <p:cNvSpPr txBox="1"/>
          <p:nvPr/>
        </p:nvSpPr>
        <p:spPr>
          <a:xfrm>
            <a:off x="17187434" y="9554427"/>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11</a:t>
            </a:r>
          </a:p>
        </p:txBody>
      </p:sp>
      <p:pic>
        <p:nvPicPr>
          <p:cNvPr id="35" name="תמונה 34" descr="תמונה שמכילה טקסט, צילום מסך, גופן, כלי&#10;&#10;תוכן בינה מלאכותית גנרטיבית עשוי להיות שגוי.">
            <a:extLst>
              <a:ext uri="{FF2B5EF4-FFF2-40B4-BE49-F238E27FC236}">
                <a16:creationId xmlns:a16="http://schemas.microsoft.com/office/drawing/2014/main" id="{5EE3258A-E0C1-2135-F580-60944D4716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4434" y="1258333"/>
            <a:ext cx="16239132" cy="9039728"/>
          </a:xfrm>
          <a:prstGeom prst="rect">
            <a:avLst/>
          </a:prstGeom>
        </p:spPr>
      </p:pic>
      <p:sp>
        <p:nvSpPr>
          <p:cNvPr id="36" name="Freeform 3">
            <a:extLst>
              <a:ext uri="{FF2B5EF4-FFF2-40B4-BE49-F238E27FC236}">
                <a16:creationId xmlns:a16="http://schemas.microsoft.com/office/drawing/2014/main" id="{6250FAFD-9E52-2F0F-B6C0-A3808B42494C}"/>
              </a:ext>
              <a:ext uri="{C183D7F6-B498-43B3-948B-1728B52AA6E4}">
                <adec:decorative xmlns:adec="http://schemas.microsoft.com/office/drawing/2017/decorative" xmlns="" val="1"/>
              </a:ext>
            </a:extLst>
          </p:cNvPr>
          <p:cNvSpPr/>
          <p:nvPr/>
        </p:nvSpPr>
        <p:spPr>
          <a:xfrm rot="908262">
            <a:off x="15963769" y="2713998"/>
            <a:ext cx="6396631" cy="8668054"/>
          </a:xfrm>
          <a:custGeom>
            <a:avLst/>
            <a:gdLst/>
            <a:ahLst/>
            <a:cxnLst/>
            <a:rect l="l" t="t" r="r" b="b"/>
            <a:pathLst>
              <a:path w="6396631" h="6638014">
                <a:moveTo>
                  <a:pt x="0" y="0"/>
                </a:moveTo>
                <a:lnTo>
                  <a:pt x="6396632" y="0"/>
                </a:lnTo>
                <a:lnTo>
                  <a:pt x="6396632" y="6638013"/>
                </a:lnTo>
                <a:lnTo>
                  <a:pt x="0" y="663801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pic>
        <p:nvPicPr>
          <p:cNvPr id="37" name="תמונה 3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95400" y="2579259"/>
            <a:ext cx="5204274" cy="2429745"/>
          </a:xfrm>
          <a:prstGeom prst="rect">
            <a:avLst/>
          </a:prstGeom>
          <a:ln>
            <a:noFill/>
          </a:ln>
          <a:effectLst>
            <a:outerShdw blurRad="190500" algn="tl" rotWithShape="0">
              <a:srgbClr val="000000">
                <a:alpha val="70000"/>
              </a:srgbClr>
            </a:outerShdw>
          </a:effectLst>
        </p:spPr>
      </p:pic>
      <p:sp>
        <p:nvSpPr>
          <p:cNvPr id="38" name="TextBox 32"/>
          <p:cNvSpPr txBox="1"/>
          <p:nvPr/>
        </p:nvSpPr>
        <p:spPr>
          <a:xfrm>
            <a:off x="1374120" y="1779701"/>
            <a:ext cx="3428128" cy="584775"/>
          </a:xfrm>
          <a:prstGeom prst="rect">
            <a:avLst/>
          </a:prstGeom>
          <a:noFill/>
        </p:spPr>
        <p:txBody>
          <a:bodyPr wrap="square" rtlCol="1">
            <a:spAutoFit/>
          </a:bodyPr>
          <a:lstStyle/>
          <a:p>
            <a:r>
              <a:rPr lang="en-US" sz="3200" b="1" dirty="0">
                <a:latin typeface="Public Sans" panose="020B0604020202020204" charset="0"/>
              </a:rPr>
              <a:t>Pilot Study:</a:t>
            </a:r>
            <a:endParaRPr lang="he-IL" sz="3200" b="1" dirty="0">
              <a:latin typeface="Public Sans" panose="020B0604020202020204" charset="0"/>
            </a:endParaRPr>
          </a:p>
        </p:txBody>
      </p:sp>
      <p:sp>
        <p:nvSpPr>
          <p:cNvPr id="40" name="Freeform 3">
            <a:extLst>
              <a:ext uri="{FF2B5EF4-FFF2-40B4-BE49-F238E27FC236}">
                <a16:creationId xmlns:a16="http://schemas.microsoft.com/office/drawing/2014/main" id="{E2053EAC-D53F-3D9D-47E4-497EE01E0105}"/>
              </a:ext>
              <a:ext uri="{C183D7F6-B498-43B3-948B-1728B52AA6E4}">
                <adec:decorative xmlns:adec="http://schemas.microsoft.com/office/drawing/2017/decorative" xmlns="" val="1"/>
              </a:ext>
            </a:extLst>
          </p:cNvPr>
          <p:cNvSpPr/>
          <p:nvPr/>
        </p:nvSpPr>
        <p:spPr>
          <a:xfrm rot="892882">
            <a:off x="-4884255" y="4282220"/>
            <a:ext cx="6396631" cy="8668054"/>
          </a:xfrm>
          <a:custGeom>
            <a:avLst/>
            <a:gdLst/>
            <a:ahLst/>
            <a:cxnLst/>
            <a:rect l="l" t="t" r="r" b="b"/>
            <a:pathLst>
              <a:path w="6396631" h="6638014">
                <a:moveTo>
                  <a:pt x="0" y="0"/>
                </a:moveTo>
                <a:lnTo>
                  <a:pt x="6396632" y="0"/>
                </a:lnTo>
                <a:lnTo>
                  <a:pt x="6396632" y="6638013"/>
                </a:lnTo>
                <a:lnTo>
                  <a:pt x="0" y="663801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7259300" y="128825"/>
            <a:ext cx="836066" cy="899875"/>
          </a:xfrm>
          <a:custGeom>
            <a:avLst/>
            <a:gdLst/>
            <a:ahLst/>
            <a:cxnLst/>
            <a:rect l="l" t="t" r="r" b="b"/>
            <a:pathLst>
              <a:path w="836066" h="899875">
                <a:moveTo>
                  <a:pt x="0" y="0"/>
                </a:moveTo>
                <a:lnTo>
                  <a:pt x="836066" y="0"/>
                </a:lnTo>
                <a:lnTo>
                  <a:pt x="836066" y="899875"/>
                </a:lnTo>
                <a:lnTo>
                  <a:pt x="0" y="8998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0" y="100748"/>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sp>
        <p:nvSpPr>
          <p:cNvPr id="8" name="TextBox 8"/>
          <p:cNvSpPr txBox="1"/>
          <p:nvPr/>
        </p:nvSpPr>
        <p:spPr>
          <a:xfrm>
            <a:off x="2914769" y="188199"/>
            <a:ext cx="11738245" cy="1006814"/>
          </a:xfrm>
          <a:prstGeom prst="rect">
            <a:avLst/>
          </a:prstGeom>
        </p:spPr>
        <p:txBody>
          <a:bodyPr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Research Model</a:t>
            </a:r>
          </a:p>
        </p:txBody>
      </p:sp>
      <p:sp>
        <p:nvSpPr>
          <p:cNvPr id="9" name="TextBox 9"/>
          <p:cNvSpPr txBox="1"/>
          <p:nvPr/>
        </p:nvSpPr>
        <p:spPr>
          <a:xfrm>
            <a:off x="0" y="9296500"/>
            <a:ext cx="18119102" cy="1160959"/>
          </a:xfrm>
          <a:prstGeom prst="rect">
            <a:avLst/>
          </a:prstGeom>
        </p:spPr>
        <p:txBody>
          <a:bodyPr wrap="square" lIns="0" tIns="0" rIns="0" bIns="0" rtlCol="0" anchor="t">
            <a:spAutoFit/>
          </a:bodyPr>
          <a:lstStyle/>
          <a:p>
            <a:pPr>
              <a:lnSpc>
                <a:spcPts val="3220"/>
              </a:lnSpc>
            </a:pPr>
            <a:r>
              <a:rPr lang="en-US" sz="1100" dirty="0">
                <a:latin typeface="Public Sans" panose="020B0604020202020204" charset="0"/>
              </a:rPr>
              <a:t>Ahmad Feisal, A. A., &amp; Singh, S. K. S. (2025). Social and emotional learning (SEL) awareness of undergraduates in Malaysia: A case of a public university in Malaysia. International Journal of Modern Education, 7(25), 633–646. </a:t>
            </a:r>
            <a:r>
              <a:rPr lang="en-US" sz="1100" u="sng" dirty="0">
                <a:latin typeface="Public Sans" panose="020B0604020202020204" charset="0"/>
                <a:hlinkClick r:id="rId6"/>
              </a:rPr>
              <a:t>https://doi.org/10.35631/IJMOE.725043</a:t>
            </a:r>
            <a:endParaRPr lang="en-US" sz="1100" u="sng" dirty="0">
              <a:latin typeface="Public Sans" panose="020B0604020202020204" charset="0"/>
            </a:endParaRPr>
          </a:p>
          <a:p>
            <a:pPr>
              <a:lnSpc>
                <a:spcPts val="3220"/>
              </a:lnSpc>
            </a:pPr>
            <a:r>
              <a:rPr lang="en-US" sz="1100" dirty="0" err="1">
                <a:latin typeface="Public Sans" panose="020B0604020202020204" charset="0"/>
              </a:rPr>
              <a:t>Schrepp</a:t>
            </a:r>
            <a:r>
              <a:rPr lang="en-US" sz="1100" dirty="0">
                <a:latin typeface="Public Sans" panose="020B0604020202020204" charset="0"/>
              </a:rPr>
              <a:t>, M., Hinderks, A., &amp; </a:t>
            </a:r>
            <a:r>
              <a:rPr lang="en-US" sz="1100" dirty="0" err="1">
                <a:latin typeface="Public Sans" panose="020B0604020202020204" charset="0"/>
              </a:rPr>
              <a:t>Thomaschewski</a:t>
            </a:r>
            <a:r>
              <a:rPr lang="en-US" sz="1100" dirty="0">
                <a:latin typeface="Public Sans" panose="020B0604020202020204" charset="0"/>
              </a:rPr>
              <a:t>, J. (2017). Design and evaluation of a short version of the User Experience Questionnaire (UEQ-S). International Journal of Interactive Multimedia and Artificial Intelligence, 4(6), 103–108. </a:t>
            </a:r>
            <a:r>
              <a:rPr lang="en-US" sz="1100" u="sng" dirty="0">
                <a:latin typeface="Public Sans" panose="020B0604020202020204" charset="0"/>
                <a:hlinkClick r:id="rId7"/>
              </a:rPr>
              <a:t>https://doi.org/10.9781/ijimai.2017.09.001</a:t>
            </a:r>
            <a:endParaRPr lang="en-US" sz="1100" u="sng" dirty="0">
              <a:latin typeface="Public Sans" panose="020B0604020202020204" charset="0"/>
            </a:endParaRPr>
          </a:p>
          <a:p>
            <a:pPr>
              <a:lnSpc>
                <a:spcPts val="3220"/>
              </a:lnSpc>
            </a:pPr>
            <a:endParaRPr lang="en-US" sz="1100" dirty="0">
              <a:solidFill>
                <a:srgbClr val="000000"/>
              </a:solidFill>
              <a:latin typeface="Public Sans"/>
              <a:ea typeface="Public Sans"/>
              <a:cs typeface="Public Sans"/>
              <a:sym typeface="Public Sans"/>
            </a:endParaRPr>
          </a:p>
        </p:txBody>
      </p:sp>
      <p:pic>
        <p:nvPicPr>
          <p:cNvPr id="13" name="תמונה 12">
            <a:extLst>
              <a:ext uri="{FF2B5EF4-FFF2-40B4-BE49-F238E27FC236}">
                <a16:creationId xmlns:a16="http://schemas.microsoft.com/office/drawing/2014/main" id="{00BCC3E3-7E8B-D609-6C19-AF0BB476F4E3}"/>
              </a:ext>
            </a:extLst>
          </p:cNvPr>
          <p:cNvPicPr>
            <a:picLocks noChangeAspect="1"/>
          </p:cNvPicPr>
          <p:nvPr/>
        </p:nvPicPr>
        <p:blipFill>
          <a:blip r:embed="rId8"/>
          <a:stretch>
            <a:fillRect/>
          </a:stretch>
        </p:blipFill>
        <p:spPr>
          <a:xfrm>
            <a:off x="14782800" y="8871898"/>
            <a:ext cx="1215389" cy="211372"/>
          </a:xfrm>
          <a:prstGeom prst="rect">
            <a:avLst/>
          </a:prstGeom>
        </p:spPr>
      </p:pic>
      <p:pic>
        <p:nvPicPr>
          <p:cNvPr id="17" name="תמונה 16" descr="תמונה שמכילה טקסט, צילום מסך, גופן, עיצוב&#10;&#10;תוכן בינה מלאכותית גנרטיבית עשוי להיות שגוי.">
            <a:extLst>
              <a:ext uri="{FF2B5EF4-FFF2-40B4-BE49-F238E27FC236}">
                <a16:creationId xmlns:a16="http://schemas.microsoft.com/office/drawing/2014/main" id="{91282898-3B74-E053-D3BC-97B4216A1F2E}"/>
              </a:ext>
            </a:extLst>
          </p:cNvPr>
          <p:cNvPicPr>
            <a:picLocks noChangeAspect="1"/>
          </p:cNvPicPr>
          <p:nvPr/>
        </p:nvPicPr>
        <p:blipFill>
          <a:blip r:embed="rId9"/>
          <a:srcRect t="2735"/>
          <a:stretch>
            <a:fillRect/>
          </a:stretch>
        </p:blipFill>
        <p:spPr>
          <a:xfrm>
            <a:off x="489329" y="1382671"/>
            <a:ext cx="17309341" cy="7709139"/>
          </a:xfrm>
          <a:prstGeom prst="rect">
            <a:avLst/>
          </a:prstGeom>
        </p:spPr>
      </p:pic>
      <p:pic>
        <p:nvPicPr>
          <p:cNvPr id="21" name="תמונה 20">
            <a:extLst>
              <a:ext uri="{FF2B5EF4-FFF2-40B4-BE49-F238E27FC236}">
                <a16:creationId xmlns:a16="http://schemas.microsoft.com/office/drawing/2014/main" id="{6B5BE64E-D29C-C7A2-4047-106A6C330553}"/>
              </a:ext>
            </a:extLst>
          </p:cNvPr>
          <p:cNvPicPr>
            <a:picLocks noChangeAspect="1"/>
          </p:cNvPicPr>
          <p:nvPr/>
        </p:nvPicPr>
        <p:blipFill>
          <a:blip r:embed="rId10"/>
          <a:stretch>
            <a:fillRect/>
          </a:stretch>
        </p:blipFill>
        <p:spPr>
          <a:xfrm>
            <a:off x="489329" y="1382672"/>
            <a:ext cx="1519661" cy="1788282"/>
          </a:xfrm>
          <a:prstGeom prst="rect">
            <a:avLst/>
          </a:prstGeom>
        </p:spPr>
      </p:pic>
      <p:sp>
        <p:nvSpPr>
          <p:cNvPr id="4" name="TextBox 11">
            <a:extLst>
              <a:ext uri="{FF2B5EF4-FFF2-40B4-BE49-F238E27FC236}">
                <a16:creationId xmlns:a16="http://schemas.microsoft.com/office/drawing/2014/main" id="{1C3B871D-E820-029B-4C36-47316B1B5654}"/>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5" name="Freeform 5">
            <a:extLst>
              <a:ext uri="{C183D7F6-B498-43B3-948B-1728B52AA6E4}">
                <adec:decorative xmlns:adec="http://schemas.microsoft.com/office/drawing/2017/decorative" xmlns="" val="1"/>
              </a:ext>
            </a:extLst>
          </p:cNvPr>
          <p:cNvSpPr/>
          <p:nvPr/>
        </p:nvSpPr>
        <p:spPr>
          <a:xfrm>
            <a:off x="17448059" y="128825"/>
            <a:ext cx="836066" cy="899875"/>
          </a:xfrm>
          <a:custGeom>
            <a:avLst/>
            <a:gdLst/>
            <a:ahLst/>
            <a:cxnLst/>
            <a:rect l="l" t="t" r="r" b="b"/>
            <a:pathLst>
              <a:path w="836066" h="899875">
                <a:moveTo>
                  <a:pt x="0" y="0"/>
                </a:moveTo>
                <a:lnTo>
                  <a:pt x="836066" y="0"/>
                </a:lnTo>
                <a:lnTo>
                  <a:pt x="836066" y="899875"/>
                </a:lnTo>
                <a:lnTo>
                  <a:pt x="0" y="8998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9" name="TextBox 9"/>
          <p:cNvSpPr txBox="1"/>
          <p:nvPr/>
        </p:nvSpPr>
        <p:spPr>
          <a:xfrm>
            <a:off x="3351510" y="262196"/>
            <a:ext cx="10655765" cy="1006814"/>
          </a:xfrm>
          <a:prstGeom prst="rect">
            <a:avLst/>
          </a:prstGeom>
        </p:spPr>
        <p:txBody>
          <a:bodyPr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Research User Journey</a:t>
            </a:r>
          </a:p>
        </p:txBody>
      </p:sp>
      <p:pic>
        <p:nvPicPr>
          <p:cNvPr id="17" name="תמונה 16" descr="תמונה שמכילה טקסט, צילום מסך, גופן, מספר&#10;&#10;תוכן בינה מלאכותית גנרטיבית עשוי להיות שגוי.">
            <a:extLst>
              <a:ext uri="{FF2B5EF4-FFF2-40B4-BE49-F238E27FC236}">
                <a16:creationId xmlns:a16="http://schemas.microsoft.com/office/drawing/2014/main" id="{4B2B4535-D69A-C038-C5EE-A29B29A05B68}"/>
              </a:ext>
            </a:extLst>
          </p:cNvPr>
          <p:cNvPicPr>
            <a:picLocks noChangeAspect="1"/>
          </p:cNvPicPr>
          <p:nvPr/>
        </p:nvPicPr>
        <p:blipFill>
          <a:blip r:embed="rId4"/>
          <a:stretch>
            <a:fillRect/>
          </a:stretch>
        </p:blipFill>
        <p:spPr>
          <a:xfrm>
            <a:off x="325035" y="1417599"/>
            <a:ext cx="17928552" cy="8459381"/>
          </a:xfrm>
          <a:prstGeom prst="rect">
            <a:avLst/>
          </a:prstGeom>
        </p:spPr>
      </p:pic>
      <p:sp>
        <p:nvSpPr>
          <p:cNvPr id="18" name="Freeform 2">
            <a:extLst>
              <a:ext uri="{C183D7F6-B498-43B3-948B-1728B52AA6E4}">
                <adec:decorative xmlns:adec="http://schemas.microsoft.com/office/drawing/2017/decorative" xmlns="" val="1"/>
              </a:ext>
            </a:extLst>
          </p:cNvPr>
          <p:cNvSpPr/>
          <p:nvPr/>
        </p:nvSpPr>
        <p:spPr>
          <a:xfrm>
            <a:off x="12573" y="801529"/>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19" name="Freeform 3">
            <a:extLst>
              <a:ext uri="{C183D7F6-B498-43B3-948B-1728B52AA6E4}">
                <adec:decorative xmlns:adec="http://schemas.microsoft.com/office/drawing/2017/decorative" xmlns="" val="1"/>
              </a:ext>
            </a:extLst>
          </p:cNvPr>
          <p:cNvSpPr/>
          <p:nvPr/>
        </p:nvSpPr>
        <p:spPr>
          <a:xfrm>
            <a:off x="-248211" y="9261601"/>
            <a:ext cx="1146492" cy="1079787"/>
          </a:xfrm>
          <a:custGeom>
            <a:avLst/>
            <a:gdLst/>
            <a:ahLst/>
            <a:cxnLst/>
            <a:rect l="l" t="t" r="r" b="b"/>
            <a:pathLst>
              <a:path w="1146492" h="1079787">
                <a:moveTo>
                  <a:pt x="0" y="0"/>
                </a:moveTo>
                <a:lnTo>
                  <a:pt x="1146492" y="0"/>
                </a:lnTo>
                <a:lnTo>
                  <a:pt x="1146492" y="1079786"/>
                </a:lnTo>
                <a:lnTo>
                  <a:pt x="0" y="1079786"/>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20" name="Freeform 4">
            <a:extLst>
              <a:ext uri="{C183D7F6-B498-43B3-948B-1728B52AA6E4}">
                <adec:decorative xmlns:adec="http://schemas.microsoft.com/office/drawing/2017/decorative" xmlns="" val="1"/>
              </a:ext>
            </a:extLst>
          </p:cNvPr>
          <p:cNvSpPr/>
          <p:nvPr/>
        </p:nvSpPr>
        <p:spPr>
          <a:xfrm>
            <a:off x="-175652" y="6972300"/>
            <a:ext cx="1001374" cy="1126289"/>
          </a:xfrm>
          <a:custGeom>
            <a:avLst/>
            <a:gdLst/>
            <a:ahLst/>
            <a:cxnLst/>
            <a:rect l="l" t="t" r="r" b="b"/>
            <a:pathLst>
              <a:path w="1001374" h="1126289">
                <a:moveTo>
                  <a:pt x="0" y="0"/>
                </a:moveTo>
                <a:lnTo>
                  <a:pt x="1001374" y="0"/>
                </a:lnTo>
                <a:lnTo>
                  <a:pt x="1001374" y="1126289"/>
                </a:lnTo>
                <a:lnTo>
                  <a:pt x="0" y="1126289"/>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21" name="TextBox 11">
            <a:extLst>
              <a:ext uri="{FF2B5EF4-FFF2-40B4-BE49-F238E27FC236}">
                <a16:creationId xmlns:a16="http://schemas.microsoft.com/office/drawing/2014/main" id="{DE6A151D-53AD-AD03-AE0C-456EB0CCEC9B}"/>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13</a:t>
            </a:r>
          </a:p>
        </p:txBody>
      </p:sp>
      <p:sp>
        <p:nvSpPr>
          <p:cNvPr id="22" name="Freeform 6">
            <a:extLst>
              <a:ext uri="{C183D7F6-B498-43B3-948B-1728B52AA6E4}">
                <adec:decorative xmlns:adec="http://schemas.microsoft.com/office/drawing/2017/decorative" xmlns="" val="1"/>
              </a:ext>
            </a:extLst>
          </p:cNvPr>
          <p:cNvSpPr/>
          <p:nvPr/>
        </p:nvSpPr>
        <p:spPr>
          <a:xfrm>
            <a:off x="17729449" y="7960680"/>
            <a:ext cx="1024825" cy="1041873"/>
          </a:xfrm>
          <a:custGeom>
            <a:avLst/>
            <a:gdLst/>
            <a:ahLst/>
            <a:cxnLst/>
            <a:rect l="l" t="t" r="r" b="b"/>
            <a:pathLst>
              <a:path w="1024825" h="1041873">
                <a:moveTo>
                  <a:pt x="0" y="0"/>
                </a:moveTo>
                <a:lnTo>
                  <a:pt x="1024824" y="0"/>
                </a:lnTo>
                <a:lnTo>
                  <a:pt x="1024824" y="1041873"/>
                </a:lnTo>
                <a:lnTo>
                  <a:pt x="0" y="1041873"/>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txBody>
          <a:bodyPr/>
          <a:lstStyle/>
          <a:p>
            <a:endParaRPr lang="he-IL" b="1" dirty="0"/>
          </a:p>
        </p:txBody>
      </p:sp>
      <p:pic>
        <p:nvPicPr>
          <p:cNvPr id="26" name="תמונה 25">
            <a:extLst>
              <a:ext uri="{FF2B5EF4-FFF2-40B4-BE49-F238E27FC236}">
                <a16:creationId xmlns:a16="http://schemas.microsoft.com/office/drawing/2014/main" id="{B2F864C5-4E71-FCA3-C76B-7AEEDFD0D4FA}"/>
              </a:ext>
            </a:extLst>
          </p:cNvPr>
          <p:cNvPicPr>
            <a:picLocks noChangeAspect="1"/>
          </p:cNvPicPr>
          <p:nvPr/>
        </p:nvPicPr>
        <p:blipFill>
          <a:blip r:embed="rId13"/>
          <a:stretch>
            <a:fillRect/>
          </a:stretch>
        </p:blipFill>
        <p:spPr>
          <a:xfrm>
            <a:off x="11887200" y="7960680"/>
            <a:ext cx="889773" cy="459237"/>
          </a:xfrm>
          <a:prstGeom prst="rect">
            <a:avLst/>
          </a:prstGeom>
        </p:spPr>
      </p:pic>
      <p:pic>
        <p:nvPicPr>
          <p:cNvPr id="27" name="תמונה 26">
            <a:extLst>
              <a:ext uri="{FF2B5EF4-FFF2-40B4-BE49-F238E27FC236}">
                <a16:creationId xmlns:a16="http://schemas.microsoft.com/office/drawing/2014/main" id="{4C33178F-2129-DAF9-37EE-6682B98CE00C}"/>
              </a:ext>
            </a:extLst>
          </p:cNvPr>
          <p:cNvPicPr>
            <a:picLocks noChangeAspect="1"/>
          </p:cNvPicPr>
          <p:nvPr/>
        </p:nvPicPr>
        <p:blipFill>
          <a:blip r:embed="rId13"/>
          <a:stretch>
            <a:fillRect/>
          </a:stretch>
        </p:blipFill>
        <p:spPr>
          <a:xfrm>
            <a:off x="12268200" y="2171700"/>
            <a:ext cx="228600" cy="5640391"/>
          </a:xfrm>
          <a:prstGeom prst="rect">
            <a:avLst/>
          </a:prstGeom>
        </p:spPr>
      </p:pic>
      <p:pic>
        <p:nvPicPr>
          <p:cNvPr id="29" name="תמונה 28">
            <a:extLst>
              <a:ext uri="{FF2B5EF4-FFF2-40B4-BE49-F238E27FC236}">
                <a16:creationId xmlns:a16="http://schemas.microsoft.com/office/drawing/2014/main" id="{7DAC368E-5BF6-847C-8266-6575870F17FE}"/>
              </a:ext>
            </a:extLst>
          </p:cNvPr>
          <p:cNvPicPr>
            <a:picLocks noChangeAspect="1"/>
          </p:cNvPicPr>
          <p:nvPr/>
        </p:nvPicPr>
        <p:blipFill>
          <a:blip r:embed="rId14"/>
          <a:stretch>
            <a:fillRect/>
          </a:stretch>
        </p:blipFill>
        <p:spPr>
          <a:xfrm>
            <a:off x="12263438" y="4838700"/>
            <a:ext cx="261668" cy="459236"/>
          </a:xfrm>
          <a:prstGeom prst="rect">
            <a:avLst/>
          </a:prstGeom>
        </p:spPr>
      </p:pic>
      <p:pic>
        <p:nvPicPr>
          <p:cNvPr id="35" name="תמונה 34" descr="תמונה שמכילה טקסט, גופן, לבן, סמל&#10;&#10;תוכן בינה מלאכותית גנרטיבית עשוי להיות שגוי.">
            <a:extLst>
              <a:ext uri="{FF2B5EF4-FFF2-40B4-BE49-F238E27FC236}">
                <a16:creationId xmlns:a16="http://schemas.microsoft.com/office/drawing/2014/main" id="{BAA510FB-9256-ACC2-A584-4D444EAC6302}"/>
              </a:ext>
            </a:extLst>
          </p:cNvPr>
          <p:cNvPicPr>
            <a:picLocks noChangeAspect="1"/>
          </p:cNvPicPr>
          <p:nvPr/>
        </p:nvPicPr>
        <p:blipFill>
          <a:blip r:embed="rId15"/>
          <a:stretch>
            <a:fillRect/>
          </a:stretch>
        </p:blipFill>
        <p:spPr>
          <a:xfrm>
            <a:off x="10223881" y="8026919"/>
            <a:ext cx="1971950" cy="1057423"/>
          </a:xfrm>
          <a:prstGeom prst="rect">
            <a:avLst/>
          </a:prstGeom>
        </p:spPr>
      </p:pic>
      <p:pic>
        <p:nvPicPr>
          <p:cNvPr id="37" name="תמונה 36">
            <a:extLst>
              <a:ext uri="{FF2B5EF4-FFF2-40B4-BE49-F238E27FC236}">
                <a16:creationId xmlns:a16="http://schemas.microsoft.com/office/drawing/2014/main" id="{A4B13A7E-AE87-6227-410B-B94F1EEB72AF}"/>
              </a:ext>
            </a:extLst>
          </p:cNvPr>
          <p:cNvPicPr>
            <a:picLocks noChangeAspect="1"/>
          </p:cNvPicPr>
          <p:nvPr/>
        </p:nvPicPr>
        <p:blipFill>
          <a:blip r:embed="rId16"/>
          <a:stretch>
            <a:fillRect/>
          </a:stretch>
        </p:blipFill>
        <p:spPr>
          <a:xfrm>
            <a:off x="11125200" y="7507246"/>
            <a:ext cx="2209800" cy="323895"/>
          </a:xfrm>
          <a:prstGeom prst="rect">
            <a:avLst/>
          </a:prstGeom>
        </p:spPr>
      </p:pic>
      <p:pic>
        <p:nvPicPr>
          <p:cNvPr id="38" name="תמונה 37">
            <a:extLst>
              <a:ext uri="{FF2B5EF4-FFF2-40B4-BE49-F238E27FC236}">
                <a16:creationId xmlns:a16="http://schemas.microsoft.com/office/drawing/2014/main" id="{13347ED5-774F-0614-F12C-C72C56F40500}"/>
              </a:ext>
            </a:extLst>
          </p:cNvPr>
          <p:cNvPicPr>
            <a:picLocks noChangeAspect="1"/>
          </p:cNvPicPr>
          <p:nvPr/>
        </p:nvPicPr>
        <p:blipFill>
          <a:blip r:embed="rId16"/>
          <a:stretch>
            <a:fillRect/>
          </a:stretch>
        </p:blipFill>
        <p:spPr>
          <a:xfrm>
            <a:off x="11353800" y="7960679"/>
            <a:ext cx="1684063" cy="784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7188036" y="61532"/>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0" y="9207213"/>
            <a:ext cx="1146492" cy="1079787"/>
          </a:xfrm>
          <a:custGeom>
            <a:avLst/>
            <a:gdLst/>
            <a:ahLst/>
            <a:cxnLst/>
            <a:rect l="l" t="t" r="r" b="b"/>
            <a:pathLst>
              <a:path w="1146492" h="1079787">
                <a:moveTo>
                  <a:pt x="0" y="0"/>
                </a:moveTo>
                <a:lnTo>
                  <a:pt x="1146492" y="0"/>
                </a:lnTo>
                <a:lnTo>
                  <a:pt x="1146492" y="1079787"/>
                </a:lnTo>
                <a:lnTo>
                  <a:pt x="0" y="107978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60834" y="156665"/>
            <a:ext cx="1024825" cy="1041873"/>
          </a:xfrm>
          <a:custGeom>
            <a:avLst/>
            <a:gdLst/>
            <a:ahLst/>
            <a:cxnLst/>
            <a:rect l="l" t="t" r="r" b="b"/>
            <a:pathLst>
              <a:path w="1024825" h="1041873">
                <a:moveTo>
                  <a:pt x="0" y="0"/>
                </a:moveTo>
                <a:lnTo>
                  <a:pt x="1024824" y="0"/>
                </a:lnTo>
                <a:lnTo>
                  <a:pt x="1024824" y="1041873"/>
                </a:lnTo>
                <a:lnTo>
                  <a:pt x="0" y="1041873"/>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7" name="TextBox 7"/>
          <p:cNvSpPr txBox="1"/>
          <p:nvPr/>
        </p:nvSpPr>
        <p:spPr>
          <a:xfrm>
            <a:off x="4343400" y="185128"/>
            <a:ext cx="10655765" cy="1006814"/>
          </a:xfrm>
          <a:prstGeom prst="rect">
            <a:avLst/>
          </a:prstGeom>
        </p:spPr>
        <p:txBody>
          <a:bodyPr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Use Case Diagram</a:t>
            </a:r>
          </a:p>
        </p:txBody>
      </p:sp>
      <p:sp>
        <p:nvSpPr>
          <p:cNvPr id="9" name="TextBox 11">
            <a:extLst>
              <a:ext uri="{FF2B5EF4-FFF2-40B4-BE49-F238E27FC236}">
                <a16:creationId xmlns:a16="http://schemas.microsoft.com/office/drawing/2014/main" id="{3D7EEBDF-3580-9D01-4C9D-EF2865DEAF31}"/>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14</a:t>
            </a:r>
          </a:p>
        </p:txBody>
      </p:sp>
      <p:pic>
        <p:nvPicPr>
          <p:cNvPr id="19" name="תמונה 18" descr="תמונה שמכילה לבן, עיצוב&#10;&#10;תוכן בינה מלאכותית גנרטיבית עשוי להיות שגוי.">
            <a:extLst>
              <a:ext uri="{FF2B5EF4-FFF2-40B4-BE49-F238E27FC236}">
                <a16:creationId xmlns:a16="http://schemas.microsoft.com/office/drawing/2014/main" id="{98ABC123-4F3D-02F6-59E7-C9D248DE993D}"/>
              </a:ext>
            </a:extLst>
          </p:cNvPr>
          <p:cNvPicPr>
            <a:picLocks noChangeAspect="1"/>
          </p:cNvPicPr>
          <p:nvPr/>
        </p:nvPicPr>
        <p:blipFill>
          <a:blip r:embed="rId9"/>
          <a:stretch>
            <a:fillRect/>
          </a:stretch>
        </p:blipFill>
        <p:spPr>
          <a:xfrm>
            <a:off x="3522585" y="1006878"/>
            <a:ext cx="1200318" cy="552527"/>
          </a:xfrm>
          <a:prstGeom prst="rect">
            <a:avLst/>
          </a:prstGeom>
        </p:spPr>
      </p:pic>
      <p:pic>
        <p:nvPicPr>
          <p:cNvPr id="21" name="תמונה 20" descr="תמונה שמכילה לבן, עיצוב&#10;&#10;תוכן בינה מלאכותית גנרטיבית עשוי להיות שגוי.">
            <a:extLst>
              <a:ext uri="{FF2B5EF4-FFF2-40B4-BE49-F238E27FC236}">
                <a16:creationId xmlns:a16="http://schemas.microsoft.com/office/drawing/2014/main" id="{479C3F50-3CD8-B544-2160-3C8AFFFB6ABC}"/>
              </a:ext>
            </a:extLst>
          </p:cNvPr>
          <p:cNvPicPr>
            <a:picLocks noChangeAspect="1"/>
          </p:cNvPicPr>
          <p:nvPr/>
        </p:nvPicPr>
        <p:blipFill>
          <a:blip r:embed="rId10"/>
          <a:stretch>
            <a:fillRect/>
          </a:stretch>
        </p:blipFill>
        <p:spPr>
          <a:xfrm>
            <a:off x="4343400" y="1143985"/>
            <a:ext cx="1967134" cy="523948"/>
          </a:xfrm>
          <a:prstGeom prst="rect">
            <a:avLst/>
          </a:prstGeom>
        </p:spPr>
      </p:pic>
      <p:pic>
        <p:nvPicPr>
          <p:cNvPr id="131" name="תמונה 130">
            <a:extLst>
              <a:ext uri="{FF2B5EF4-FFF2-40B4-BE49-F238E27FC236}">
                <a16:creationId xmlns:a16="http://schemas.microsoft.com/office/drawing/2014/main" id="{D0AC70E9-4C65-8426-A027-CB6006904820}"/>
              </a:ext>
            </a:extLst>
          </p:cNvPr>
          <p:cNvPicPr>
            <a:picLocks noChangeAspect="1"/>
          </p:cNvPicPr>
          <p:nvPr/>
        </p:nvPicPr>
        <p:blipFill>
          <a:blip r:embed="rId11"/>
          <a:stretch>
            <a:fillRect/>
          </a:stretch>
        </p:blipFill>
        <p:spPr>
          <a:xfrm>
            <a:off x="3278049" y="8412217"/>
            <a:ext cx="2831507" cy="228599"/>
          </a:xfrm>
          <a:prstGeom prst="rect">
            <a:avLst/>
          </a:prstGeom>
        </p:spPr>
      </p:pic>
      <p:pic>
        <p:nvPicPr>
          <p:cNvPr id="8" name="תמונה 7"/>
          <p:cNvPicPr>
            <a:picLocks noChangeAspect="1"/>
          </p:cNvPicPr>
          <p:nvPr/>
        </p:nvPicPr>
        <p:blipFill>
          <a:blip r:embed="rId12"/>
          <a:stretch>
            <a:fillRect/>
          </a:stretch>
        </p:blipFill>
        <p:spPr>
          <a:xfrm>
            <a:off x="2509153" y="516496"/>
            <a:ext cx="3053447" cy="1057423"/>
          </a:xfrm>
          <a:prstGeom prst="rect">
            <a:avLst/>
          </a:prstGeom>
        </p:spPr>
      </p:pic>
      <p:pic>
        <p:nvPicPr>
          <p:cNvPr id="6" name="תמונה 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24200" y="1181132"/>
            <a:ext cx="12725400" cy="9105868"/>
          </a:xfrm>
          <a:prstGeom prst="rect">
            <a:avLst/>
          </a:prstGeom>
        </p:spPr>
      </p:pic>
      <p:pic>
        <p:nvPicPr>
          <p:cNvPr id="10" name="תמונה 9"/>
          <p:cNvPicPr>
            <a:picLocks noChangeAspect="1"/>
          </p:cNvPicPr>
          <p:nvPr/>
        </p:nvPicPr>
        <p:blipFill>
          <a:blip r:embed="rId14"/>
          <a:stretch>
            <a:fillRect/>
          </a:stretch>
        </p:blipFill>
        <p:spPr>
          <a:xfrm>
            <a:off x="2667000" y="1158274"/>
            <a:ext cx="3208727" cy="495369"/>
          </a:xfrm>
          <a:prstGeom prst="rect">
            <a:avLst/>
          </a:prstGeom>
        </p:spPr>
      </p:pic>
      <p:pic>
        <p:nvPicPr>
          <p:cNvPr id="11" name="תמונה 10"/>
          <p:cNvPicPr>
            <a:picLocks noChangeAspect="1"/>
          </p:cNvPicPr>
          <p:nvPr/>
        </p:nvPicPr>
        <p:blipFill>
          <a:blip r:embed="rId15"/>
          <a:stretch>
            <a:fillRect/>
          </a:stretch>
        </p:blipFill>
        <p:spPr>
          <a:xfrm rot="10800000" flipV="1">
            <a:off x="8865722" y="1223481"/>
            <a:ext cx="2082385" cy="186220"/>
          </a:xfrm>
          <a:prstGeom prst="rect">
            <a:avLst/>
          </a:prstGeom>
        </p:spPr>
      </p:pic>
    </p:spTree>
    <p:extLst>
      <p:ext uri="{BB962C8B-B14F-4D97-AF65-F5344CB8AC3E}">
        <p14:creationId xmlns:p14="http://schemas.microsoft.com/office/powerpoint/2010/main" val="426873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6841267" y="8580530"/>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455454" y="410125"/>
            <a:ext cx="1146492" cy="1079787"/>
          </a:xfrm>
          <a:custGeom>
            <a:avLst/>
            <a:gdLst/>
            <a:ahLst/>
            <a:cxnLst/>
            <a:rect l="l" t="t" r="r" b="b"/>
            <a:pathLst>
              <a:path w="1146492" h="1079787">
                <a:moveTo>
                  <a:pt x="0" y="0"/>
                </a:moveTo>
                <a:lnTo>
                  <a:pt x="1146492" y="0"/>
                </a:lnTo>
                <a:lnTo>
                  <a:pt x="1146492" y="1079787"/>
                </a:lnTo>
                <a:lnTo>
                  <a:pt x="0" y="107978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a:off x="317252" y="9029343"/>
            <a:ext cx="1001374" cy="1126289"/>
          </a:xfrm>
          <a:custGeom>
            <a:avLst/>
            <a:gdLst/>
            <a:ahLst/>
            <a:cxnLst/>
            <a:rect l="l" t="t" r="r" b="b"/>
            <a:pathLst>
              <a:path w="1001374" h="1126289">
                <a:moveTo>
                  <a:pt x="0" y="0"/>
                </a:moveTo>
                <a:lnTo>
                  <a:pt x="1001374" y="0"/>
                </a:lnTo>
                <a:lnTo>
                  <a:pt x="1001374" y="1126289"/>
                </a:lnTo>
                <a:lnTo>
                  <a:pt x="0" y="1126289"/>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16841267" y="500081"/>
            <a:ext cx="836066" cy="899875"/>
          </a:xfrm>
          <a:custGeom>
            <a:avLst/>
            <a:gdLst/>
            <a:ahLst/>
            <a:cxnLst/>
            <a:rect l="l" t="t" r="r" b="b"/>
            <a:pathLst>
              <a:path w="836066" h="899875">
                <a:moveTo>
                  <a:pt x="0" y="0"/>
                </a:moveTo>
                <a:lnTo>
                  <a:pt x="836066" y="0"/>
                </a:lnTo>
                <a:lnTo>
                  <a:pt x="836066" y="899875"/>
                </a:lnTo>
                <a:lnTo>
                  <a:pt x="0" y="899875"/>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8" name="TextBox 8"/>
          <p:cNvSpPr txBox="1"/>
          <p:nvPr/>
        </p:nvSpPr>
        <p:spPr>
          <a:xfrm>
            <a:off x="715433" y="1850306"/>
            <a:ext cx="16857134" cy="1083161"/>
          </a:xfrm>
          <a:prstGeom prst="rect">
            <a:avLst/>
          </a:prstGeom>
        </p:spPr>
        <p:txBody>
          <a:bodyPr lIns="0" tIns="0" rIns="0" bIns="0" rtlCol="0" anchor="t">
            <a:spAutoFit/>
          </a:bodyPr>
          <a:lstStyle/>
          <a:p>
            <a:pPr algn="ctr">
              <a:lnSpc>
                <a:spcPts val="4339"/>
              </a:lnSpc>
            </a:pPr>
            <a:r>
              <a:rPr lang="en-US" sz="3099" dirty="0">
                <a:latin typeface="Public Sans"/>
                <a:ea typeface="Public Sans"/>
                <a:cs typeface="Public Sans"/>
                <a:sym typeface="Public Sans"/>
              </a:rPr>
              <a:t>Pilot study with four 4th-year software engineering students (3 experimental, 1 control; ages 20–25)</a:t>
            </a:r>
          </a:p>
        </p:txBody>
      </p:sp>
      <p:sp>
        <p:nvSpPr>
          <p:cNvPr id="10" name="TextBox 10"/>
          <p:cNvSpPr txBox="1"/>
          <p:nvPr/>
        </p:nvSpPr>
        <p:spPr>
          <a:xfrm>
            <a:off x="10963513" y="3390667"/>
            <a:ext cx="7164916" cy="3552191"/>
          </a:xfrm>
          <a:prstGeom prst="rect">
            <a:avLst/>
          </a:prstGeom>
        </p:spPr>
        <p:txBody>
          <a:bodyPr lIns="0" tIns="0" rIns="0" bIns="0" rtlCol="0" anchor="t">
            <a:spAutoFit/>
          </a:bodyPr>
          <a:lstStyle/>
          <a:p>
            <a:pPr algn="l">
              <a:lnSpc>
                <a:spcPts val="3500"/>
              </a:lnSpc>
            </a:pPr>
            <a:r>
              <a:rPr lang="en-US" sz="2500" dirty="0">
                <a:latin typeface="Calistoga" panose="020B0604020202020204" charset="0"/>
                <a:ea typeface="Public Sans Bold"/>
                <a:cs typeface="Public Sans Bold"/>
                <a:sym typeface="Public Sans Bold"/>
              </a:rPr>
              <a:t>Key Takeaways:</a:t>
            </a:r>
          </a:p>
          <a:p>
            <a:pPr marL="539753" lvl="1" indent="-269876" algn="l">
              <a:lnSpc>
                <a:spcPts val="3500"/>
              </a:lnSpc>
              <a:buFont typeface="Arial"/>
              <a:buChar char="•"/>
            </a:pPr>
            <a:r>
              <a:rPr lang="en-US" sz="2500" dirty="0">
                <a:latin typeface="Public Sans"/>
                <a:ea typeface="Public Sans"/>
                <a:cs typeface="Public Sans"/>
                <a:sym typeface="Public Sans"/>
              </a:rPr>
              <a:t>Strong Positive engagement with the AI-guided Socratic dialogue.                     </a:t>
            </a:r>
          </a:p>
          <a:p>
            <a:pPr algn="l">
              <a:lnSpc>
                <a:spcPts val="3500"/>
              </a:lnSpc>
            </a:pPr>
            <a:endParaRPr lang="en-US" sz="2500" dirty="0">
              <a:latin typeface="Public Sans"/>
              <a:ea typeface="Public Sans"/>
              <a:cs typeface="Public Sans"/>
              <a:sym typeface="Public Sans"/>
            </a:endParaRPr>
          </a:p>
          <a:p>
            <a:pPr marL="539753" lvl="1" indent="-269876">
              <a:lnSpc>
                <a:spcPts val="3500"/>
              </a:lnSpc>
              <a:buFont typeface="Arial"/>
              <a:buChar char="•"/>
            </a:pPr>
            <a:r>
              <a:rPr lang="en-US" sz="2500" dirty="0">
                <a:latin typeface="Public Sans"/>
                <a:ea typeface="Public Sans"/>
                <a:cs typeface="Public Sans"/>
                <a:sym typeface="Public Sans"/>
              </a:rPr>
              <a:t>Clear and intuitive user </a:t>
            </a:r>
            <a:r>
              <a:rPr lang="en-US" sz="2800" dirty="0"/>
              <a:t>experience</a:t>
            </a:r>
            <a:r>
              <a:rPr lang="en-US" sz="2500" dirty="0">
                <a:latin typeface="Public Sans"/>
                <a:ea typeface="Public Sans"/>
                <a:cs typeface="Public Sans"/>
                <a:sym typeface="Public Sans"/>
              </a:rPr>
              <a:t>.</a:t>
            </a:r>
          </a:p>
          <a:p>
            <a:pPr algn="l">
              <a:lnSpc>
                <a:spcPts val="3500"/>
              </a:lnSpc>
            </a:pPr>
            <a:endParaRPr lang="en-US" sz="2500" dirty="0">
              <a:latin typeface="Public Sans"/>
              <a:ea typeface="Public Sans"/>
              <a:cs typeface="Public Sans"/>
              <a:sym typeface="Public Sans"/>
            </a:endParaRPr>
          </a:p>
          <a:p>
            <a:pPr marL="539753" lvl="1" indent="-269876" algn="l">
              <a:lnSpc>
                <a:spcPts val="3500"/>
              </a:lnSpc>
              <a:buFont typeface="Arial"/>
              <a:buChar char="•"/>
            </a:pPr>
            <a:r>
              <a:rPr lang="en-US" sz="2500" dirty="0">
                <a:latin typeface="Public Sans"/>
                <a:ea typeface="Public Sans"/>
                <a:cs typeface="Public Sans"/>
                <a:sym typeface="Public Sans"/>
              </a:rPr>
              <a:t>initial indications of improved SEL understanding</a:t>
            </a:r>
          </a:p>
        </p:txBody>
      </p:sp>
      <p:sp>
        <p:nvSpPr>
          <p:cNvPr id="11" name="TextBox 11"/>
          <p:cNvSpPr txBox="1"/>
          <p:nvPr/>
        </p:nvSpPr>
        <p:spPr>
          <a:xfrm>
            <a:off x="3635280" y="500081"/>
            <a:ext cx="10655765" cy="1006814"/>
          </a:xfrm>
          <a:prstGeom prst="rect">
            <a:avLst/>
          </a:prstGeom>
        </p:spPr>
        <p:txBody>
          <a:bodyPr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Pilot study(N=4)</a:t>
            </a:r>
          </a:p>
        </p:txBody>
      </p:sp>
      <p:sp>
        <p:nvSpPr>
          <p:cNvPr id="13" name="TextBox 11">
            <a:extLst>
              <a:ext uri="{FF2B5EF4-FFF2-40B4-BE49-F238E27FC236}">
                <a16:creationId xmlns:a16="http://schemas.microsoft.com/office/drawing/2014/main" id="{9AF4E1C9-6AE9-A06D-EDA4-0431FE2146F1}"/>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15</a:t>
            </a:r>
          </a:p>
        </p:txBody>
      </p:sp>
      <p:sp>
        <p:nvSpPr>
          <p:cNvPr id="14" name="Freeform 7"/>
          <p:cNvSpPr/>
          <p:nvPr/>
        </p:nvSpPr>
        <p:spPr>
          <a:xfrm>
            <a:off x="438521" y="3871812"/>
            <a:ext cx="9390989" cy="797535"/>
          </a:xfrm>
          <a:custGeom>
            <a:avLst/>
            <a:gdLst/>
            <a:ahLst/>
            <a:cxnLst/>
            <a:rect l="l" t="t" r="r" b="b"/>
            <a:pathLst>
              <a:path w="13200427" h="1257265">
                <a:moveTo>
                  <a:pt x="0" y="0"/>
                </a:moveTo>
                <a:lnTo>
                  <a:pt x="13200427" y="0"/>
                </a:lnTo>
                <a:lnTo>
                  <a:pt x="13200427" y="1257265"/>
                </a:lnTo>
                <a:lnTo>
                  <a:pt x="0" y="1257265"/>
                </a:lnTo>
                <a:lnTo>
                  <a:pt x="0" y="0"/>
                </a:lnTo>
                <a:close/>
              </a:path>
            </a:pathLst>
          </a:custGeom>
          <a:blipFill>
            <a:blip r:embed="rId11"/>
            <a:stretch>
              <a:fillRect t="-8402" b="-8402"/>
            </a:stretch>
          </a:blipFill>
        </p:spPr>
        <p:txBody>
          <a:bodyPr/>
          <a:lstStyle/>
          <a:p>
            <a:endParaRPr lang="he-IL"/>
          </a:p>
        </p:txBody>
      </p:sp>
      <p:sp>
        <p:nvSpPr>
          <p:cNvPr id="15" name="Freeform 7"/>
          <p:cNvSpPr/>
          <p:nvPr/>
        </p:nvSpPr>
        <p:spPr>
          <a:xfrm>
            <a:off x="493554" y="5337796"/>
            <a:ext cx="9390989" cy="797535"/>
          </a:xfrm>
          <a:custGeom>
            <a:avLst/>
            <a:gdLst/>
            <a:ahLst/>
            <a:cxnLst/>
            <a:rect l="l" t="t" r="r" b="b"/>
            <a:pathLst>
              <a:path w="13200427" h="1257265">
                <a:moveTo>
                  <a:pt x="0" y="0"/>
                </a:moveTo>
                <a:lnTo>
                  <a:pt x="13200427" y="0"/>
                </a:lnTo>
                <a:lnTo>
                  <a:pt x="13200427" y="1257265"/>
                </a:lnTo>
                <a:lnTo>
                  <a:pt x="0" y="1257265"/>
                </a:lnTo>
                <a:lnTo>
                  <a:pt x="0" y="0"/>
                </a:lnTo>
                <a:close/>
              </a:path>
            </a:pathLst>
          </a:custGeom>
          <a:blipFill>
            <a:blip r:embed="rId11"/>
            <a:stretch>
              <a:fillRect t="-8402" b="-8402"/>
            </a:stretch>
          </a:blipFill>
        </p:spPr>
        <p:txBody>
          <a:bodyPr/>
          <a:lstStyle/>
          <a:p>
            <a:endParaRPr lang="he-IL"/>
          </a:p>
        </p:txBody>
      </p:sp>
      <p:sp>
        <p:nvSpPr>
          <p:cNvPr id="16" name="Freeform 7"/>
          <p:cNvSpPr/>
          <p:nvPr/>
        </p:nvSpPr>
        <p:spPr>
          <a:xfrm>
            <a:off x="493553" y="7183569"/>
            <a:ext cx="9390989" cy="797535"/>
          </a:xfrm>
          <a:custGeom>
            <a:avLst/>
            <a:gdLst/>
            <a:ahLst/>
            <a:cxnLst/>
            <a:rect l="l" t="t" r="r" b="b"/>
            <a:pathLst>
              <a:path w="13200427" h="1257265">
                <a:moveTo>
                  <a:pt x="0" y="0"/>
                </a:moveTo>
                <a:lnTo>
                  <a:pt x="13200427" y="0"/>
                </a:lnTo>
                <a:lnTo>
                  <a:pt x="13200427" y="1257265"/>
                </a:lnTo>
                <a:lnTo>
                  <a:pt x="0" y="1257265"/>
                </a:lnTo>
                <a:lnTo>
                  <a:pt x="0" y="0"/>
                </a:lnTo>
                <a:close/>
              </a:path>
            </a:pathLst>
          </a:custGeom>
          <a:blipFill>
            <a:blip r:embed="rId11"/>
            <a:stretch>
              <a:fillRect t="-8402" b="-8402"/>
            </a:stretch>
          </a:blipFill>
        </p:spPr>
        <p:txBody>
          <a:bodyPr/>
          <a:lstStyle/>
          <a:p>
            <a:endParaRPr lang="he-IL"/>
          </a:p>
        </p:txBody>
      </p:sp>
      <p:sp>
        <p:nvSpPr>
          <p:cNvPr id="20" name="TextBox 19"/>
          <p:cNvSpPr txBox="1"/>
          <p:nvPr/>
        </p:nvSpPr>
        <p:spPr>
          <a:xfrm>
            <a:off x="1828800" y="6688027"/>
            <a:ext cx="8227564" cy="711072"/>
          </a:xfrm>
          <a:prstGeom prst="rect">
            <a:avLst/>
          </a:prstGeom>
          <a:noFill/>
        </p:spPr>
        <p:txBody>
          <a:bodyPr wrap="square" rtlCol="1">
            <a:spAutoFit/>
          </a:bodyPr>
          <a:lstStyle/>
          <a:p>
            <a:endParaRPr lang="he-IL" dirty="0"/>
          </a:p>
        </p:txBody>
      </p:sp>
      <p:pic>
        <p:nvPicPr>
          <p:cNvPr id="21" name="תמונה 20"/>
          <p:cNvPicPr>
            <a:picLocks noChangeAspect="1"/>
          </p:cNvPicPr>
          <p:nvPr/>
        </p:nvPicPr>
        <p:blipFill>
          <a:blip r:embed="rId12"/>
          <a:stretch>
            <a:fillRect/>
          </a:stretch>
        </p:blipFill>
        <p:spPr>
          <a:xfrm>
            <a:off x="1601946" y="3941835"/>
            <a:ext cx="8227564" cy="677546"/>
          </a:xfrm>
          <a:prstGeom prst="rect">
            <a:avLst/>
          </a:prstGeom>
        </p:spPr>
      </p:pic>
      <p:sp>
        <p:nvSpPr>
          <p:cNvPr id="22" name="TextBox 21"/>
          <p:cNvSpPr txBox="1"/>
          <p:nvPr/>
        </p:nvSpPr>
        <p:spPr>
          <a:xfrm>
            <a:off x="1590714" y="4074363"/>
            <a:ext cx="8238795" cy="738664"/>
          </a:xfrm>
          <a:prstGeom prst="rect">
            <a:avLst/>
          </a:prstGeom>
          <a:noFill/>
        </p:spPr>
        <p:txBody>
          <a:bodyPr wrap="square" rtlCol="1">
            <a:spAutoFit/>
          </a:bodyPr>
          <a:lstStyle/>
          <a:p>
            <a:r>
              <a:rPr lang="he-IL" sz="2400" b="1" dirty="0">
                <a:latin typeface="Public Sans" panose="020B0604020202020204" charset="0"/>
              </a:rPr>
              <a:t>" </a:t>
            </a:r>
            <a:r>
              <a:rPr lang="en-US" sz="2400" b="1" dirty="0">
                <a:latin typeface="Public Sans" panose="020B0604020202020204" charset="0"/>
                <a:cs typeface="Arial" panose="020B0604020202020204" pitchFamily="34" charset="0"/>
              </a:rPr>
              <a:t>It felt like I was talking to someone ,not just a bot.”</a:t>
            </a:r>
            <a:endParaRPr lang="he-IL" sz="2400" b="1" dirty="0">
              <a:latin typeface="Public Sans" panose="020B0604020202020204" charset="0"/>
            </a:endParaRPr>
          </a:p>
          <a:p>
            <a:endParaRPr lang="he-IL" dirty="0"/>
          </a:p>
        </p:txBody>
      </p:sp>
      <p:pic>
        <p:nvPicPr>
          <p:cNvPr id="23" name="תמונה 22"/>
          <p:cNvPicPr>
            <a:picLocks noChangeAspect="1"/>
          </p:cNvPicPr>
          <p:nvPr/>
        </p:nvPicPr>
        <p:blipFill>
          <a:blip r:embed="rId12"/>
          <a:stretch>
            <a:fillRect/>
          </a:stretch>
        </p:blipFill>
        <p:spPr>
          <a:xfrm>
            <a:off x="1828800" y="5428476"/>
            <a:ext cx="8000710" cy="677546"/>
          </a:xfrm>
          <a:prstGeom prst="rect">
            <a:avLst/>
          </a:prstGeom>
        </p:spPr>
      </p:pic>
      <p:pic>
        <p:nvPicPr>
          <p:cNvPr id="24" name="תמונה 23"/>
          <p:cNvPicPr>
            <a:picLocks noChangeAspect="1"/>
          </p:cNvPicPr>
          <p:nvPr/>
        </p:nvPicPr>
        <p:blipFill>
          <a:blip r:embed="rId12"/>
          <a:stretch>
            <a:fillRect/>
          </a:stretch>
        </p:blipFill>
        <p:spPr>
          <a:xfrm>
            <a:off x="1828800" y="7243563"/>
            <a:ext cx="8055742" cy="677546"/>
          </a:xfrm>
          <a:prstGeom prst="rect">
            <a:avLst/>
          </a:prstGeom>
        </p:spPr>
      </p:pic>
      <p:sp>
        <p:nvSpPr>
          <p:cNvPr id="26" name="מלבן 25"/>
          <p:cNvSpPr/>
          <p:nvPr/>
        </p:nvSpPr>
        <p:spPr>
          <a:xfrm>
            <a:off x="1537150" y="5364328"/>
            <a:ext cx="8503448" cy="830997"/>
          </a:xfrm>
          <a:prstGeom prst="rect">
            <a:avLst/>
          </a:prstGeom>
        </p:spPr>
        <p:txBody>
          <a:bodyPr wrap="square">
            <a:spAutoFit/>
          </a:bodyPr>
          <a:lstStyle/>
          <a:p>
            <a:r>
              <a:rPr lang="en-US" sz="2400" b="1" dirty="0">
                <a:latin typeface="Public Sans" panose="020B0604020202020204" charset="0"/>
                <a:cs typeface="Arial" panose="020B0604020202020204" pitchFamily="34" charset="0"/>
              </a:rPr>
              <a:t>“It didn’t just give random answers- it responded directly to what I had said .” </a:t>
            </a:r>
            <a:endParaRPr lang="he-IL" sz="2400" b="1" dirty="0">
              <a:latin typeface="Public Sans" panose="020B0604020202020204" charset="0"/>
            </a:endParaRPr>
          </a:p>
        </p:txBody>
      </p:sp>
      <p:sp>
        <p:nvSpPr>
          <p:cNvPr id="27" name="TextBox 26"/>
          <p:cNvSpPr txBox="1"/>
          <p:nvPr/>
        </p:nvSpPr>
        <p:spPr>
          <a:xfrm>
            <a:off x="1601946" y="7217356"/>
            <a:ext cx="8454418" cy="1107996"/>
          </a:xfrm>
          <a:prstGeom prst="rect">
            <a:avLst/>
          </a:prstGeom>
          <a:noFill/>
        </p:spPr>
        <p:txBody>
          <a:bodyPr wrap="square" rtlCol="1">
            <a:spAutoFit/>
          </a:bodyPr>
          <a:lstStyle/>
          <a:p>
            <a:pPr lvl="0"/>
            <a:r>
              <a:rPr lang="en-US" altLang="he-IL" sz="2400" b="1" dirty="0">
                <a:latin typeface="Public Sans" panose="020B0604020202020204" charset="0"/>
              </a:rPr>
              <a:t>“The anonymity allowed me to feel free to talk about things I would not normally say out loud.”</a:t>
            </a:r>
            <a:endParaRPr lang="he-IL" altLang="he-IL" sz="2400" b="1" dirty="0">
              <a:latin typeface="Public Sans" panose="020B0604020202020204" charset="0"/>
            </a:endParaRPr>
          </a:p>
          <a:p>
            <a:endParaRPr lang="he-IL"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7605163" y="9054861"/>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16827500" y="184860"/>
            <a:ext cx="1146492" cy="1079787"/>
          </a:xfrm>
          <a:custGeom>
            <a:avLst/>
            <a:gdLst/>
            <a:ahLst/>
            <a:cxnLst/>
            <a:rect l="l" t="t" r="r" b="b"/>
            <a:pathLst>
              <a:path w="1146492" h="1079787">
                <a:moveTo>
                  <a:pt x="0" y="0"/>
                </a:moveTo>
                <a:lnTo>
                  <a:pt x="1146491" y="0"/>
                </a:lnTo>
                <a:lnTo>
                  <a:pt x="1146491" y="1079787"/>
                </a:lnTo>
                <a:lnTo>
                  <a:pt x="0" y="107978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a:off x="-393391" y="9370831"/>
            <a:ext cx="1001374" cy="1126289"/>
          </a:xfrm>
          <a:custGeom>
            <a:avLst/>
            <a:gdLst/>
            <a:ahLst/>
            <a:cxnLst/>
            <a:rect l="l" t="t" r="r" b="b"/>
            <a:pathLst>
              <a:path w="1001374" h="1126289">
                <a:moveTo>
                  <a:pt x="0" y="0"/>
                </a:moveTo>
                <a:lnTo>
                  <a:pt x="1001374" y="0"/>
                </a:lnTo>
                <a:lnTo>
                  <a:pt x="1001374" y="1126290"/>
                </a:lnTo>
                <a:lnTo>
                  <a:pt x="0" y="112629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3597010" y="-2602049"/>
            <a:ext cx="4989143" cy="5177413"/>
          </a:xfrm>
          <a:custGeom>
            <a:avLst/>
            <a:gdLst/>
            <a:ahLst/>
            <a:cxnLst/>
            <a:rect l="l" t="t" r="r" b="b"/>
            <a:pathLst>
              <a:path w="4989143" h="5177413">
                <a:moveTo>
                  <a:pt x="0" y="0"/>
                </a:moveTo>
                <a:lnTo>
                  <a:pt x="4989143" y="0"/>
                </a:lnTo>
                <a:lnTo>
                  <a:pt x="4989143" y="5177412"/>
                </a:lnTo>
                <a:lnTo>
                  <a:pt x="0" y="5177412"/>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6" name="Freeform 6">
            <a:extLst>
              <a:ext uri="{C183D7F6-B498-43B3-948B-1728B52AA6E4}">
                <adec:decorative xmlns:adec="http://schemas.microsoft.com/office/drawing/2017/decorative" xmlns="" val="1"/>
              </a:ext>
            </a:extLst>
          </p:cNvPr>
          <p:cNvSpPr/>
          <p:nvPr/>
        </p:nvSpPr>
        <p:spPr>
          <a:xfrm rot="-1436842">
            <a:off x="-1170209" y="-1011450"/>
            <a:ext cx="2340418" cy="2392620"/>
          </a:xfrm>
          <a:custGeom>
            <a:avLst/>
            <a:gdLst/>
            <a:ahLst/>
            <a:cxnLst/>
            <a:rect l="l" t="t" r="r" b="b"/>
            <a:pathLst>
              <a:path w="2340418" h="2392620">
                <a:moveTo>
                  <a:pt x="0" y="0"/>
                </a:moveTo>
                <a:lnTo>
                  <a:pt x="2340418" y="0"/>
                </a:lnTo>
                <a:lnTo>
                  <a:pt x="2340418" y="2392620"/>
                </a:lnTo>
                <a:lnTo>
                  <a:pt x="0" y="2392620"/>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txBody>
          <a:bodyPr/>
          <a:lstStyle/>
          <a:p>
            <a:endParaRPr lang="he-IL"/>
          </a:p>
        </p:txBody>
      </p:sp>
      <p:sp>
        <p:nvSpPr>
          <p:cNvPr id="9" name="Freeform 9"/>
          <p:cNvSpPr/>
          <p:nvPr/>
        </p:nvSpPr>
        <p:spPr>
          <a:xfrm>
            <a:off x="661196" y="8938545"/>
            <a:ext cx="1272368" cy="1214968"/>
          </a:xfrm>
          <a:custGeom>
            <a:avLst/>
            <a:gdLst/>
            <a:ahLst/>
            <a:cxnLst/>
            <a:rect l="l" t="t" r="r" b="b"/>
            <a:pathLst>
              <a:path w="1272368" h="1214968">
                <a:moveTo>
                  <a:pt x="0" y="0"/>
                </a:moveTo>
                <a:lnTo>
                  <a:pt x="1272368" y="0"/>
                </a:lnTo>
                <a:lnTo>
                  <a:pt x="1272368" y="1214968"/>
                </a:lnTo>
                <a:lnTo>
                  <a:pt x="0" y="1214968"/>
                </a:lnTo>
                <a:lnTo>
                  <a:pt x="0" y="0"/>
                </a:lnTo>
                <a:close/>
              </a:path>
            </a:pathLst>
          </a:custGeom>
          <a:blipFill>
            <a:blip r:embed="rId13"/>
            <a:stretch>
              <a:fillRect/>
            </a:stretch>
          </a:blipFill>
        </p:spPr>
        <p:txBody>
          <a:bodyPr/>
          <a:lstStyle/>
          <a:p>
            <a:endParaRPr lang="he-IL"/>
          </a:p>
        </p:txBody>
      </p:sp>
      <p:sp>
        <p:nvSpPr>
          <p:cNvPr id="12" name="TextBox 12"/>
          <p:cNvSpPr txBox="1"/>
          <p:nvPr/>
        </p:nvSpPr>
        <p:spPr>
          <a:xfrm>
            <a:off x="314008" y="501227"/>
            <a:ext cx="17786256" cy="1006814"/>
          </a:xfrm>
          <a:prstGeom prst="rect">
            <a:avLst/>
          </a:prstGeom>
        </p:spPr>
        <p:txBody>
          <a:bodyPr wrap="square"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Research Measures A Mixed-Methods Approach </a:t>
            </a:r>
          </a:p>
        </p:txBody>
      </p:sp>
      <p:sp>
        <p:nvSpPr>
          <p:cNvPr id="13" name="TextBox 13"/>
          <p:cNvSpPr txBox="1"/>
          <p:nvPr/>
        </p:nvSpPr>
        <p:spPr>
          <a:xfrm>
            <a:off x="1986777" y="8896145"/>
            <a:ext cx="15287768" cy="1656159"/>
          </a:xfrm>
          <a:prstGeom prst="rect">
            <a:avLst/>
          </a:prstGeom>
        </p:spPr>
        <p:txBody>
          <a:bodyPr lIns="0" tIns="0" rIns="0" bIns="0" rtlCol="0" anchor="t">
            <a:spAutoFit/>
          </a:bodyPr>
          <a:lstStyle/>
          <a:p>
            <a:pPr algn="ctr">
              <a:lnSpc>
                <a:spcPts val="3286"/>
              </a:lnSpc>
            </a:pPr>
            <a:r>
              <a:rPr lang="en-US" sz="2500" dirty="0">
                <a:latin typeface="Public Sans" panose="020B0604020202020204" charset="0"/>
                <a:ea typeface="Public Sans Bold"/>
                <a:cs typeface="Public Sans Bold"/>
                <a:sym typeface="Public Sans Bold"/>
              </a:rPr>
              <a:t>We aim for ≥80% on the SEL questionnaire and ≥1.8 out of 3 on each UEQ-S dimension, indicating strong social-emotional skills and a positive user experience.</a:t>
            </a:r>
          </a:p>
          <a:p>
            <a:pPr algn="l">
              <a:lnSpc>
                <a:spcPts val="3286"/>
              </a:lnSpc>
            </a:pPr>
            <a:endParaRPr lang="en-US" sz="2500" dirty="0">
              <a:latin typeface="Public Sans" panose="020B0604020202020204" charset="0"/>
              <a:ea typeface="Public Sans Bold"/>
              <a:cs typeface="Public Sans Bold"/>
              <a:sym typeface="Public Sans Bold"/>
            </a:endParaRPr>
          </a:p>
          <a:p>
            <a:pPr algn="l">
              <a:lnSpc>
                <a:spcPts val="3286"/>
              </a:lnSpc>
            </a:pPr>
            <a:endParaRPr lang="en-US" sz="2500" dirty="0">
              <a:latin typeface="Public Sans" panose="020B0604020202020204" charset="0"/>
              <a:ea typeface="Public Sans Bold"/>
              <a:cs typeface="Public Sans Bold"/>
              <a:sym typeface="Public Sans Bold"/>
            </a:endParaRPr>
          </a:p>
        </p:txBody>
      </p:sp>
      <p:pic>
        <p:nvPicPr>
          <p:cNvPr id="16" name="תמונה 15" descr="תמונה שמכילה טקסט, צילום מסך, גופן&#10;&#10;תוכן בינה מלאכותית גנרטיבית עשוי להיות שגוי.">
            <a:extLst>
              <a:ext uri="{FF2B5EF4-FFF2-40B4-BE49-F238E27FC236}">
                <a16:creationId xmlns:a16="http://schemas.microsoft.com/office/drawing/2014/main" id="{3B04DB3D-429E-E840-98A5-4FA8B01216E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33462" y="2016615"/>
            <a:ext cx="16587807" cy="5717685"/>
          </a:xfrm>
          <a:prstGeom prst="rect">
            <a:avLst/>
          </a:prstGeom>
        </p:spPr>
      </p:pic>
      <p:pic>
        <p:nvPicPr>
          <p:cNvPr id="18" name="תמונה 17">
            <a:extLst>
              <a:ext uri="{FF2B5EF4-FFF2-40B4-BE49-F238E27FC236}">
                <a16:creationId xmlns:a16="http://schemas.microsoft.com/office/drawing/2014/main" id="{071F7CD1-9830-2085-7FFC-D92B44AA739D}"/>
              </a:ext>
            </a:extLst>
          </p:cNvPr>
          <p:cNvPicPr>
            <a:picLocks noChangeAspect="1"/>
          </p:cNvPicPr>
          <p:nvPr/>
        </p:nvPicPr>
        <p:blipFill>
          <a:blip r:embed="rId15"/>
          <a:stretch>
            <a:fillRect/>
          </a:stretch>
        </p:blipFill>
        <p:spPr>
          <a:xfrm>
            <a:off x="1950808" y="2163379"/>
            <a:ext cx="4602392" cy="778641"/>
          </a:xfrm>
          <a:prstGeom prst="rect">
            <a:avLst/>
          </a:prstGeom>
        </p:spPr>
      </p:pic>
      <p:sp>
        <p:nvSpPr>
          <p:cNvPr id="19" name="תיבת טקסט 18">
            <a:extLst>
              <a:ext uri="{FF2B5EF4-FFF2-40B4-BE49-F238E27FC236}">
                <a16:creationId xmlns:a16="http://schemas.microsoft.com/office/drawing/2014/main" id="{7F265713-588B-C4CC-6435-B4373FA33065}"/>
              </a:ext>
            </a:extLst>
          </p:cNvPr>
          <p:cNvSpPr txBox="1"/>
          <p:nvPr/>
        </p:nvSpPr>
        <p:spPr>
          <a:xfrm>
            <a:off x="1826194" y="2467624"/>
            <a:ext cx="3946397" cy="861774"/>
          </a:xfrm>
          <a:prstGeom prst="rect">
            <a:avLst/>
          </a:prstGeom>
          <a:noFill/>
        </p:spPr>
        <p:txBody>
          <a:bodyPr wrap="square" rtlCol="1">
            <a:spAutoFit/>
          </a:bodyPr>
          <a:lstStyle/>
          <a:p>
            <a:r>
              <a:rPr lang="en-US" sz="2500" dirty="0">
                <a:latin typeface="Calistoga" panose="020B0604020202020204" charset="0"/>
              </a:rPr>
              <a:t>Quantitative Measures</a:t>
            </a:r>
          </a:p>
          <a:p>
            <a:endParaRPr lang="he-IL" sz="2500" dirty="0">
              <a:latin typeface="Calistoga" panose="020B0604020202020204" charset="0"/>
            </a:endParaRPr>
          </a:p>
        </p:txBody>
      </p:sp>
      <p:pic>
        <p:nvPicPr>
          <p:cNvPr id="22" name="תמונה 21">
            <a:extLst>
              <a:ext uri="{FF2B5EF4-FFF2-40B4-BE49-F238E27FC236}">
                <a16:creationId xmlns:a16="http://schemas.microsoft.com/office/drawing/2014/main" id="{08CC32DA-117B-8D18-D4F4-0AB89BDEA736}"/>
              </a:ext>
            </a:extLst>
          </p:cNvPr>
          <p:cNvPicPr>
            <a:picLocks noChangeAspect="1"/>
          </p:cNvPicPr>
          <p:nvPr/>
        </p:nvPicPr>
        <p:blipFill>
          <a:blip r:embed="rId16"/>
          <a:stretch>
            <a:fillRect/>
          </a:stretch>
        </p:blipFill>
        <p:spPr>
          <a:xfrm>
            <a:off x="10439400" y="2363828"/>
            <a:ext cx="6651047" cy="611591"/>
          </a:xfrm>
          <a:prstGeom prst="rect">
            <a:avLst/>
          </a:prstGeom>
        </p:spPr>
      </p:pic>
      <p:pic>
        <p:nvPicPr>
          <p:cNvPr id="27" name="תמונה 26" descr="תמונה שמכילה לבן, עיצוב&#10;&#10;תוכן בינה מלאכותית גנרטיבית עשוי להיות שגוי.">
            <a:extLst>
              <a:ext uri="{FF2B5EF4-FFF2-40B4-BE49-F238E27FC236}">
                <a16:creationId xmlns:a16="http://schemas.microsoft.com/office/drawing/2014/main" id="{CE6C77AA-0DF3-5D0B-9157-0A3C4DC00414}"/>
              </a:ext>
            </a:extLst>
          </p:cNvPr>
          <p:cNvPicPr>
            <a:picLocks noChangeAspect="1"/>
          </p:cNvPicPr>
          <p:nvPr/>
        </p:nvPicPr>
        <p:blipFill>
          <a:blip r:embed="rId17"/>
          <a:stretch>
            <a:fillRect/>
          </a:stretch>
        </p:blipFill>
        <p:spPr>
          <a:xfrm>
            <a:off x="1045584" y="3289063"/>
            <a:ext cx="4602391" cy="650471"/>
          </a:xfrm>
          <a:prstGeom prst="rect">
            <a:avLst/>
          </a:prstGeom>
        </p:spPr>
      </p:pic>
      <p:sp>
        <p:nvSpPr>
          <p:cNvPr id="28" name="תיבת טקסט 27">
            <a:extLst>
              <a:ext uri="{FF2B5EF4-FFF2-40B4-BE49-F238E27FC236}">
                <a16:creationId xmlns:a16="http://schemas.microsoft.com/office/drawing/2014/main" id="{C2584FC4-CEC4-6BBA-B614-01AC9B2F0281}"/>
              </a:ext>
            </a:extLst>
          </p:cNvPr>
          <p:cNvSpPr txBox="1"/>
          <p:nvPr/>
        </p:nvSpPr>
        <p:spPr>
          <a:xfrm>
            <a:off x="1141631" y="3203579"/>
            <a:ext cx="4410295" cy="861774"/>
          </a:xfrm>
          <a:prstGeom prst="rect">
            <a:avLst/>
          </a:prstGeom>
          <a:noFill/>
        </p:spPr>
        <p:txBody>
          <a:bodyPr wrap="square" rtlCol="1">
            <a:spAutoFit/>
          </a:bodyPr>
          <a:lstStyle/>
          <a:p>
            <a:r>
              <a:rPr lang="en-US" sz="2500" dirty="0">
                <a:latin typeface="Calistoga" panose="020B0604020202020204" charset="0"/>
              </a:rPr>
              <a:t>Pre/Post SEL Questionnaire:</a:t>
            </a:r>
            <a:br>
              <a:rPr lang="en-US" sz="2500" dirty="0">
                <a:latin typeface="Calistoga" panose="020B0604020202020204" charset="0"/>
              </a:rPr>
            </a:br>
            <a:endParaRPr lang="he-IL" sz="2500" dirty="0">
              <a:latin typeface="Calistoga" panose="020B0604020202020204" charset="0"/>
            </a:endParaRPr>
          </a:p>
        </p:txBody>
      </p:sp>
      <p:pic>
        <p:nvPicPr>
          <p:cNvPr id="32" name="תמונה 31">
            <a:extLst>
              <a:ext uri="{FF2B5EF4-FFF2-40B4-BE49-F238E27FC236}">
                <a16:creationId xmlns:a16="http://schemas.microsoft.com/office/drawing/2014/main" id="{C2D26AC8-5587-D6FF-A10B-21061B1BD9FD}"/>
              </a:ext>
            </a:extLst>
          </p:cNvPr>
          <p:cNvPicPr>
            <a:picLocks noChangeAspect="1"/>
          </p:cNvPicPr>
          <p:nvPr/>
        </p:nvPicPr>
        <p:blipFill>
          <a:blip r:embed="rId18"/>
          <a:stretch>
            <a:fillRect/>
          </a:stretch>
        </p:blipFill>
        <p:spPr>
          <a:xfrm>
            <a:off x="1017014" y="3712421"/>
            <a:ext cx="7898385" cy="1625380"/>
          </a:xfrm>
          <a:prstGeom prst="rect">
            <a:avLst/>
          </a:prstGeom>
        </p:spPr>
      </p:pic>
      <p:sp>
        <p:nvSpPr>
          <p:cNvPr id="33" name="תיבת טקסט 32">
            <a:extLst>
              <a:ext uri="{FF2B5EF4-FFF2-40B4-BE49-F238E27FC236}">
                <a16:creationId xmlns:a16="http://schemas.microsoft.com/office/drawing/2014/main" id="{C0FBDA8A-9D4A-D623-A13A-EF697344313B}"/>
              </a:ext>
            </a:extLst>
          </p:cNvPr>
          <p:cNvSpPr txBox="1"/>
          <p:nvPr/>
        </p:nvSpPr>
        <p:spPr>
          <a:xfrm>
            <a:off x="1180295" y="3757622"/>
            <a:ext cx="7181101" cy="800219"/>
          </a:xfrm>
          <a:prstGeom prst="rect">
            <a:avLst/>
          </a:prstGeom>
          <a:noFill/>
        </p:spPr>
        <p:txBody>
          <a:bodyPr wrap="square" rtlCol="1">
            <a:spAutoFit/>
          </a:bodyPr>
          <a:lstStyle/>
          <a:p>
            <a:r>
              <a:rPr lang="en-US" sz="2300" dirty="0">
                <a:latin typeface="Public Sans" panose="020B0604020202020204" charset="0"/>
              </a:rPr>
              <a:t>Measures changes across the 5 CASEL competencies</a:t>
            </a:r>
            <a:endParaRPr lang="he-IL" sz="2300" dirty="0">
              <a:latin typeface="Public Sans" panose="020B0604020202020204" charset="0"/>
            </a:endParaRPr>
          </a:p>
        </p:txBody>
      </p:sp>
      <p:pic>
        <p:nvPicPr>
          <p:cNvPr id="37" name="תמונה 36" descr="תמונה שמכילה לבן, עיצוב&#10;&#10;תוכן בינה מלאכותית גנרטיבית עשוי להיות שגוי.">
            <a:extLst>
              <a:ext uri="{FF2B5EF4-FFF2-40B4-BE49-F238E27FC236}">
                <a16:creationId xmlns:a16="http://schemas.microsoft.com/office/drawing/2014/main" id="{8E734B7D-D91E-997C-78B9-42D03B03434D}"/>
              </a:ext>
            </a:extLst>
          </p:cNvPr>
          <p:cNvPicPr>
            <a:picLocks noChangeAspect="1"/>
          </p:cNvPicPr>
          <p:nvPr/>
        </p:nvPicPr>
        <p:blipFill>
          <a:blip r:embed="rId19"/>
          <a:stretch>
            <a:fillRect/>
          </a:stretch>
        </p:blipFill>
        <p:spPr>
          <a:xfrm>
            <a:off x="1116231" y="5461252"/>
            <a:ext cx="6351369" cy="646950"/>
          </a:xfrm>
          <a:prstGeom prst="rect">
            <a:avLst/>
          </a:prstGeom>
        </p:spPr>
      </p:pic>
      <p:sp>
        <p:nvSpPr>
          <p:cNvPr id="38" name="תיבת טקסט 37">
            <a:extLst>
              <a:ext uri="{FF2B5EF4-FFF2-40B4-BE49-F238E27FC236}">
                <a16:creationId xmlns:a16="http://schemas.microsoft.com/office/drawing/2014/main" id="{A0643405-2B5A-A954-B0FF-8554D99AF52E}"/>
              </a:ext>
            </a:extLst>
          </p:cNvPr>
          <p:cNvSpPr txBox="1"/>
          <p:nvPr/>
        </p:nvSpPr>
        <p:spPr>
          <a:xfrm>
            <a:off x="1219593" y="5049622"/>
            <a:ext cx="6194192" cy="861774"/>
          </a:xfrm>
          <a:prstGeom prst="rect">
            <a:avLst/>
          </a:prstGeom>
          <a:noFill/>
        </p:spPr>
        <p:txBody>
          <a:bodyPr wrap="square" rtlCol="1">
            <a:spAutoFit/>
          </a:bodyPr>
          <a:lstStyle/>
          <a:p>
            <a:r>
              <a:rPr lang="en-US" sz="2500" dirty="0">
                <a:latin typeface="Calistoga" panose="020B0604020202020204" charset="0"/>
              </a:rPr>
              <a:t>User Experience Questionnaire (UEQ-S):</a:t>
            </a:r>
            <a:br>
              <a:rPr lang="en-US" sz="2500" dirty="0">
                <a:latin typeface="Calistoga" panose="020B0604020202020204" charset="0"/>
              </a:rPr>
            </a:br>
            <a:endParaRPr lang="he-IL" sz="2500" dirty="0">
              <a:latin typeface="Calistoga" panose="020B0604020202020204" charset="0"/>
            </a:endParaRPr>
          </a:p>
        </p:txBody>
      </p:sp>
      <p:pic>
        <p:nvPicPr>
          <p:cNvPr id="42" name="תמונה 41" descr="תמונה שמכילה לבן, עיצוב&#10;&#10;תוכן בינה מלאכותית גנרטיבית עשוי להיות שגוי.">
            <a:extLst>
              <a:ext uri="{FF2B5EF4-FFF2-40B4-BE49-F238E27FC236}">
                <a16:creationId xmlns:a16="http://schemas.microsoft.com/office/drawing/2014/main" id="{6AF28B1C-D938-54D9-5843-6F9FDAF5AAE9}"/>
              </a:ext>
            </a:extLst>
          </p:cNvPr>
          <p:cNvPicPr>
            <a:picLocks noChangeAspect="1"/>
          </p:cNvPicPr>
          <p:nvPr/>
        </p:nvPicPr>
        <p:blipFill>
          <a:blip r:embed="rId20"/>
          <a:stretch>
            <a:fillRect/>
          </a:stretch>
        </p:blipFill>
        <p:spPr>
          <a:xfrm>
            <a:off x="1017014" y="6052637"/>
            <a:ext cx="7669786" cy="1322377"/>
          </a:xfrm>
          <a:prstGeom prst="rect">
            <a:avLst/>
          </a:prstGeom>
        </p:spPr>
      </p:pic>
      <p:pic>
        <p:nvPicPr>
          <p:cNvPr id="49" name="תמונה 48">
            <a:extLst>
              <a:ext uri="{FF2B5EF4-FFF2-40B4-BE49-F238E27FC236}">
                <a16:creationId xmlns:a16="http://schemas.microsoft.com/office/drawing/2014/main" id="{E9013C3F-661B-CAD2-7BC5-A134B7EADDD0}"/>
              </a:ext>
            </a:extLst>
          </p:cNvPr>
          <p:cNvPicPr>
            <a:picLocks noChangeAspect="1"/>
          </p:cNvPicPr>
          <p:nvPr/>
        </p:nvPicPr>
        <p:blipFill>
          <a:blip r:embed="rId21"/>
          <a:stretch>
            <a:fillRect/>
          </a:stretch>
        </p:blipFill>
        <p:spPr>
          <a:xfrm>
            <a:off x="9359902" y="3381359"/>
            <a:ext cx="1612897" cy="429332"/>
          </a:xfrm>
          <a:prstGeom prst="rect">
            <a:avLst/>
          </a:prstGeom>
        </p:spPr>
      </p:pic>
      <p:pic>
        <p:nvPicPr>
          <p:cNvPr id="50" name="תמונה 49">
            <a:extLst>
              <a:ext uri="{FF2B5EF4-FFF2-40B4-BE49-F238E27FC236}">
                <a16:creationId xmlns:a16="http://schemas.microsoft.com/office/drawing/2014/main" id="{09EF1C44-4313-3143-B0AC-6534D40637D1}"/>
              </a:ext>
            </a:extLst>
          </p:cNvPr>
          <p:cNvPicPr>
            <a:picLocks noChangeAspect="1"/>
          </p:cNvPicPr>
          <p:nvPr/>
        </p:nvPicPr>
        <p:blipFill>
          <a:blip r:embed="rId21"/>
          <a:stretch>
            <a:fillRect/>
          </a:stretch>
        </p:blipFill>
        <p:spPr>
          <a:xfrm>
            <a:off x="9227365" y="5461251"/>
            <a:ext cx="6509561" cy="591386"/>
          </a:xfrm>
          <a:prstGeom prst="rect">
            <a:avLst/>
          </a:prstGeom>
        </p:spPr>
      </p:pic>
      <p:sp>
        <p:nvSpPr>
          <p:cNvPr id="51" name="תיבת טקסט 50">
            <a:extLst>
              <a:ext uri="{FF2B5EF4-FFF2-40B4-BE49-F238E27FC236}">
                <a16:creationId xmlns:a16="http://schemas.microsoft.com/office/drawing/2014/main" id="{45123A99-45FF-5274-881F-5A4E776B25D5}"/>
              </a:ext>
            </a:extLst>
          </p:cNvPr>
          <p:cNvSpPr txBox="1"/>
          <p:nvPr/>
        </p:nvSpPr>
        <p:spPr>
          <a:xfrm>
            <a:off x="9614784" y="3271656"/>
            <a:ext cx="1816102" cy="861774"/>
          </a:xfrm>
          <a:prstGeom prst="rect">
            <a:avLst/>
          </a:prstGeom>
          <a:noFill/>
        </p:spPr>
        <p:txBody>
          <a:bodyPr wrap="square" rtlCol="1">
            <a:spAutoFit/>
          </a:bodyPr>
          <a:lstStyle/>
          <a:p>
            <a:r>
              <a:rPr lang="en-US" sz="2500" dirty="0">
                <a:latin typeface="Calistoga" panose="020B0604020202020204" charset="0"/>
              </a:rPr>
              <a:t>Trust:</a:t>
            </a:r>
            <a:br>
              <a:rPr lang="en-US" sz="2500" dirty="0">
                <a:latin typeface="Calistoga" panose="020B0604020202020204" charset="0"/>
              </a:rPr>
            </a:br>
            <a:endParaRPr lang="he-IL" sz="2500" dirty="0">
              <a:latin typeface="Calistoga" panose="020B0604020202020204" charset="0"/>
            </a:endParaRPr>
          </a:p>
        </p:txBody>
      </p:sp>
      <p:pic>
        <p:nvPicPr>
          <p:cNvPr id="57" name="תמונה 56" descr="תמונה שמכילה לבן, עיצוב&#10;&#10;תוכן בינה מלאכותית גנרטיבית עשוי להיות שגוי.">
            <a:extLst>
              <a:ext uri="{FF2B5EF4-FFF2-40B4-BE49-F238E27FC236}">
                <a16:creationId xmlns:a16="http://schemas.microsoft.com/office/drawing/2014/main" id="{77F36E23-E7ED-2CD6-E4BE-A6587C237A6D}"/>
              </a:ext>
            </a:extLst>
          </p:cNvPr>
          <p:cNvPicPr>
            <a:picLocks noChangeAspect="1"/>
          </p:cNvPicPr>
          <p:nvPr/>
        </p:nvPicPr>
        <p:blipFill>
          <a:blip r:embed="rId22"/>
          <a:stretch>
            <a:fillRect/>
          </a:stretch>
        </p:blipFill>
        <p:spPr>
          <a:xfrm>
            <a:off x="9408933" y="3899931"/>
            <a:ext cx="8322065" cy="1380787"/>
          </a:xfrm>
          <a:prstGeom prst="rect">
            <a:avLst/>
          </a:prstGeom>
        </p:spPr>
      </p:pic>
      <p:pic>
        <p:nvPicPr>
          <p:cNvPr id="58" name="תמונה 57" descr="תמונה שמכילה לבן, עיצוב&#10;&#10;תוכן בינה מלאכותית גנרטיבית עשוי להיות שגוי.">
            <a:extLst>
              <a:ext uri="{FF2B5EF4-FFF2-40B4-BE49-F238E27FC236}">
                <a16:creationId xmlns:a16="http://schemas.microsoft.com/office/drawing/2014/main" id="{E30284D5-A6C3-459A-1BB9-C0D8BFD68886}"/>
              </a:ext>
            </a:extLst>
          </p:cNvPr>
          <p:cNvPicPr>
            <a:picLocks noChangeAspect="1"/>
          </p:cNvPicPr>
          <p:nvPr/>
        </p:nvPicPr>
        <p:blipFill>
          <a:blip r:embed="rId22"/>
          <a:stretch>
            <a:fillRect/>
          </a:stretch>
        </p:blipFill>
        <p:spPr>
          <a:xfrm>
            <a:off x="9295456" y="6070355"/>
            <a:ext cx="8322065" cy="1333686"/>
          </a:xfrm>
          <a:prstGeom prst="rect">
            <a:avLst/>
          </a:prstGeom>
        </p:spPr>
      </p:pic>
      <p:sp>
        <p:nvSpPr>
          <p:cNvPr id="59" name="תיבת טקסט 58">
            <a:extLst>
              <a:ext uri="{FF2B5EF4-FFF2-40B4-BE49-F238E27FC236}">
                <a16:creationId xmlns:a16="http://schemas.microsoft.com/office/drawing/2014/main" id="{D1D6E22D-75EC-7432-F069-811EE9E58144}"/>
              </a:ext>
            </a:extLst>
          </p:cNvPr>
          <p:cNvSpPr txBox="1"/>
          <p:nvPr/>
        </p:nvSpPr>
        <p:spPr>
          <a:xfrm>
            <a:off x="9620039" y="3728590"/>
            <a:ext cx="7251698" cy="800219"/>
          </a:xfrm>
          <a:prstGeom prst="rect">
            <a:avLst/>
          </a:prstGeom>
          <a:noFill/>
        </p:spPr>
        <p:txBody>
          <a:bodyPr wrap="square" rtlCol="1">
            <a:spAutoFit/>
          </a:bodyPr>
          <a:lstStyle/>
          <a:p>
            <a:r>
              <a:rPr lang="en-US" sz="2300" dirty="0">
                <a:latin typeface="Public Sans" panose="020B0604020202020204" charset="0"/>
              </a:rPr>
              <a:t>reflection questions :</a:t>
            </a:r>
          </a:p>
          <a:p>
            <a:r>
              <a:rPr lang="en-US" sz="2300" dirty="0">
                <a:latin typeface="Public Sans" panose="020B0604020202020204" charset="0"/>
              </a:rPr>
              <a:t>Was talking with CASELY useful or meaningful?</a:t>
            </a:r>
            <a:endParaRPr lang="he-IL" sz="2300" dirty="0">
              <a:latin typeface="Public Sans" panose="020B0604020202020204" charset="0"/>
            </a:endParaRPr>
          </a:p>
        </p:txBody>
      </p:sp>
      <p:sp>
        <p:nvSpPr>
          <p:cNvPr id="60" name="תיבת טקסט 59">
            <a:extLst>
              <a:ext uri="{FF2B5EF4-FFF2-40B4-BE49-F238E27FC236}">
                <a16:creationId xmlns:a16="http://schemas.microsoft.com/office/drawing/2014/main" id="{E30B6418-EF1B-401F-AAE2-442AC1BE39EC}"/>
              </a:ext>
            </a:extLst>
          </p:cNvPr>
          <p:cNvSpPr txBox="1"/>
          <p:nvPr/>
        </p:nvSpPr>
        <p:spPr>
          <a:xfrm>
            <a:off x="9664930" y="5673786"/>
            <a:ext cx="7246630" cy="861774"/>
          </a:xfrm>
          <a:prstGeom prst="rect">
            <a:avLst/>
          </a:prstGeom>
          <a:noFill/>
        </p:spPr>
        <p:txBody>
          <a:bodyPr wrap="square" rtlCol="1">
            <a:spAutoFit/>
          </a:bodyPr>
          <a:lstStyle/>
          <a:p>
            <a:r>
              <a:rPr lang="en-US" sz="2500" dirty="0">
                <a:latin typeface="Public Sans" panose="020B0604020202020204" charset="0"/>
              </a:rPr>
              <a:t>In-depth analysis of dialogue transcripts and open-ended reflection responses</a:t>
            </a:r>
            <a:endParaRPr lang="he-IL" sz="2500" dirty="0">
              <a:latin typeface="Public Sans" panose="020B0604020202020204" charset="0"/>
            </a:endParaRPr>
          </a:p>
        </p:txBody>
      </p:sp>
      <p:sp>
        <p:nvSpPr>
          <p:cNvPr id="7" name="TextBox 11">
            <a:extLst>
              <a:ext uri="{FF2B5EF4-FFF2-40B4-BE49-F238E27FC236}">
                <a16:creationId xmlns:a16="http://schemas.microsoft.com/office/drawing/2014/main" id="{58E9663A-D713-BD64-1A41-9A43DACED4E2}"/>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16</a:t>
            </a:r>
          </a:p>
        </p:txBody>
      </p:sp>
      <p:sp>
        <p:nvSpPr>
          <p:cNvPr id="14" name="TextBox 13"/>
          <p:cNvSpPr txBox="1"/>
          <p:nvPr/>
        </p:nvSpPr>
        <p:spPr>
          <a:xfrm>
            <a:off x="1277868" y="5591545"/>
            <a:ext cx="7924800" cy="1077218"/>
          </a:xfrm>
          <a:prstGeom prst="rect">
            <a:avLst/>
          </a:prstGeom>
          <a:noFill/>
        </p:spPr>
        <p:txBody>
          <a:bodyPr wrap="square" rtlCol="1">
            <a:spAutoFit/>
          </a:bodyPr>
          <a:lstStyle/>
          <a:p>
            <a:r>
              <a:rPr lang="en-US" sz="2300" dirty="0"/>
              <a:t>U</a:t>
            </a:r>
            <a:r>
              <a:rPr lang="en-US" sz="2300" dirty="0">
                <a:latin typeface="Public Sans" panose="020B0604020202020204" charset="0"/>
              </a:rPr>
              <a:t>ser experience is measured through pragmatic and hedonic qualities</a:t>
            </a:r>
            <a:endParaRPr lang="he-IL" sz="2300" dirty="0">
              <a:latin typeface="Public Sans" panose="020B0604020202020204" charset="0"/>
            </a:endParaRPr>
          </a:p>
          <a:p>
            <a:endParaRPr lang="he-IL" dirty="0"/>
          </a:p>
        </p:txBody>
      </p:sp>
      <p:sp>
        <p:nvSpPr>
          <p:cNvPr id="15" name="TextBox 14"/>
          <p:cNvSpPr txBox="1"/>
          <p:nvPr/>
        </p:nvSpPr>
        <p:spPr>
          <a:xfrm>
            <a:off x="10343148" y="2311088"/>
            <a:ext cx="5299715" cy="800219"/>
          </a:xfrm>
          <a:prstGeom prst="rect">
            <a:avLst/>
          </a:prstGeom>
          <a:noFill/>
        </p:spPr>
        <p:txBody>
          <a:bodyPr wrap="square" rtlCol="1">
            <a:spAutoFit/>
          </a:bodyPr>
          <a:lstStyle/>
          <a:p>
            <a:r>
              <a:rPr lang="en-US" sz="2800" dirty="0">
                <a:latin typeface="Calistoga" panose="020B0604020202020204" charset="0"/>
              </a:rPr>
              <a:t>Qualitative Measures</a:t>
            </a:r>
          </a:p>
          <a:p>
            <a:endParaRPr lang="he-IL" dirty="0"/>
          </a:p>
        </p:txBody>
      </p:sp>
      <p:sp>
        <p:nvSpPr>
          <p:cNvPr id="17" name="TextBox 16"/>
          <p:cNvSpPr txBox="1"/>
          <p:nvPr/>
        </p:nvSpPr>
        <p:spPr>
          <a:xfrm>
            <a:off x="9648337" y="5174488"/>
            <a:ext cx="6934200" cy="1107996"/>
          </a:xfrm>
          <a:prstGeom prst="rect">
            <a:avLst/>
          </a:prstGeom>
          <a:noFill/>
        </p:spPr>
        <p:txBody>
          <a:bodyPr wrap="square" rtlCol="1">
            <a:spAutoFit/>
          </a:bodyPr>
          <a:lstStyle/>
          <a:p>
            <a:r>
              <a:rPr lang="en-US" sz="2400" dirty="0">
                <a:latin typeface="Calistoga" panose="020B0604020202020204" charset="0"/>
              </a:rPr>
              <a:t>Conversation &amp; Reflection Analysis:</a:t>
            </a:r>
            <a:br>
              <a:rPr lang="en-US" sz="2400" dirty="0">
                <a:latin typeface="Calistoga" panose="020B0604020202020204" charset="0"/>
              </a:rPr>
            </a:br>
            <a:endParaRPr lang="he-IL" sz="2400" dirty="0">
              <a:latin typeface="Calistoga" panose="020B0604020202020204" charset="0"/>
            </a:endParaRPr>
          </a:p>
          <a:p>
            <a:endParaRPr lang="he-IL" dirty="0"/>
          </a:p>
        </p:txBody>
      </p:sp>
      <p:pic>
        <p:nvPicPr>
          <p:cNvPr id="8" name="תמונה 7"/>
          <p:cNvPicPr>
            <a:picLocks noChangeAspect="1"/>
          </p:cNvPicPr>
          <p:nvPr/>
        </p:nvPicPr>
        <p:blipFill>
          <a:blip r:embed="rId23"/>
          <a:stretch>
            <a:fillRect/>
          </a:stretch>
        </p:blipFill>
        <p:spPr>
          <a:xfrm>
            <a:off x="847046" y="2184856"/>
            <a:ext cx="7814886" cy="5729532"/>
          </a:xfrm>
          <a:prstGeom prst="rect">
            <a:avLst/>
          </a:prstGeom>
        </p:spPr>
      </p:pic>
      <p:pic>
        <p:nvPicPr>
          <p:cNvPr id="10" name="תמונה 9"/>
          <p:cNvPicPr>
            <a:picLocks noChangeAspect="1"/>
          </p:cNvPicPr>
          <p:nvPr/>
        </p:nvPicPr>
        <p:blipFill>
          <a:blip r:embed="rId24"/>
          <a:stretch>
            <a:fillRect/>
          </a:stretch>
        </p:blipFill>
        <p:spPr>
          <a:xfrm>
            <a:off x="9201530" y="2233438"/>
            <a:ext cx="8344436" cy="5820123"/>
          </a:xfrm>
          <a:prstGeom prst="rect">
            <a:avLst/>
          </a:prstGeom>
        </p:spPr>
      </p:pic>
      <p:pic>
        <p:nvPicPr>
          <p:cNvPr id="35" name="תמונה 34"/>
          <p:cNvPicPr>
            <a:picLocks noChangeAspect="1"/>
          </p:cNvPicPr>
          <p:nvPr/>
        </p:nvPicPr>
        <p:blipFill>
          <a:blip r:embed="rId25"/>
          <a:stretch>
            <a:fillRect/>
          </a:stretch>
        </p:blipFill>
        <p:spPr>
          <a:xfrm>
            <a:off x="1142041" y="2809037"/>
            <a:ext cx="5258759" cy="819264"/>
          </a:xfrm>
          <a:prstGeom prst="rect">
            <a:avLst/>
          </a:prstGeom>
        </p:spPr>
      </p:pic>
      <p:pic>
        <p:nvPicPr>
          <p:cNvPr id="11" name="תמונה 10"/>
          <p:cNvPicPr>
            <a:picLocks noChangeAspect="1"/>
          </p:cNvPicPr>
          <p:nvPr/>
        </p:nvPicPr>
        <p:blipFill>
          <a:blip r:embed="rId26"/>
          <a:stretch>
            <a:fillRect/>
          </a:stretch>
        </p:blipFill>
        <p:spPr>
          <a:xfrm>
            <a:off x="6348746" y="2933622"/>
            <a:ext cx="1563572" cy="447737"/>
          </a:xfrm>
          <a:prstGeom prst="rect">
            <a:avLst/>
          </a:prstGeom>
        </p:spPr>
      </p:pic>
      <p:pic>
        <p:nvPicPr>
          <p:cNvPr id="20" name="תמונה 19"/>
          <p:cNvPicPr>
            <a:picLocks noChangeAspect="1"/>
          </p:cNvPicPr>
          <p:nvPr/>
        </p:nvPicPr>
        <p:blipFill>
          <a:blip r:embed="rId26"/>
          <a:stretch>
            <a:fillRect/>
          </a:stretch>
        </p:blipFill>
        <p:spPr>
          <a:xfrm>
            <a:off x="1214629" y="3596497"/>
            <a:ext cx="6938267" cy="2077289"/>
          </a:xfrm>
          <a:prstGeom prst="rect">
            <a:avLst/>
          </a:prstGeom>
        </p:spPr>
      </p:pic>
      <p:sp>
        <p:nvSpPr>
          <p:cNvPr id="23" name="מלבן 22"/>
          <p:cNvSpPr/>
          <p:nvPr/>
        </p:nvSpPr>
        <p:spPr>
          <a:xfrm>
            <a:off x="1050185" y="3570235"/>
            <a:ext cx="7431735" cy="5324535"/>
          </a:xfrm>
          <a:prstGeom prst="rect">
            <a:avLst/>
          </a:prstGeom>
        </p:spPr>
        <p:txBody>
          <a:bodyPr wrap="square">
            <a:spAutoFit/>
          </a:bodyPr>
          <a:lstStyle/>
          <a:p>
            <a:r>
              <a:rPr lang="en-US" sz="2400" dirty="0">
                <a:latin typeface="Calistoga" panose="020B0604020202020204" charset="0"/>
              </a:rPr>
              <a:t>Pre/Post SEL Questionnaire:</a:t>
            </a:r>
          </a:p>
          <a:p>
            <a:endParaRPr lang="en-US" dirty="0">
              <a:latin typeface="Calistoga" panose="020B0604020202020204" charset="0"/>
            </a:endParaRPr>
          </a:p>
          <a:p>
            <a:r>
              <a:rPr lang="en-US" sz="2800" dirty="0">
                <a:latin typeface="Public Sans" panose="020B0604020202020204" charset="0"/>
              </a:rPr>
              <a:t>Measures changes across the 5 CASEL competencies.</a:t>
            </a:r>
          </a:p>
          <a:p>
            <a:endParaRPr lang="en-US" dirty="0">
              <a:latin typeface="Public Sans" panose="020B0604020202020204" charset="0"/>
            </a:endParaRPr>
          </a:p>
          <a:p>
            <a:endParaRPr lang="en-US" dirty="0">
              <a:latin typeface="Public Sans" panose="020B0604020202020204" charset="0"/>
            </a:endParaRPr>
          </a:p>
          <a:p>
            <a:r>
              <a:rPr lang="en-US" sz="2400" dirty="0">
                <a:latin typeface="Calistoga" panose="020B0604020202020204" charset="0"/>
              </a:rPr>
              <a:t>User Experience Questionnaire (UEQ-S):</a:t>
            </a:r>
          </a:p>
          <a:p>
            <a:endParaRPr lang="en-US" dirty="0">
              <a:latin typeface="Calistoga" panose="020B0604020202020204" charset="0"/>
            </a:endParaRPr>
          </a:p>
          <a:p>
            <a:r>
              <a:rPr lang="en-US" sz="2800" dirty="0"/>
              <a:t>U</a:t>
            </a:r>
            <a:r>
              <a:rPr lang="en-US" sz="2800" dirty="0">
                <a:latin typeface="Public Sans" panose="020B0604020202020204" charset="0"/>
              </a:rPr>
              <a:t>ser experience is measured through pragmatic and hedonic qualities.</a:t>
            </a:r>
            <a:endParaRPr lang="he-IL" sz="2800" dirty="0">
              <a:latin typeface="Public Sans" panose="020B0604020202020204" charset="0"/>
            </a:endParaRPr>
          </a:p>
          <a:p>
            <a:r>
              <a:rPr lang="en-US" dirty="0">
                <a:latin typeface="Calistoga" panose="020B0604020202020204" charset="0"/>
              </a:rPr>
              <a:t/>
            </a:r>
            <a:br>
              <a:rPr lang="en-US" dirty="0">
                <a:latin typeface="Calistoga" panose="020B0604020202020204" charset="0"/>
              </a:rPr>
            </a:br>
            <a:endParaRPr lang="he-IL" dirty="0">
              <a:latin typeface="Calistoga" panose="020B0604020202020204" charset="0"/>
            </a:endParaRPr>
          </a:p>
          <a:p>
            <a:endParaRPr lang="he-IL" dirty="0">
              <a:latin typeface="Public Sans" panose="020B0604020202020204" charset="0"/>
            </a:endParaRPr>
          </a:p>
          <a:p>
            <a:endParaRPr lang="en-US" dirty="0">
              <a:latin typeface="Calistoga" panose="020B0604020202020204" charset="0"/>
            </a:endParaRPr>
          </a:p>
          <a:p>
            <a:r>
              <a:rPr lang="en-US" dirty="0">
                <a:latin typeface="Calistoga" panose="020B0604020202020204" charset="0"/>
              </a:rPr>
              <a:t/>
            </a:r>
            <a:br>
              <a:rPr lang="en-US" dirty="0">
                <a:latin typeface="Calistoga" panose="020B0604020202020204" charset="0"/>
              </a:rPr>
            </a:br>
            <a:endParaRPr lang="he-IL" dirty="0">
              <a:latin typeface="Calistoga" panose="020B0604020202020204" charset="0"/>
            </a:endParaRPr>
          </a:p>
        </p:txBody>
      </p:sp>
      <p:pic>
        <p:nvPicPr>
          <p:cNvPr id="25" name="תמונה 24"/>
          <p:cNvPicPr>
            <a:picLocks noChangeAspect="1"/>
          </p:cNvPicPr>
          <p:nvPr/>
        </p:nvPicPr>
        <p:blipFill>
          <a:blip r:embed="rId27"/>
          <a:stretch>
            <a:fillRect/>
          </a:stretch>
        </p:blipFill>
        <p:spPr>
          <a:xfrm>
            <a:off x="9453082" y="2767561"/>
            <a:ext cx="7324710" cy="764105"/>
          </a:xfrm>
          <a:prstGeom prst="rect">
            <a:avLst/>
          </a:prstGeom>
        </p:spPr>
      </p:pic>
      <p:pic>
        <p:nvPicPr>
          <p:cNvPr id="29" name="תמונה 28"/>
          <p:cNvPicPr>
            <a:picLocks noChangeAspect="1"/>
          </p:cNvPicPr>
          <p:nvPr/>
        </p:nvPicPr>
        <p:blipFill>
          <a:blip r:embed="rId28"/>
          <a:stretch>
            <a:fillRect/>
          </a:stretch>
        </p:blipFill>
        <p:spPr>
          <a:xfrm>
            <a:off x="10040042" y="4293778"/>
            <a:ext cx="6871518" cy="2039273"/>
          </a:xfrm>
          <a:prstGeom prst="rect">
            <a:avLst/>
          </a:prstGeom>
        </p:spPr>
      </p:pic>
      <p:sp>
        <p:nvSpPr>
          <p:cNvPr id="30" name="TextBox 29"/>
          <p:cNvSpPr txBox="1"/>
          <p:nvPr/>
        </p:nvSpPr>
        <p:spPr>
          <a:xfrm>
            <a:off x="9303903" y="3503305"/>
            <a:ext cx="8330583" cy="5447645"/>
          </a:xfrm>
          <a:prstGeom prst="rect">
            <a:avLst/>
          </a:prstGeom>
          <a:noFill/>
        </p:spPr>
        <p:txBody>
          <a:bodyPr wrap="square" rtlCol="1">
            <a:spAutoFit/>
          </a:bodyPr>
          <a:lstStyle/>
          <a:p>
            <a:r>
              <a:rPr lang="en-US" sz="2400" dirty="0">
                <a:latin typeface="Calistoga" panose="020B0604020202020204" charset="0"/>
              </a:rPr>
              <a:t>Trust:</a:t>
            </a:r>
          </a:p>
          <a:p>
            <a:endParaRPr lang="en-US" sz="2400" dirty="0">
              <a:latin typeface="Calistoga" panose="020B0604020202020204" charset="0"/>
            </a:endParaRPr>
          </a:p>
          <a:p>
            <a:r>
              <a:rPr lang="en-US" sz="2800" dirty="0">
                <a:latin typeface="Public Sans" panose="020B0604020202020204" charset="0"/>
              </a:rPr>
              <a:t>reflection questions :</a:t>
            </a:r>
          </a:p>
          <a:p>
            <a:r>
              <a:rPr lang="en-US" sz="2800" dirty="0">
                <a:latin typeface="Public Sans" panose="020B0604020202020204" charset="0"/>
              </a:rPr>
              <a:t>Was talking with CASELY useful or meaningful?</a:t>
            </a:r>
          </a:p>
          <a:p>
            <a:endParaRPr lang="en-US" sz="2800" dirty="0">
              <a:latin typeface="Public Sans" panose="020B0604020202020204" charset="0"/>
            </a:endParaRPr>
          </a:p>
          <a:p>
            <a:r>
              <a:rPr lang="en-US" sz="2400" dirty="0">
                <a:latin typeface="Calistoga" panose="020B0604020202020204" charset="0"/>
              </a:rPr>
              <a:t>Conversation </a:t>
            </a:r>
            <a:r>
              <a:rPr lang="en-US" sz="2400" b="1" dirty="0"/>
              <a:t>&amp;</a:t>
            </a:r>
            <a:r>
              <a:rPr lang="en-US" sz="2400" dirty="0">
                <a:latin typeface="Calistoga" panose="020B0604020202020204" charset="0"/>
              </a:rPr>
              <a:t> Reflection Analysis:</a:t>
            </a:r>
          </a:p>
          <a:p>
            <a:endParaRPr lang="en-US" sz="2400" dirty="0">
              <a:latin typeface="Calistoga" panose="020B0604020202020204" charset="0"/>
            </a:endParaRPr>
          </a:p>
          <a:p>
            <a:r>
              <a:rPr lang="en-US" sz="2800" dirty="0">
                <a:latin typeface="Public Sans" panose="020B0604020202020204" charset="0"/>
              </a:rPr>
              <a:t>In-depth analysis of dialogue transcripts and open-ended reflection responses</a:t>
            </a:r>
            <a:endParaRPr lang="he-IL" sz="2800" dirty="0">
              <a:latin typeface="Public Sans" panose="020B0604020202020204" charset="0"/>
            </a:endParaRPr>
          </a:p>
          <a:p>
            <a:r>
              <a:rPr lang="en-US" dirty="0">
                <a:latin typeface="Calistoga" panose="020B0604020202020204" charset="0"/>
              </a:rPr>
              <a:t/>
            </a:r>
            <a:br>
              <a:rPr lang="en-US" dirty="0">
                <a:latin typeface="Calistoga" panose="020B0604020202020204" charset="0"/>
              </a:rPr>
            </a:br>
            <a:endParaRPr lang="he-IL" dirty="0">
              <a:latin typeface="Calistoga" panose="020B0604020202020204" charset="0"/>
            </a:endParaRPr>
          </a:p>
          <a:p>
            <a:endParaRPr lang="he-IL" dirty="0">
              <a:latin typeface="Public Sans" panose="020B0604020202020204" charset="0"/>
            </a:endParaRPr>
          </a:p>
          <a:p>
            <a:r>
              <a:rPr lang="en-US" dirty="0">
                <a:latin typeface="Calistoga" panose="020B0604020202020204" charset="0"/>
              </a:rPr>
              <a:t/>
            </a:r>
            <a:br>
              <a:rPr lang="en-US" dirty="0">
                <a:latin typeface="Calistoga" panose="020B0604020202020204" charset="0"/>
              </a:rPr>
            </a:br>
            <a:endParaRPr lang="he-IL" dirty="0">
              <a:latin typeface="Calistoga" panose="020B0604020202020204" charset="0"/>
            </a:endParaRPr>
          </a:p>
          <a:p>
            <a:endParaRPr lang="he-IL" dirty="0"/>
          </a:p>
        </p:txBody>
      </p:sp>
      <p:pic>
        <p:nvPicPr>
          <p:cNvPr id="24" name="תמונה 23">
            <a:extLst>
              <a:ext uri="{FF2B5EF4-FFF2-40B4-BE49-F238E27FC236}">
                <a16:creationId xmlns:a16="http://schemas.microsoft.com/office/drawing/2014/main" id="{53D49AAA-9ABA-BBAA-7E13-3E73BEA5424F}"/>
              </a:ext>
            </a:extLst>
          </p:cNvPr>
          <p:cNvPicPr>
            <a:picLocks noChangeAspect="1"/>
          </p:cNvPicPr>
          <p:nvPr/>
        </p:nvPicPr>
        <p:blipFill>
          <a:blip r:embed="rId29"/>
          <a:stretch>
            <a:fillRect/>
          </a:stretch>
        </p:blipFill>
        <p:spPr>
          <a:xfrm>
            <a:off x="8621641" y="4973501"/>
            <a:ext cx="247685" cy="161948"/>
          </a:xfrm>
          <a:prstGeom prst="rect">
            <a:avLst/>
          </a:prstGeom>
        </p:spPr>
      </p:pic>
      <p:pic>
        <p:nvPicPr>
          <p:cNvPr id="26" name="תמונה 25">
            <a:extLst>
              <a:ext uri="{FF2B5EF4-FFF2-40B4-BE49-F238E27FC236}">
                <a16:creationId xmlns:a16="http://schemas.microsoft.com/office/drawing/2014/main" id="{DB822D0B-67F0-DF43-507D-EA521C9D26B5}"/>
              </a:ext>
            </a:extLst>
          </p:cNvPr>
          <p:cNvPicPr>
            <a:picLocks noChangeAspect="1"/>
          </p:cNvPicPr>
          <p:nvPr/>
        </p:nvPicPr>
        <p:blipFill>
          <a:blip r:embed="rId29"/>
          <a:stretch>
            <a:fillRect/>
          </a:stretch>
        </p:blipFill>
        <p:spPr>
          <a:xfrm>
            <a:off x="8607950" y="4968648"/>
            <a:ext cx="247685" cy="161948"/>
          </a:xfrm>
          <a:prstGeom prst="rect">
            <a:avLst/>
          </a:prstGeom>
        </p:spPr>
      </p:pic>
      <p:pic>
        <p:nvPicPr>
          <p:cNvPr id="31" name="תמונה 30">
            <a:extLst>
              <a:ext uri="{FF2B5EF4-FFF2-40B4-BE49-F238E27FC236}">
                <a16:creationId xmlns:a16="http://schemas.microsoft.com/office/drawing/2014/main" id="{8477BEF5-A410-0627-0704-6CCC739F448E}"/>
              </a:ext>
            </a:extLst>
          </p:cNvPr>
          <p:cNvPicPr>
            <a:picLocks noChangeAspect="1"/>
          </p:cNvPicPr>
          <p:nvPr/>
        </p:nvPicPr>
        <p:blipFill>
          <a:blip r:embed="rId29"/>
          <a:stretch>
            <a:fillRect/>
          </a:stretch>
        </p:blipFill>
        <p:spPr>
          <a:xfrm>
            <a:off x="8982446" y="5029004"/>
            <a:ext cx="247685" cy="161948"/>
          </a:xfrm>
          <a:prstGeom prst="rect">
            <a:avLst/>
          </a:prstGeom>
        </p:spPr>
      </p:pic>
      <p:pic>
        <p:nvPicPr>
          <p:cNvPr id="36" name="תמונה 35">
            <a:extLst>
              <a:ext uri="{FF2B5EF4-FFF2-40B4-BE49-F238E27FC236}">
                <a16:creationId xmlns:a16="http://schemas.microsoft.com/office/drawing/2014/main" id="{BB6007CF-CF54-F386-9716-94C6686AE433}"/>
              </a:ext>
            </a:extLst>
          </p:cNvPr>
          <p:cNvPicPr>
            <a:picLocks noChangeAspect="1"/>
          </p:cNvPicPr>
          <p:nvPr/>
        </p:nvPicPr>
        <p:blipFill>
          <a:blip r:embed="rId30"/>
          <a:stretch>
            <a:fillRect/>
          </a:stretch>
        </p:blipFill>
        <p:spPr>
          <a:xfrm>
            <a:off x="2026145" y="2692086"/>
            <a:ext cx="4602391" cy="723796"/>
          </a:xfrm>
          <a:prstGeom prst="rect">
            <a:avLst/>
          </a:prstGeom>
        </p:spPr>
      </p:pic>
      <p:sp>
        <p:nvSpPr>
          <p:cNvPr id="45" name="תיבת טקסט 44">
            <a:extLst>
              <a:ext uri="{FF2B5EF4-FFF2-40B4-BE49-F238E27FC236}">
                <a16:creationId xmlns:a16="http://schemas.microsoft.com/office/drawing/2014/main" id="{49D34D9D-092F-2961-5021-1619F26CC56A}"/>
              </a:ext>
            </a:extLst>
          </p:cNvPr>
          <p:cNvSpPr txBox="1"/>
          <p:nvPr/>
        </p:nvSpPr>
        <p:spPr>
          <a:xfrm>
            <a:off x="1939942" y="2889978"/>
            <a:ext cx="4137936" cy="861774"/>
          </a:xfrm>
          <a:prstGeom prst="rect">
            <a:avLst/>
          </a:prstGeom>
          <a:noFill/>
        </p:spPr>
        <p:txBody>
          <a:bodyPr wrap="square" rtlCol="1">
            <a:spAutoFit/>
          </a:bodyPr>
          <a:lstStyle/>
          <a:p>
            <a:r>
              <a:rPr lang="en-US" sz="2500" dirty="0">
                <a:latin typeface="Calistoga" panose="020B0604020202020204" charset="0"/>
              </a:rPr>
              <a:t>Quantitative Measures</a:t>
            </a:r>
            <a:br>
              <a:rPr lang="en-US" sz="2500" dirty="0">
                <a:latin typeface="Calistoga" panose="020B0604020202020204" charset="0"/>
              </a:rPr>
            </a:br>
            <a:endParaRPr lang="he-IL" sz="2500" dirty="0">
              <a:latin typeface="Calistoga" panose="020B0604020202020204" charset="0"/>
            </a:endParaRPr>
          </a:p>
        </p:txBody>
      </p:sp>
      <p:pic>
        <p:nvPicPr>
          <p:cNvPr id="48" name="תמונה 47">
            <a:extLst>
              <a:ext uri="{FF2B5EF4-FFF2-40B4-BE49-F238E27FC236}">
                <a16:creationId xmlns:a16="http://schemas.microsoft.com/office/drawing/2014/main" id="{9BDC0BEB-54E5-F538-27CA-D51F860B994D}"/>
              </a:ext>
            </a:extLst>
          </p:cNvPr>
          <p:cNvPicPr>
            <a:picLocks noChangeAspect="1"/>
          </p:cNvPicPr>
          <p:nvPr/>
        </p:nvPicPr>
        <p:blipFill>
          <a:blip r:embed="rId31"/>
          <a:stretch>
            <a:fillRect/>
          </a:stretch>
        </p:blipFill>
        <p:spPr>
          <a:xfrm>
            <a:off x="10178447" y="2848833"/>
            <a:ext cx="6692525" cy="616096"/>
          </a:xfrm>
          <a:prstGeom prst="rect">
            <a:avLst/>
          </a:prstGeom>
        </p:spPr>
      </p:pic>
      <p:sp>
        <p:nvSpPr>
          <p:cNvPr id="52" name="תיבת טקסט 51">
            <a:extLst>
              <a:ext uri="{FF2B5EF4-FFF2-40B4-BE49-F238E27FC236}">
                <a16:creationId xmlns:a16="http://schemas.microsoft.com/office/drawing/2014/main" id="{4A94191B-B63A-FD24-AC57-CACBC705177B}"/>
              </a:ext>
            </a:extLst>
          </p:cNvPr>
          <p:cNvSpPr txBox="1"/>
          <p:nvPr/>
        </p:nvSpPr>
        <p:spPr>
          <a:xfrm>
            <a:off x="10307183" y="2815547"/>
            <a:ext cx="5413393" cy="861774"/>
          </a:xfrm>
          <a:prstGeom prst="rect">
            <a:avLst/>
          </a:prstGeom>
          <a:noFill/>
        </p:spPr>
        <p:txBody>
          <a:bodyPr wrap="square" rtlCol="1">
            <a:spAutoFit/>
          </a:bodyPr>
          <a:lstStyle/>
          <a:p>
            <a:r>
              <a:rPr lang="en-US" sz="2500" dirty="0">
                <a:latin typeface="Calistoga" panose="020B0604020202020204" charset="0"/>
              </a:rPr>
              <a:t>Qualitative &amp; Behavioral Measures</a:t>
            </a:r>
          </a:p>
          <a:p>
            <a:endParaRPr lang="he-IL" sz="2500" dirty="0">
              <a:latin typeface="Calistoga" panose="020B0604020202020204" charset="0"/>
            </a:endParaRPr>
          </a:p>
        </p:txBody>
      </p:sp>
      <p:pic>
        <p:nvPicPr>
          <p:cNvPr id="54" name="תמונה 53">
            <a:extLst>
              <a:ext uri="{FF2B5EF4-FFF2-40B4-BE49-F238E27FC236}">
                <a16:creationId xmlns:a16="http://schemas.microsoft.com/office/drawing/2014/main" id="{E72191AA-5802-D695-2CE0-07E37351FE8D}"/>
              </a:ext>
            </a:extLst>
          </p:cNvPr>
          <p:cNvPicPr>
            <a:picLocks noChangeAspect="1"/>
          </p:cNvPicPr>
          <p:nvPr/>
        </p:nvPicPr>
        <p:blipFill>
          <a:blip r:embed="rId32"/>
          <a:stretch>
            <a:fillRect/>
          </a:stretch>
        </p:blipFill>
        <p:spPr>
          <a:xfrm>
            <a:off x="10424014" y="3299369"/>
            <a:ext cx="6605329" cy="753562"/>
          </a:xfrm>
          <a:prstGeom prst="rect">
            <a:avLst/>
          </a:prstGeom>
        </p:spPr>
      </p:pic>
    </p:spTree>
    <p:extLst>
      <p:ext uri="{BB962C8B-B14F-4D97-AF65-F5344CB8AC3E}">
        <p14:creationId xmlns:p14="http://schemas.microsoft.com/office/powerpoint/2010/main" val="1215847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17199991" y="0"/>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0" y="9085666"/>
            <a:ext cx="1146492" cy="1079787"/>
          </a:xfrm>
          <a:custGeom>
            <a:avLst/>
            <a:gdLst/>
            <a:ahLst/>
            <a:cxnLst/>
            <a:rect l="l" t="t" r="r" b="b"/>
            <a:pathLst>
              <a:path w="1146492" h="1079787">
                <a:moveTo>
                  <a:pt x="0" y="0"/>
                </a:moveTo>
                <a:lnTo>
                  <a:pt x="1146492" y="0"/>
                </a:lnTo>
                <a:lnTo>
                  <a:pt x="1146492" y="1079787"/>
                </a:lnTo>
                <a:lnTo>
                  <a:pt x="0" y="107978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sp>
        <p:nvSpPr>
          <p:cNvPr id="4" name="Freeform 4">
            <a:extLst>
              <a:ext uri="{C183D7F6-B498-43B3-948B-1728B52AA6E4}">
                <adec:decorative xmlns:adec="http://schemas.microsoft.com/office/drawing/2017/decorative" xmlns="" val="1"/>
              </a:ext>
            </a:extLst>
          </p:cNvPr>
          <p:cNvSpPr/>
          <p:nvPr/>
        </p:nvSpPr>
        <p:spPr>
          <a:xfrm>
            <a:off x="192634" y="128825"/>
            <a:ext cx="836066" cy="899875"/>
          </a:xfrm>
          <a:custGeom>
            <a:avLst/>
            <a:gdLst/>
            <a:ahLst/>
            <a:cxnLst/>
            <a:rect l="l" t="t" r="r" b="b"/>
            <a:pathLst>
              <a:path w="836066" h="899875">
                <a:moveTo>
                  <a:pt x="0" y="0"/>
                </a:moveTo>
                <a:lnTo>
                  <a:pt x="836066" y="0"/>
                </a:lnTo>
                <a:lnTo>
                  <a:pt x="836066" y="899875"/>
                </a:lnTo>
                <a:lnTo>
                  <a:pt x="0" y="89987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5" name="Freeform 5">
            <a:extLst>
              <a:ext uri="{C183D7F6-B498-43B3-948B-1728B52AA6E4}">
                <adec:decorative xmlns:adec="http://schemas.microsoft.com/office/drawing/2017/decorative" xmlns="" val="1"/>
              </a:ext>
            </a:extLst>
          </p:cNvPr>
          <p:cNvSpPr/>
          <p:nvPr/>
        </p:nvSpPr>
        <p:spPr>
          <a:xfrm>
            <a:off x="17749973" y="9085666"/>
            <a:ext cx="1024825" cy="1041873"/>
          </a:xfrm>
          <a:custGeom>
            <a:avLst/>
            <a:gdLst/>
            <a:ahLst/>
            <a:cxnLst/>
            <a:rect l="l" t="t" r="r" b="b"/>
            <a:pathLst>
              <a:path w="1024825" h="1041873">
                <a:moveTo>
                  <a:pt x="0" y="0"/>
                </a:moveTo>
                <a:lnTo>
                  <a:pt x="1024825" y="0"/>
                </a:lnTo>
                <a:lnTo>
                  <a:pt x="1024825" y="1041873"/>
                </a:lnTo>
                <a:lnTo>
                  <a:pt x="0" y="104187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he-IL"/>
          </a:p>
        </p:txBody>
      </p:sp>
      <p:sp>
        <p:nvSpPr>
          <p:cNvPr id="7" name="TextBox 7"/>
          <p:cNvSpPr txBox="1"/>
          <p:nvPr/>
        </p:nvSpPr>
        <p:spPr>
          <a:xfrm>
            <a:off x="3530193" y="578762"/>
            <a:ext cx="10655765" cy="1006814"/>
          </a:xfrm>
          <a:prstGeom prst="rect">
            <a:avLst/>
          </a:prstGeom>
        </p:spPr>
        <p:txBody>
          <a:bodyPr lIns="0" tIns="0" rIns="0" bIns="0" rtlCol="0" anchor="t">
            <a:spAutoFit/>
          </a:bodyPr>
          <a:lstStyle/>
          <a:p>
            <a:pPr marL="0" lvl="0" indent="0" algn="ctr">
              <a:lnSpc>
                <a:spcPts val="8399"/>
              </a:lnSpc>
            </a:pPr>
            <a:r>
              <a:rPr lang="en-US" sz="5600" dirty="0">
                <a:solidFill>
                  <a:schemeClr val="accent3">
                    <a:lumMod val="50000"/>
                  </a:schemeClr>
                </a:solidFill>
                <a:latin typeface="Calistoga"/>
                <a:ea typeface="Calistoga"/>
                <a:cs typeface="Calistoga"/>
                <a:sym typeface="Calistoga"/>
              </a:rPr>
              <a:t>Future Research Plan</a:t>
            </a:r>
          </a:p>
        </p:txBody>
      </p:sp>
      <p:pic>
        <p:nvPicPr>
          <p:cNvPr id="13" name="תמונה 12" descr="תמונה שמכילה טקסט, צילום מסך, גופן&#10;&#10;תוכן בינה מלאכותית גנרטיבית עשוי להיות שגוי.">
            <a:extLst>
              <a:ext uri="{FF2B5EF4-FFF2-40B4-BE49-F238E27FC236}">
                <a16:creationId xmlns:a16="http://schemas.microsoft.com/office/drawing/2014/main" id="{6981B56D-8DB8-E8C3-B6B2-EAAE9A6FA5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4800" y="1675171"/>
            <a:ext cx="17663214" cy="8033067"/>
          </a:xfrm>
          <a:prstGeom prst="rect">
            <a:avLst/>
          </a:prstGeom>
        </p:spPr>
      </p:pic>
      <p:pic>
        <p:nvPicPr>
          <p:cNvPr id="15" name="תמונה 14">
            <a:extLst>
              <a:ext uri="{FF2B5EF4-FFF2-40B4-BE49-F238E27FC236}">
                <a16:creationId xmlns:a16="http://schemas.microsoft.com/office/drawing/2014/main" id="{423F1629-4218-E162-3198-286C5497E59C}"/>
              </a:ext>
            </a:extLst>
          </p:cNvPr>
          <p:cNvPicPr>
            <a:picLocks noChangeAspect="1"/>
          </p:cNvPicPr>
          <p:nvPr/>
        </p:nvPicPr>
        <p:blipFill>
          <a:blip r:embed="rId11"/>
          <a:stretch>
            <a:fillRect/>
          </a:stretch>
        </p:blipFill>
        <p:spPr>
          <a:xfrm>
            <a:off x="1371599" y="3543300"/>
            <a:ext cx="6934201" cy="2743200"/>
          </a:xfrm>
          <a:prstGeom prst="rect">
            <a:avLst/>
          </a:prstGeom>
        </p:spPr>
      </p:pic>
      <p:pic>
        <p:nvPicPr>
          <p:cNvPr id="19" name="תמונה 18">
            <a:extLst>
              <a:ext uri="{FF2B5EF4-FFF2-40B4-BE49-F238E27FC236}">
                <a16:creationId xmlns:a16="http://schemas.microsoft.com/office/drawing/2014/main" id="{4A45086F-08D9-7480-2B34-4577AC7FEA5F}"/>
              </a:ext>
            </a:extLst>
          </p:cNvPr>
          <p:cNvPicPr>
            <a:picLocks noChangeAspect="1"/>
          </p:cNvPicPr>
          <p:nvPr/>
        </p:nvPicPr>
        <p:blipFill>
          <a:blip r:embed="rId12"/>
          <a:stretch>
            <a:fillRect/>
          </a:stretch>
        </p:blipFill>
        <p:spPr>
          <a:xfrm>
            <a:off x="10003973" y="3543300"/>
            <a:ext cx="6735539" cy="2148404"/>
          </a:xfrm>
          <a:prstGeom prst="rect">
            <a:avLst/>
          </a:prstGeom>
        </p:spPr>
      </p:pic>
      <p:pic>
        <p:nvPicPr>
          <p:cNvPr id="21" name="תמונה 20">
            <a:extLst>
              <a:ext uri="{FF2B5EF4-FFF2-40B4-BE49-F238E27FC236}">
                <a16:creationId xmlns:a16="http://schemas.microsoft.com/office/drawing/2014/main" id="{2D8B9489-0540-4F85-8AF9-55C1DD7283EB}"/>
              </a:ext>
            </a:extLst>
          </p:cNvPr>
          <p:cNvPicPr>
            <a:picLocks noChangeAspect="1"/>
          </p:cNvPicPr>
          <p:nvPr/>
        </p:nvPicPr>
        <p:blipFill>
          <a:blip r:embed="rId13"/>
          <a:stretch>
            <a:fillRect/>
          </a:stretch>
        </p:blipFill>
        <p:spPr>
          <a:xfrm>
            <a:off x="1190035" y="8005879"/>
            <a:ext cx="15791254" cy="1079787"/>
          </a:xfrm>
          <a:prstGeom prst="rect">
            <a:avLst/>
          </a:prstGeom>
        </p:spPr>
      </p:pic>
      <p:sp>
        <p:nvSpPr>
          <p:cNvPr id="22" name="תיבת טקסט 21">
            <a:extLst>
              <a:ext uri="{FF2B5EF4-FFF2-40B4-BE49-F238E27FC236}">
                <a16:creationId xmlns:a16="http://schemas.microsoft.com/office/drawing/2014/main" id="{84937799-FB4F-EE44-9B9E-22EE1F729E9A}"/>
              </a:ext>
            </a:extLst>
          </p:cNvPr>
          <p:cNvSpPr txBox="1"/>
          <p:nvPr/>
        </p:nvSpPr>
        <p:spPr>
          <a:xfrm>
            <a:off x="1146492" y="3916235"/>
            <a:ext cx="6955972" cy="830997"/>
          </a:xfrm>
          <a:prstGeom prst="rect">
            <a:avLst/>
          </a:prstGeom>
          <a:noFill/>
        </p:spPr>
        <p:txBody>
          <a:bodyPr wrap="square" rtlCol="1">
            <a:spAutoFit/>
          </a:bodyPr>
          <a:lstStyle/>
          <a:p>
            <a:pPr algn="ctr"/>
            <a:r>
              <a:rPr lang="en-US" sz="2400" dirty="0">
                <a:latin typeface="Public Sans" panose="020B0604020202020204" charset="0"/>
              </a:rPr>
              <a:t>A pilot study in the Engineering Fundamental Skills course (251961)</a:t>
            </a:r>
            <a:endParaRPr lang="he-IL" sz="2400" dirty="0">
              <a:latin typeface="Public Sans" panose="020B0604020202020204" charset="0"/>
            </a:endParaRPr>
          </a:p>
        </p:txBody>
      </p:sp>
      <p:sp>
        <p:nvSpPr>
          <p:cNvPr id="23" name="תיבת טקסט 22">
            <a:extLst>
              <a:ext uri="{FF2B5EF4-FFF2-40B4-BE49-F238E27FC236}">
                <a16:creationId xmlns:a16="http://schemas.microsoft.com/office/drawing/2014/main" id="{BCC8DF84-051A-AF42-5F4C-E79D2D9AC859}"/>
              </a:ext>
            </a:extLst>
          </p:cNvPr>
          <p:cNvSpPr txBox="1"/>
          <p:nvPr/>
        </p:nvSpPr>
        <p:spPr>
          <a:xfrm>
            <a:off x="10177981" y="3726906"/>
            <a:ext cx="7065391" cy="2400657"/>
          </a:xfrm>
          <a:prstGeom prst="rect">
            <a:avLst/>
          </a:prstGeom>
          <a:noFill/>
        </p:spPr>
        <p:txBody>
          <a:bodyPr wrap="square" rtlCol="1">
            <a:spAutoFit/>
          </a:bodyPr>
          <a:lstStyle/>
          <a:p>
            <a:pPr algn="ctr"/>
            <a:r>
              <a:rPr lang="en-US" sz="2500" dirty="0">
                <a:latin typeface="Public Sans" panose="020B0604020202020204" charset="0"/>
              </a:rPr>
              <a:t>Involve scaling up the study and disseminating findings through academic journals and conference in education SEL and AI.</a:t>
            </a:r>
          </a:p>
          <a:p>
            <a:endParaRPr lang="he-IL" sz="2500" dirty="0">
              <a:latin typeface="Public Sans" panose="020B0604020202020204" charset="0"/>
            </a:endParaRPr>
          </a:p>
          <a:p>
            <a:endParaRPr lang="he-IL" sz="2500" dirty="0">
              <a:latin typeface="Public Sans" panose="020B0604020202020204" charset="0"/>
            </a:endParaRPr>
          </a:p>
        </p:txBody>
      </p:sp>
      <p:sp>
        <p:nvSpPr>
          <p:cNvPr id="24" name="תיבת טקסט 23">
            <a:extLst>
              <a:ext uri="{FF2B5EF4-FFF2-40B4-BE49-F238E27FC236}">
                <a16:creationId xmlns:a16="http://schemas.microsoft.com/office/drawing/2014/main" id="{4E1760BC-52B2-12B2-C06A-EA1404510C90}"/>
              </a:ext>
            </a:extLst>
          </p:cNvPr>
          <p:cNvSpPr txBox="1"/>
          <p:nvPr/>
        </p:nvSpPr>
        <p:spPr>
          <a:xfrm>
            <a:off x="1295825" y="8055251"/>
            <a:ext cx="15791254" cy="1246495"/>
          </a:xfrm>
          <a:prstGeom prst="rect">
            <a:avLst/>
          </a:prstGeom>
          <a:noFill/>
        </p:spPr>
        <p:txBody>
          <a:bodyPr wrap="square" rtlCol="1">
            <a:spAutoFit/>
          </a:bodyPr>
          <a:lstStyle/>
          <a:p>
            <a:r>
              <a:rPr lang="en-US" sz="2500" dirty="0">
                <a:latin typeface="Public Sans" panose="020B0604020202020204" charset="0"/>
              </a:rPr>
              <a:t>The study is expected to demonstrate that a brief, equitable, and anonymous intervention can support SEL through a language-adapted, instructor-independent model accessible to diverse students.</a:t>
            </a:r>
          </a:p>
          <a:p>
            <a:endParaRPr lang="he-IL" sz="2500" dirty="0">
              <a:latin typeface="Public Sans" panose="020B0604020202020204" charset="0"/>
            </a:endParaRPr>
          </a:p>
        </p:txBody>
      </p:sp>
      <p:pic>
        <p:nvPicPr>
          <p:cNvPr id="26" name="תמונה 25">
            <a:extLst>
              <a:ext uri="{FF2B5EF4-FFF2-40B4-BE49-F238E27FC236}">
                <a16:creationId xmlns:a16="http://schemas.microsoft.com/office/drawing/2014/main" id="{AF29521A-FEFF-2FEF-D64E-45CD416323C8}"/>
              </a:ext>
            </a:extLst>
          </p:cNvPr>
          <p:cNvPicPr>
            <a:picLocks noChangeAspect="1"/>
          </p:cNvPicPr>
          <p:nvPr/>
        </p:nvPicPr>
        <p:blipFill>
          <a:blip r:embed="rId14"/>
          <a:stretch>
            <a:fillRect/>
          </a:stretch>
        </p:blipFill>
        <p:spPr>
          <a:xfrm>
            <a:off x="1371599" y="7353442"/>
            <a:ext cx="6324601" cy="652437"/>
          </a:xfrm>
          <a:prstGeom prst="rect">
            <a:avLst/>
          </a:prstGeom>
        </p:spPr>
      </p:pic>
      <p:sp>
        <p:nvSpPr>
          <p:cNvPr id="27" name="תיבת טקסט 26">
            <a:extLst>
              <a:ext uri="{FF2B5EF4-FFF2-40B4-BE49-F238E27FC236}">
                <a16:creationId xmlns:a16="http://schemas.microsoft.com/office/drawing/2014/main" id="{6434A746-D0C0-140E-9AC9-3C2B5B13234C}"/>
              </a:ext>
            </a:extLst>
          </p:cNvPr>
          <p:cNvSpPr txBox="1"/>
          <p:nvPr/>
        </p:nvSpPr>
        <p:spPr>
          <a:xfrm>
            <a:off x="1371599" y="7584289"/>
            <a:ext cx="6934201" cy="892552"/>
          </a:xfrm>
          <a:prstGeom prst="rect">
            <a:avLst/>
          </a:prstGeom>
          <a:noFill/>
        </p:spPr>
        <p:txBody>
          <a:bodyPr wrap="square" rtlCol="1">
            <a:spAutoFit/>
          </a:bodyPr>
          <a:lstStyle/>
          <a:p>
            <a:r>
              <a:rPr lang="en-US" sz="2600" dirty="0">
                <a:latin typeface="Calistoga" panose="020B0604020202020204" charset="0"/>
              </a:rPr>
              <a:t>Expected Research Contribution</a:t>
            </a:r>
            <a:br>
              <a:rPr lang="en-US" sz="2600" dirty="0">
                <a:latin typeface="Calistoga" panose="020B0604020202020204" charset="0"/>
              </a:rPr>
            </a:br>
            <a:endParaRPr lang="he-IL" sz="2600" dirty="0">
              <a:latin typeface="Calistoga" panose="020B0604020202020204" charset="0"/>
            </a:endParaRPr>
          </a:p>
        </p:txBody>
      </p:sp>
      <p:pic>
        <p:nvPicPr>
          <p:cNvPr id="29" name="תמונה 28">
            <a:extLst>
              <a:ext uri="{FF2B5EF4-FFF2-40B4-BE49-F238E27FC236}">
                <a16:creationId xmlns:a16="http://schemas.microsoft.com/office/drawing/2014/main" id="{8592B12C-4B52-03EA-2152-60C5F0EFFBAF}"/>
              </a:ext>
            </a:extLst>
          </p:cNvPr>
          <p:cNvPicPr>
            <a:picLocks noChangeAspect="1"/>
          </p:cNvPicPr>
          <p:nvPr/>
        </p:nvPicPr>
        <p:blipFill>
          <a:blip r:embed="rId15"/>
          <a:stretch>
            <a:fillRect/>
          </a:stretch>
        </p:blipFill>
        <p:spPr>
          <a:xfrm>
            <a:off x="1371600" y="2445961"/>
            <a:ext cx="6901544" cy="1312862"/>
          </a:xfrm>
          <a:prstGeom prst="rect">
            <a:avLst/>
          </a:prstGeom>
        </p:spPr>
      </p:pic>
      <p:sp>
        <p:nvSpPr>
          <p:cNvPr id="30" name="תיבת טקסט 29">
            <a:extLst>
              <a:ext uri="{FF2B5EF4-FFF2-40B4-BE49-F238E27FC236}">
                <a16:creationId xmlns:a16="http://schemas.microsoft.com/office/drawing/2014/main" id="{D19EB1DE-53D8-78A6-9D5D-1E94DB33F42B}"/>
              </a:ext>
            </a:extLst>
          </p:cNvPr>
          <p:cNvSpPr txBox="1"/>
          <p:nvPr/>
        </p:nvSpPr>
        <p:spPr>
          <a:xfrm>
            <a:off x="1355273" y="2574201"/>
            <a:ext cx="6735539" cy="1292662"/>
          </a:xfrm>
          <a:prstGeom prst="rect">
            <a:avLst/>
          </a:prstGeom>
          <a:noFill/>
        </p:spPr>
        <p:txBody>
          <a:bodyPr wrap="square" rtlCol="1">
            <a:spAutoFit/>
          </a:bodyPr>
          <a:lstStyle/>
          <a:p>
            <a:r>
              <a:rPr lang="en-US" sz="2600" dirty="0">
                <a:latin typeface="Calistoga" panose="020B0604020202020204" charset="0"/>
              </a:rPr>
              <a:t>1. Pilot Study – Engineering Fundamental Skills (Course 251961)</a:t>
            </a:r>
            <a:br>
              <a:rPr lang="en-US" sz="2600" dirty="0">
                <a:latin typeface="Calistoga" panose="020B0604020202020204" charset="0"/>
              </a:rPr>
            </a:br>
            <a:endParaRPr lang="he-IL" sz="2600" dirty="0">
              <a:latin typeface="Calistoga" panose="020B0604020202020204" charset="0"/>
            </a:endParaRPr>
          </a:p>
        </p:txBody>
      </p:sp>
      <p:pic>
        <p:nvPicPr>
          <p:cNvPr id="34" name="תמונה 33">
            <a:extLst>
              <a:ext uri="{FF2B5EF4-FFF2-40B4-BE49-F238E27FC236}">
                <a16:creationId xmlns:a16="http://schemas.microsoft.com/office/drawing/2014/main" id="{2ED2AFC1-406B-A3BC-F554-A8130C1217F7}"/>
              </a:ext>
            </a:extLst>
          </p:cNvPr>
          <p:cNvPicPr>
            <a:picLocks noChangeAspect="1"/>
          </p:cNvPicPr>
          <p:nvPr/>
        </p:nvPicPr>
        <p:blipFill>
          <a:blip r:embed="rId16"/>
          <a:stretch>
            <a:fillRect/>
          </a:stretch>
        </p:blipFill>
        <p:spPr>
          <a:xfrm>
            <a:off x="10014858" y="2385756"/>
            <a:ext cx="5377542" cy="1160621"/>
          </a:xfrm>
          <a:prstGeom prst="rect">
            <a:avLst/>
          </a:prstGeom>
        </p:spPr>
      </p:pic>
      <p:sp>
        <p:nvSpPr>
          <p:cNvPr id="35" name="תיבת טקסט 34">
            <a:extLst>
              <a:ext uri="{FF2B5EF4-FFF2-40B4-BE49-F238E27FC236}">
                <a16:creationId xmlns:a16="http://schemas.microsoft.com/office/drawing/2014/main" id="{5F9A6E0A-E631-3F18-2DF0-EF4FE05D8465}"/>
              </a:ext>
            </a:extLst>
          </p:cNvPr>
          <p:cNvSpPr txBox="1"/>
          <p:nvPr/>
        </p:nvSpPr>
        <p:spPr>
          <a:xfrm>
            <a:off x="10134599" y="2574201"/>
            <a:ext cx="6248401" cy="892552"/>
          </a:xfrm>
          <a:prstGeom prst="rect">
            <a:avLst/>
          </a:prstGeom>
          <a:noFill/>
        </p:spPr>
        <p:txBody>
          <a:bodyPr wrap="square" rtlCol="1">
            <a:spAutoFit/>
          </a:bodyPr>
          <a:lstStyle/>
          <a:p>
            <a:r>
              <a:rPr lang="en-US" sz="2600" dirty="0">
                <a:latin typeface="Calistoga" panose="020B0604020202020204" charset="0"/>
              </a:rPr>
              <a:t>2. Full-Scale Research and Publication</a:t>
            </a:r>
            <a:br>
              <a:rPr lang="en-US" sz="2600" dirty="0">
                <a:latin typeface="Calistoga" panose="020B0604020202020204" charset="0"/>
              </a:rPr>
            </a:br>
            <a:endParaRPr lang="he-IL" sz="2600" dirty="0">
              <a:latin typeface="Calistoga" panose="020B0604020202020204" charset="0"/>
            </a:endParaRPr>
          </a:p>
        </p:txBody>
      </p:sp>
      <p:sp>
        <p:nvSpPr>
          <p:cNvPr id="9" name="TextBox 11">
            <a:extLst>
              <a:ext uri="{FF2B5EF4-FFF2-40B4-BE49-F238E27FC236}">
                <a16:creationId xmlns:a16="http://schemas.microsoft.com/office/drawing/2014/main" id="{F5AFB4C4-46AF-5C33-2FD8-123C58FAA992}"/>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17</a:t>
            </a:r>
          </a:p>
        </p:txBody>
      </p:sp>
      <p:pic>
        <p:nvPicPr>
          <p:cNvPr id="8" name="תמונה 7">
            <a:extLst>
              <a:ext uri="{FF2B5EF4-FFF2-40B4-BE49-F238E27FC236}">
                <a16:creationId xmlns:a16="http://schemas.microsoft.com/office/drawing/2014/main" id="{A4876840-5224-2343-96AB-49D2E759FFAD}"/>
              </a:ext>
            </a:extLst>
          </p:cNvPr>
          <p:cNvPicPr>
            <a:picLocks noChangeAspect="1"/>
          </p:cNvPicPr>
          <p:nvPr/>
        </p:nvPicPr>
        <p:blipFill>
          <a:blip r:embed="rId17"/>
          <a:stretch>
            <a:fillRect/>
          </a:stretch>
        </p:blipFill>
        <p:spPr>
          <a:xfrm>
            <a:off x="16739512" y="8123842"/>
            <a:ext cx="409632" cy="48798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a:extLst>
            <a:ext uri="{FF2B5EF4-FFF2-40B4-BE49-F238E27FC236}">
              <a16:creationId xmlns:a16="http://schemas.microsoft.com/office/drawing/2014/main" id="{22B2668A-432F-9720-35E0-CE9ACF89D3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ED2487B-83ED-29D8-FB15-D10CEEBFC107}"/>
              </a:ext>
              <a:ext uri="{C183D7F6-B498-43B3-948B-1728B52AA6E4}">
                <adec:decorative xmlns:adec="http://schemas.microsoft.com/office/drawing/2017/decorative" xmlns="" val="1"/>
              </a:ext>
            </a:extLst>
          </p:cNvPr>
          <p:cNvSpPr/>
          <p:nvPr/>
        </p:nvSpPr>
        <p:spPr>
          <a:xfrm>
            <a:off x="17605163" y="9054861"/>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he-IL"/>
          </a:p>
        </p:txBody>
      </p:sp>
      <p:sp>
        <p:nvSpPr>
          <p:cNvPr id="3" name="Freeform 3">
            <a:extLst>
              <a:ext uri="{FF2B5EF4-FFF2-40B4-BE49-F238E27FC236}">
                <a16:creationId xmlns:a16="http://schemas.microsoft.com/office/drawing/2014/main" id="{5881CA33-E395-B792-D5E9-74D7DB4FB4FC}"/>
              </a:ext>
              <a:ext uri="{C183D7F6-B498-43B3-948B-1728B52AA6E4}">
                <adec:decorative xmlns:adec="http://schemas.microsoft.com/office/drawing/2017/decorative" xmlns="" val="1"/>
              </a:ext>
            </a:extLst>
          </p:cNvPr>
          <p:cNvSpPr/>
          <p:nvPr/>
        </p:nvSpPr>
        <p:spPr>
          <a:xfrm>
            <a:off x="16827500" y="184860"/>
            <a:ext cx="1146492" cy="1079787"/>
          </a:xfrm>
          <a:custGeom>
            <a:avLst/>
            <a:gdLst/>
            <a:ahLst/>
            <a:cxnLst/>
            <a:rect l="l" t="t" r="r" b="b"/>
            <a:pathLst>
              <a:path w="1146492" h="1079787">
                <a:moveTo>
                  <a:pt x="0" y="0"/>
                </a:moveTo>
                <a:lnTo>
                  <a:pt x="1146491" y="0"/>
                </a:lnTo>
                <a:lnTo>
                  <a:pt x="1146491" y="1079787"/>
                </a:lnTo>
                <a:lnTo>
                  <a:pt x="0" y="107978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he-IL"/>
          </a:p>
        </p:txBody>
      </p:sp>
      <p:sp>
        <p:nvSpPr>
          <p:cNvPr id="4" name="Freeform 4">
            <a:extLst>
              <a:ext uri="{FF2B5EF4-FFF2-40B4-BE49-F238E27FC236}">
                <a16:creationId xmlns:a16="http://schemas.microsoft.com/office/drawing/2014/main" id="{A73DF26F-1C21-13B3-58C7-68ABAF140188}"/>
              </a:ext>
              <a:ext uri="{C183D7F6-B498-43B3-948B-1728B52AA6E4}">
                <adec:decorative xmlns:adec="http://schemas.microsoft.com/office/drawing/2017/decorative" xmlns="" val="1"/>
              </a:ext>
            </a:extLst>
          </p:cNvPr>
          <p:cNvSpPr/>
          <p:nvPr/>
        </p:nvSpPr>
        <p:spPr>
          <a:xfrm>
            <a:off x="-393391" y="9370831"/>
            <a:ext cx="1001374" cy="1126289"/>
          </a:xfrm>
          <a:custGeom>
            <a:avLst/>
            <a:gdLst/>
            <a:ahLst/>
            <a:cxnLst/>
            <a:rect l="l" t="t" r="r" b="b"/>
            <a:pathLst>
              <a:path w="1001374" h="1126289">
                <a:moveTo>
                  <a:pt x="0" y="0"/>
                </a:moveTo>
                <a:lnTo>
                  <a:pt x="1001374" y="0"/>
                </a:lnTo>
                <a:lnTo>
                  <a:pt x="1001374" y="1126290"/>
                </a:lnTo>
                <a:lnTo>
                  <a:pt x="0" y="112629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he-IL"/>
          </a:p>
        </p:txBody>
      </p:sp>
      <p:sp>
        <p:nvSpPr>
          <p:cNvPr id="6" name="Freeform 6">
            <a:extLst>
              <a:ext uri="{FF2B5EF4-FFF2-40B4-BE49-F238E27FC236}">
                <a16:creationId xmlns:a16="http://schemas.microsoft.com/office/drawing/2014/main" id="{47378D21-7418-98A3-48B0-748B895873CB}"/>
              </a:ext>
              <a:ext uri="{C183D7F6-B498-43B3-948B-1728B52AA6E4}">
                <adec:decorative xmlns:adec="http://schemas.microsoft.com/office/drawing/2017/decorative" xmlns="" val="1"/>
              </a:ext>
            </a:extLst>
          </p:cNvPr>
          <p:cNvSpPr/>
          <p:nvPr/>
        </p:nvSpPr>
        <p:spPr>
          <a:xfrm rot="-1436842">
            <a:off x="-1170209" y="-1011450"/>
            <a:ext cx="2340418" cy="2392620"/>
          </a:xfrm>
          <a:custGeom>
            <a:avLst/>
            <a:gdLst/>
            <a:ahLst/>
            <a:cxnLst/>
            <a:rect l="l" t="t" r="r" b="b"/>
            <a:pathLst>
              <a:path w="2340418" h="2392620">
                <a:moveTo>
                  <a:pt x="0" y="0"/>
                </a:moveTo>
                <a:lnTo>
                  <a:pt x="2340418" y="0"/>
                </a:lnTo>
                <a:lnTo>
                  <a:pt x="2340418" y="2392620"/>
                </a:lnTo>
                <a:lnTo>
                  <a:pt x="0" y="239262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he-IL"/>
          </a:p>
        </p:txBody>
      </p:sp>
      <p:sp>
        <p:nvSpPr>
          <p:cNvPr id="12" name="TextBox 12">
            <a:extLst>
              <a:ext uri="{FF2B5EF4-FFF2-40B4-BE49-F238E27FC236}">
                <a16:creationId xmlns:a16="http://schemas.microsoft.com/office/drawing/2014/main" id="{1879F24C-D987-B652-E6E4-54861F957B3E}"/>
              </a:ext>
            </a:extLst>
          </p:cNvPr>
          <p:cNvSpPr txBox="1"/>
          <p:nvPr/>
        </p:nvSpPr>
        <p:spPr>
          <a:xfrm>
            <a:off x="314008" y="501227"/>
            <a:ext cx="17786256" cy="861774"/>
          </a:xfrm>
          <a:prstGeom prst="rect">
            <a:avLst/>
          </a:prstGeom>
        </p:spPr>
        <p:txBody>
          <a:bodyPr wrap="square" lIns="0" tIns="0" rIns="0" bIns="0" rtlCol="0" anchor="t">
            <a:spAutoFit/>
          </a:bodyPr>
          <a:lstStyle/>
          <a:p>
            <a:r>
              <a:rPr lang="en-US" sz="5600" dirty="0">
                <a:solidFill>
                  <a:schemeClr val="accent3">
                    <a:lumMod val="50000"/>
                  </a:schemeClr>
                </a:solidFill>
                <a:latin typeface="Calistoga" panose="020B0604020202020204" charset="0"/>
              </a:rPr>
              <a:t>System Screenshots – Research Instrument Overview</a:t>
            </a:r>
          </a:p>
        </p:txBody>
      </p:sp>
      <p:sp>
        <p:nvSpPr>
          <p:cNvPr id="15" name="TextBox 12">
            <a:extLst>
              <a:ext uri="{FF2B5EF4-FFF2-40B4-BE49-F238E27FC236}">
                <a16:creationId xmlns:a16="http://schemas.microsoft.com/office/drawing/2014/main" id="{D7061EE4-00FC-BB0E-09B6-79A868722CF6}"/>
              </a:ext>
            </a:extLst>
          </p:cNvPr>
          <p:cNvSpPr txBox="1"/>
          <p:nvPr/>
        </p:nvSpPr>
        <p:spPr>
          <a:xfrm>
            <a:off x="187736" y="1587717"/>
            <a:ext cx="17786256" cy="861774"/>
          </a:xfrm>
          <a:prstGeom prst="rect">
            <a:avLst/>
          </a:prstGeom>
        </p:spPr>
        <p:txBody>
          <a:bodyPr wrap="square" lIns="0" tIns="0" rIns="0" bIns="0" rtlCol="0" anchor="t">
            <a:spAutoFit/>
          </a:bodyPr>
          <a:lstStyle/>
          <a:p>
            <a:pPr algn="ctr"/>
            <a:r>
              <a:rPr lang="en-US" sz="2800" dirty="0"/>
              <a:t>The following screenshots illustrate key stages of the experimental flow, providing visual context for the web-based research instrument.</a:t>
            </a:r>
          </a:p>
        </p:txBody>
      </p:sp>
      <p:sp>
        <p:nvSpPr>
          <p:cNvPr id="7" name="TextBox 11">
            <a:extLst>
              <a:ext uri="{FF2B5EF4-FFF2-40B4-BE49-F238E27FC236}">
                <a16:creationId xmlns:a16="http://schemas.microsoft.com/office/drawing/2014/main" id="{4188F1AA-1CB8-5155-8672-A57E7C0D2A69}"/>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18</a:t>
            </a:r>
          </a:p>
        </p:txBody>
      </p:sp>
      <p:pic>
        <p:nvPicPr>
          <p:cNvPr id="11" name="תמונה 10"/>
          <p:cNvPicPr>
            <a:picLocks noChangeAspect="1"/>
          </p:cNvPicPr>
          <p:nvPr/>
        </p:nvPicPr>
        <p:blipFill>
          <a:blip r:embed="rId11"/>
          <a:stretch>
            <a:fillRect/>
          </a:stretch>
        </p:blipFill>
        <p:spPr>
          <a:xfrm>
            <a:off x="4836215" y="9332157"/>
            <a:ext cx="8227564" cy="677546"/>
          </a:xfrm>
          <a:prstGeom prst="rect">
            <a:avLst/>
          </a:prstGeom>
          <a:ln>
            <a:noFill/>
          </a:ln>
          <a:effectLst>
            <a:outerShdw blurRad="190500" algn="tl" rotWithShape="0">
              <a:srgbClr val="000000">
                <a:alpha val="70000"/>
              </a:srgbClr>
            </a:outerShdw>
          </a:effectLst>
        </p:spPr>
      </p:pic>
      <p:sp>
        <p:nvSpPr>
          <p:cNvPr id="8" name="TextBox 7"/>
          <p:cNvSpPr txBox="1"/>
          <p:nvPr/>
        </p:nvSpPr>
        <p:spPr>
          <a:xfrm>
            <a:off x="5246427" y="9420794"/>
            <a:ext cx="1408009" cy="461665"/>
          </a:xfrm>
          <a:prstGeom prst="rect">
            <a:avLst/>
          </a:prstGeom>
          <a:noFill/>
        </p:spPr>
        <p:txBody>
          <a:bodyPr wrap="square" rtlCol="1">
            <a:spAutoFit/>
          </a:bodyPr>
          <a:lstStyle/>
          <a:p>
            <a:r>
              <a:rPr lang="en-US" sz="2400" dirty="0"/>
              <a:t>Demo: </a:t>
            </a:r>
            <a:endParaRPr lang="he-IL" sz="2400" dirty="0"/>
          </a:p>
        </p:txBody>
      </p:sp>
      <p:sp>
        <p:nvSpPr>
          <p:cNvPr id="13" name="תיבת טקסט 12">
            <a:extLst>
              <a:ext uri="{FF2B5EF4-FFF2-40B4-BE49-F238E27FC236}">
                <a16:creationId xmlns:a16="http://schemas.microsoft.com/office/drawing/2014/main" id="{BE821911-0FC4-4C12-762B-C10D569A5B63}"/>
              </a:ext>
            </a:extLst>
          </p:cNvPr>
          <p:cNvSpPr txBox="1"/>
          <p:nvPr/>
        </p:nvSpPr>
        <p:spPr>
          <a:xfrm>
            <a:off x="6294867" y="9466961"/>
            <a:ext cx="5824537" cy="369332"/>
          </a:xfrm>
          <a:prstGeom prst="rect">
            <a:avLst/>
          </a:prstGeom>
          <a:noFill/>
        </p:spPr>
        <p:txBody>
          <a:bodyPr wrap="square">
            <a:spAutoFit/>
          </a:bodyPr>
          <a:lstStyle/>
          <a:p>
            <a:r>
              <a:rPr lang="he-IL" dirty="0">
                <a:hlinkClick r:id="rId12"/>
              </a:rPr>
              <a:t>https://youtu.be/bzZzAnVFnUs?si=_JEeGuydIcTbMHNk</a:t>
            </a:r>
            <a:endParaRPr lang="he-IL" dirty="0"/>
          </a:p>
        </p:txBody>
      </p:sp>
      <p:pic>
        <p:nvPicPr>
          <p:cNvPr id="26" name="תמונה 25" descr="תמונה שמכילה טקסט, דף אינטרנט, אתר, תוכנה&#10;&#10;תוכן בינה מלאכותית גנרטיבית עשוי להיות שגוי.">
            <a:extLst>
              <a:ext uri="{FF2B5EF4-FFF2-40B4-BE49-F238E27FC236}">
                <a16:creationId xmlns:a16="http://schemas.microsoft.com/office/drawing/2014/main" id="{6D40E5EC-28A9-24F0-CDB4-BB5400A62E79}"/>
              </a:ext>
            </a:extLst>
          </p:cNvPr>
          <p:cNvPicPr>
            <a:picLocks noChangeAspect="1"/>
          </p:cNvPicPr>
          <p:nvPr/>
        </p:nvPicPr>
        <p:blipFill>
          <a:blip r:embed="rId13"/>
          <a:stretch>
            <a:fillRect/>
          </a:stretch>
        </p:blipFill>
        <p:spPr>
          <a:xfrm>
            <a:off x="204918" y="2414406"/>
            <a:ext cx="17553510" cy="6933341"/>
          </a:xfrm>
          <a:prstGeom prst="rect">
            <a:avLst/>
          </a:prstGeom>
        </p:spPr>
      </p:pic>
      <p:sp>
        <p:nvSpPr>
          <p:cNvPr id="27" name="Freeform 5">
            <a:extLst>
              <a:ext uri="{FF2B5EF4-FFF2-40B4-BE49-F238E27FC236}">
                <a16:creationId xmlns:a16="http://schemas.microsoft.com/office/drawing/2014/main" id="{3BD9272C-AD89-70DB-DB81-0C58E9D7988D}"/>
              </a:ext>
              <a:ext uri="{C183D7F6-B498-43B3-948B-1728B52AA6E4}">
                <adec:decorative xmlns:adec="http://schemas.microsoft.com/office/drawing/2017/decorative" xmlns="" val="1"/>
              </a:ext>
            </a:extLst>
          </p:cNvPr>
          <p:cNvSpPr/>
          <p:nvPr/>
        </p:nvSpPr>
        <p:spPr>
          <a:xfrm>
            <a:off x="-3948602" y="-1383455"/>
            <a:ext cx="4534549" cy="4950906"/>
          </a:xfrm>
          <a:custGeom>
            <a:avLst/>
            <a:gdLst/>
            <a:ahLst/>
            <a:cxnLst/>
            <a:rect l="l" t="t" r="r" b="b"/>
            <a:pathLst>
              <a:path w="4989143" h="5177413">
                <a:moveTo>
                  <a:pt x="0" y="0"/>
                </a:moveTo>
                <a:lnTo>
                  <a:pt x="4989143" y="0"/>
                </a:lnTo>
                <a:lnTo>
                  <a:pt x="4989143" y="5177412"/>
                </a:lnTo>
                <a:lnTo>
                  <a:pt x="0" y="5177412"/>
                </a:lnTo>
                <a:lnTo>
                  <a:pt x="0" y="0"/>
                </a:lnTo>
                <a:close/>
              </a:path>
            </a:pathLst>
          </a:custGeom>
          <a:blipFill>
            <a:blip r:embed="rId14">
              <a:extLst>
                <a:ext uri="{96DAC541-7B7A-43D3-8B79-37D633B846F1}">
                  <asvg:svgBlip xmlns:asvg="http://schemas.microsoft.com/office/drawing/2016/SVG/main" xmlns="" r:embed="rId15"/>
                </a:ext>
              </a:extLst>
            </a:blip>
            <a:stretch>
              <a:fillRect/>
            </a:stretch>
          </a:blipFill>
        </p:spPr>
        <p:txBody>
          <a:bodyPr/>
          <a:lstStyle/>
          <a:p>
            <a:endParaRPr lang="he-IL"/>
          </a:p>
        </p:txBody>
      </p:sp>
    </p:spTree>
    <p:extLst>
      <p:ext uri="{BB962C8B-B14F-4D97-AF65-F5344CB8AC3E}">
        <p14:creationId xmlns:p14="http://schemas.microsoft.com/office/powerpoint/2010/main" val="3188334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a:extLst>
            <a:ext uri="{FF2B5EF4-FFF2-40B4-BE49-F238E27FC236}">
              <a16:creationId xmlns:a16="http://schemas.microsoft.com/office/drawing/2014/main" id="{08515550-5423-70F1-89C2-F1490B2546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CF889DF-47DC-1DC2-490A-889228A451BB}"/>
              </a:ext>
              <a:ext uri="{C183D7F6-B498-43B3-948B-1728B52AA6E4}">
                <adec:decorative xmlns:adec="http://schemas.microsoft.com/office/drawing/2017/decorative" xmlns="" val="1"/>
              </a:ext>
            </a:extLst>
          </p:cNvPr>
          <p:cNvSpPr/>
          <p:nvPr/>
        </p:nvSpPr>
        <p:spPr>
          <a:xfrm>
            <a:off x="17605163" y="9054861"/>
            <a:ext cx="1099964" cy="1232139"/>
          </a:xfrm>
          <a:custGeom>
            <a:avLst/>
            <a:gdLst/>
            <a:ahLst/>
            <a:cxnLst/>
            <a:rect l="l" t="t" r="r" b="b"/>
            <a:pathLst>
              <a:path w="1099964" h="1232139">
                <a:moveTo>
                  <a:pt x="0" y="0"/>
                </a:moveTo>
                <a:lnTo>
                  <a:pt x="1099964" y="0"/>
                </a:lnTo>
                <a:lnTo>
                  <a:pt x="1099964" y="1232139"/>
                </a:lnTo>
                <a:lnTo>
                  <a:pt x="0" y="123213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FF2B5EF4-FFF2-40B4-BE49-F238E27FC236}">
                <a16:creationId xmlns:a16="http://schemas.microsoft.com/office/drawing/2014/main" id="{A31E70E0-7EF4-7004-B97B-6C37D8EE89C0}"/>
              </a:ext>
              <a:ext uri="{C183D7F6-B498-43B3-948B-1728B52AA6E4}">
                <adec:decorative xmlns:adec="http://schemas.microsoft.com/office/drawing/2017/decorative" xmlns="" val="1"/>
              </a:ext>
            </a:extLst>
          </p:cNvPr>
          <p:cNvSpPr/>
          <p:nvPr/>
        </p:nvSpPr>
        <p:spPr>
          <a:xfrm>
            <a:off x="16827500" y="184860"/>
            <a:ext cx="1146492" cy="1079787"/>
          </a:xfrm>
          <a:custGeom>
            <a:avLst/>
            <a:gdLst/>
            <a:ahLst/>
            <a:cxnLst/>
            <a:rect l="l" t="t" r="r" b="b"/>
            <a:pathLst>
              <a:path w="1146492" h="1079787">
                <a:moveTo>
                  <a:pt x="0" y="0"/>
                </a:moveTo>
                <a:lnTo>
                  <a:pt x="1146491" y="0"/>
                </a:lnTo>
                <a:lnTo>
                  <a:pt x="1146491" y="1079787"/>
                </a:lnTo>
                <a:lnTo>
                  <a:pt x="0" y="107978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sp>
        <p:nvSpPr>
          <p:cNvPr id="4" name="Freeform 4">
            <a:extLst>
              <a:ext uri="{FF2B5EF4-FFF2-40B4-BE49-F238E27FC236}">
                <a16:creationId xmlns:a16="http://schemas.microsoft.com/office/drawing/2014/main" id="{EDD02771-91BB-0CD3-C387-5B7685FACE53}"/>
              </a:ext>
              <a:ext uri="{C183D7F6-B498-43B3-948B-1728B52AA6E4}">
                <adec:decorative xmlns:adec="http://schemas.microsoft.com/office/drawing/2017/decorative" xmlns="" val="1"/>
              </a:ext>
            </a:extLst>
          </p:cNvPr>
          <p:cNvSpPr/>
          <p:nvPr/>
        </p:nvSpPr>
        <p:spPr>
          <a:xfrm>
            <a:off x="-393391" y="9370831"/>
            <a:ext cx="1001374" cy="1126289"/>
          </a:xfrm>
          <a:custGeom>
            <a:avLst/>
            <a:gdLst/>
            <a:ahLst/>
            <a:cxnLst/>
            <a:rect l="l" t="t" r="r" b="b"/>
            <a:pathLst>
              <a:path w="1001374" h="1126289">
                <a:moveTo>
                  <a:pt x="0" y="0"/>
                </a:moveTo>
                <a:lnTo>
                  <a:pt x="1001374" y="0"/>
                </a:lnTo>
                <a:lnTo>
                  <a:pt x="1001374" y="1126290"/>
                </a:lnTo>
                <a:lnTo>
                  <a:pt x="0" y="112629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5" name="Freeform 5">
            <a:extLst>
              <a:ext uri="{FF2B5EF4-FFF2-40B4-BE49-F238E27FC236}">
                <a16:creationId xmlns:a16="http://schemas.microsoft.com/office/drawing/2014/main" id="{95B05D5A-58F8-A13A-5BA5-FCBB4D65DA09}"/>
              </a:ext>
              <a:ext uri="{C183D7F6-B498-43B3-948B-1728B52AA6E4}">
                <adec:decorative xmlns:adec="http://schemas.microsoft.com/office/drawing/2017/decorative" xmlns="" val="1"/>
              </a:ext>
            </a:extLst>
          </p:cNvPr>
          <p:cNvSpPr/>
          <p:nvPr/>
        </p:nvSpPr>
        <p:spPr>
          <a:xfrm>
            <a:off x="-3162949" y="-1560006"/>
            <a:ext cx="4989143" cy="5177413"/>
          </a:xfrm>
          <a:custGeom>
            <a:avLst/>
            <a:gdLst/>
            <a:ahLst/>
            <a:cxnLst/>
            <a:rect l="l" t="t" r="r" b="b"/>
            <a:pathLst>
              <a:path w="4989143" h="5177413">
                <a:moveTo>
                  <a:pt x="0" y="0"/>
                </a:moveTo>
                <a:lnTo>
                  <a:pt x="4989143" y="0"/>
                </a:lnTo>
                <a:lnTo>
                  <a:pt x="4989143" y="5177412"/>
                </a:lnTo>
                <a:lnTo>
                  <a:pt x="0" y="5177412"/>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he-IL"/>
          </a:p>
        </p:txBody>
      </p:sp>
      <p:sp>
        <p:nvSpPr>
          <p:cNvPr id="6" name="Freeform 6">
            <a:extLst>
              <a:ext uri="{FF2B5EF4-FFF2-40B4-BE49-F238E27FC236}">
                <a16:creationId xmlns:a16="http://schemas.microsoft.com/office/drawing/2014/main" id="{D7DDDDD3-B301-6B7B-3501-21DA8F33FC27}"/>
              </a:ext>
              <a:ext uri="{C183D7F6-B498-43B3-948B-1728B52AA6E4}">
                <adec:decorative xmlns:adec="http://schemas.microsoft.com/office/drawing/2017/decorative" xmlns="" val="1"/>
              </a:ext>
            </a:extLst>
          </p:cNvPr>
          <p:cNvSpPr/>
          <p:nvPr/>
        </p:nvSpPr>
        <p:spPr>
          <a:xfrm rot="-1436842">
            <a:off x="-1170209" y="-1011450"/>
            <a:ext cx="2340418" cy="2392620"/>
          </a:xfrm>
          <a:custGeom>
            <a:avLst/>
            <a:gdLst/>
            <a:ahLst/>
            <a:cxnLst/>
            <a:rect l="l" t="t" r="r" b="b"/>
            <a:pathLst>
              <a:path w="2340418" h="2392620">
                <a:moveTo>
                  <a:pt x="0" y="0"/>
                </a:moveTo>
                <a:lnTo>
                  <a:pt x="2340418" y="0"/>
                </a:lnTo>
                <a:lnTo>
                  <a:pt x="2340418" y="2392620"/>
                </a:lnTo>
                <a:lnTo>
                  <a:pt x="0" y="2392620"/>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he-IL"/>
          </a:p>
        </p:txBody>
      </p:sp>
      <p:sp>
        <p:nvSpPr>
          <p:cNvPr id="12" name="TextBox 12">
            <a:extLst>
              <a:ext uri="{FF2B5EF4-FFF2-40B4-BE49-F238E27FC236}">
                <a16:creationId xmlns:a16="http://schemas.microsoft.com/office/drawing/2014/main" id="{7D0D9536-328C-0336-0885-B91E44CC18D2}"/>
              </a:ext>
            </a:extLst>
          </p:cNvPr>
          <p:cNvSpPr txBox="1"/>
          <p:nvPr/>
        </p:nvSpPr>
        <p:spPr>
          <a:xfrm>
            <a:off x="314008" y="501227"/>
            <a:ext cx="8677592" cy="2585323"/>
          </a:xfrm>
          <a:prstGeom prst="rect">
            <a:avLst/>
          </a:prstGeom>
        </p:spPr>
        <p:txBody>
          <a:bodyPr wrap="square" lIns="0" tIns="0" rIns="0" bIns="0" rtlCol="0" anchor="t">
            <a:spAutoFit/>
          </a:bodyPr>
          <a:lstStyle/>
          <a:p>
            <a:pPr algn="ctr"/>
            <a:r>
              <a:rPr lang="en-US" sz="5600" dirty="0">
                <a:solidFill>
                  <a:schemeClr val="accent3">
                    <a:lumMod val="50000"/>
                  </a:schemeClr>
                </a:solidFill>
                <a:latin typeface="Calistoga" panose="020B0604020202020204" charset="0"/>
              </a:rPr>
              <a:t>invited poster presentation –</a:t>
            </a:r>
          </a:p>
          <a:p>
            <a:pPr algn="ctr"/>
            <a:r>
              <a:rPr lang="en-US" sz="5600" dirty="0">
                <a:solidFill>
                  <a:schemeClr val="accent3">
                    <a:lumMod val="50000"/>
                  </a:schemeClr>
                </a:solidFill>
                <a:latin typeface="Calistoga" panose="020B0604020202020204" charset="0"/>
              </a:rPr>
              <a:t> CHAIS 2026</a:t>
            </a:r>
          </a:p>
        </p:txBody>
      </p:sp>
      <p:sp>
        <p:nvSpPr>
          <p:cNvPr id="15" name="TextBox 12">
            <a:extLst>
              <a:ext uri="{FF2B5EF4-FFF2-40B4-BE49-F238E27FC236}">
                <a16:creationId xmlns:a16="http://schemas.microsoft.com/office/drawing/2014/main" id="{64C2EB43-3CE8-24EE-050A-7F14A39F2521}"/>
              </a:ext>
            </a:extLst>
          </p:cNvPr>
          <p:cNvSpPr txBox="1"/>
          <p:nvPr/>
        </p:nvSpPr>
        <p:spPr>
          <a:xfrm>
            <a:off x="1295400" y="3303027"/>
            <a:ext cx="7010400" cy="2031325"/>
          </a:xfrm>
          <a:prstGeom prst="rect">
            <a:avLst/>
          </a:prstGeom>
        </p:spPr>
        <p:txBody>
          <a:bodyPr wrap="square" lIns="0" tIns="0" rIns="0" bIns="0" rtlCol="0" anchor="t">
            <a:spAutoFit/>
          </a:bodyPr>
          <a:lstStyle/>
          <a:p>
            <a:r>
              <a:rPr lang="en-US" sz="3300" dirty="0">
                <a:latin typeface="Public Sans" panose="020B0604020202020204" charset="0"/>
              </a:rPr>
              <a:t>The 21st Conference on the Study of Innovation and Learning Technologies  </a:t>
            </a:r>
          </a:p>
          <a:p>
            <a:r>
              <a:rPr lang="en-US" sz="3300" dirty="0">
                <a:latin typeface="Public Sans" panose="020B0604020202020204" charset="0"/>
              </a:rPr>
              <a:t>The Open University of Israel</a:t>
            </a:r>
          </a:p>
        </p:txBody>
      </p:sp>
      <p:sp>
        <p:nvSpPr>
          <p:cNvPr id="7" name="Freeform 17">
            <a:extLst>
              <a:ext uri="{FF2B5EF4-FFF2-40B4-BE49-F238E27FC236}">
                <a16:creationId xmlns:a16="http://schemas.microsoft.com/office/drawing/2014/main" id="{F3DCBED4-8B8A-3D18-CF29-960EE0C8B77A}"/>
              </a:ext>
            </a:extLst>
          </p:cNvPr>
          <p:cNvSpPr/>
          <p:nvPr/>
        </p:nvSpPr>
        <p:spPr>
          <a:xfrm>
            <a:off x="1672266" y="6297273"/>
            <a:ext cx="4114800" cy="2996961"/>
          </a:xfrm>
          <a:custGeom>
            <a:avLst/>
            <a:gdLst/>
            <a:ahLst/>
            <a:cxnLst/>
            <a:rect l="l" t="t" r="r" b="b"/>
            <a:pathLst>
              <a:path w="2198701" h="1714041">
                <a:moveTo>
                  <a:pt x="0" y="0"/>
                </a:moveTo>
                <a:lnTo>
                  <a:pt x="2198702" y="0"/>
                </a:lnTo>
                <a:lnTo>
                  <a:pt x="2198702" y="1714041"/>
                </a:lnTo>
                <a:lnTo>
                  <a:pt x="0" y="1714041"/>
                </a:lnTo>
                <a:lnTo>
                  <a:pt x="0" y="0"/>
                </a:lnTo>
                <a:close/>
              </a:path>
            </a:pathLst>
          </a:custGeom>
          <a:blipFill>
            <a:blip r:embed="rId12"/>
            <a:stretch>
              <a:fillRect/>
            </a:stretch>
          </a:blipFill>
        </p:spPr>
        <p:txBody>
          <a:bodyPr/>
          <a:lstStyle/>
          <a:p>
            <a:endParaRPr lang="he-IL"/>
          </a:p>
        </p:txBody>
      </p:sp>
      <p:sp>
        <p:nvSpPr>
          <p:cNvPr id="8" name="TextBox 12">
            <a:extLst>
              <a:ext uri="{FF2B5EF4-FFF2-40B4-BE49-F238E27FC236}">
                <a16:creationId xmlns:a16="http://schemas.microsoft.com/office/drawing/2014/main" id="{88925C74-2BF3-1A26-AF9A-71E5BF0703FB}"/>
              </a:ext>
            </a:extLst>
          </p:cNvPr>
          <p:cNvSpPr txBox="1"/>
          <p:nvPr/>
        </p:nvSpPr>
        <p:spPr>
          <a:xfrm>
            <a:off x="629754" y="9703142"/>
            <a:ext cx="9972992" cy="461665"/>
          </a:xfrm>
          <a:prstGeom prst="rect">
            <a:avLst/>
          </a:prstGeom>
        </p:spPr>
        <p:txBody>
          <a:bodyPr wrap="square" lIns="0" tIns="0" rIns="0" bIns="0" rtlCol="0" anchor="t">
            <a:spAutoFit/>
          </a:bodyPr>
          <a:lstStyle/>
          <a:p>
            <a:r>
              <a:rPr lang="en-US" sz="3000" dirty="0">
                <a:latin typeface="Public Sans" panose="020B0604020202020204" charset="0"/>
              </a:rPr>
              <a:t>February 24, 2026 · Accepted Poster Presentation</a:t>
            </a:r>
          </a:p>
        </p:txBody>
      </p:sp>
      <p:pic>
        <p:nvPicPr>
          <p:cNvPr id="10" name="תמונה 9" descr="תמונה שמכילה טקסט, צילום מסך, גופן, דף אינטרנט&#10;&#10;תוכן בינה מלאכותית גנרטיבית עשוי להיות שגוי.">
            <a:extLst>
              <a:ext uri="{FF2B5EF4-FFF2-40B4-BE49-F238E27FC236}">
                <a16:creationId xmlns:a16="http://schemas.microsoft.com/office/drawing/2014/main" id="{D0A012B1-CB69-3E78-4331-D8C00989832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994654" y="484204"/>
            <a:ext cx="6756996" cy="9552043"/>
          </a:xfrm>
          <a:prstGeom prst="rect">
            <a:avLst/>
          </a:prstGeom>
          <a:effectLst>
            <a:glow rad="228600">
              <a:schemeClr val="tx1">
                <a:lumMod val="95000"/>
                <a:lumOff val="5000"/>
                <a:alpha val="40000"/>
              </a:schemeClr>
            </a:glow>
            <a:softEdge rad="0"/>
          </a:effectLst>
          <a:scene3d>
            <a:camera prst="obliqueTopRight">
              <a:rot lat="0" lon="0" rev="0"/>
            </a:camera>
            <a:lightRig rig="threePt" dir="t"/>
          </a:scene3d>
        </p:spPr>
      </p:pic>
      <p:sp>
        <p:nvSpPr>
          <p:cNvPr id="9" name="TextBox 11">
            <a:extLst>
              <a:ext uri="{FF2B5EF4-FFF2-40B4-BE49-F238E27FC236}">
                <a16:creationId xmlns:a16="http://schemas.microsoft.com/office/drawing/2014/main" id="{9CD04D18-2E64-AF10-3557-E09E77E6FB9D}"/>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19</a:t>
            </a:r>
          </a:p>
        </p:txBody>
      </p:sp>
    </p:spTree>
    <p:extLst>
      <p:ext uri="{BB962C8B-B14F-4D97-AF65-F5344CB8AC3E}">
        <p14:creationId xmlns:p14="http://schemas.microsoft.com/office/powerpoint/2010/main" val="84967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DF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2335619" y="2556121"/>
            <a:ext cx="4671238" cy="5128106"/>
          </a:xfrm>
          <a:custGeom>
            <a:avLst/>
            <a:gdLst/>
            <a:ahLst/>
            <a:cxnLst/>
            <a:rect l="l" t="t" r="r" b="b"/>
            <a:pathLst>
              <a:path w="4671238" h="5128106">
                <a:moveTo>
                  <a:pt x="0" y="0"/>
                </a:moveTo>
                <a:lnTo>
                  <a:pt x="4671238" y="0"/>
                </a:lnTo>
                <a:lnTo>
                  <a:pt x="4671238" y="5128105"/>
                </a:lnTo>
                <a:lnTo>
                  <a:pt x="0" y="512810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he-IL"/>
          </a:p>
        </p:txBody>
      </p:sp>
      <p:sp>
        <p:nvSpPr>
          <p:cNvPr id="3" name="Freeform 3">
            <a:extLst>
              <a:ext uri="{C183D7F6-B498-43B3-948B-1728B52AA6E4}">
                <adec:decorative xmlns:adec="http://schemas.microsoft.com/office/drawing/2017/decorative" xmlns="" val="1"/>
              </a:ext>
            </a:extLst>
          </p:cNvPr>
          <p:cNvSpPr/>
          <p:nvPr/>
        </p:nvSpPr>
        <p:spPr>
          <a:xfrm>
            <a:off x="1261016" y="6110153"/>
            <a:ext cx="3731640" cy="3148147"/>
          </a:xfrm>
          <a:custGeom>
            <a:avLst/>
            <a:gdLst/>
            <a:ahLst/>
            <a:cxnLst/>
            <a:rect l="l" t="t" r="r" b="b"/>
            <a:pathLst>
              <a:path w="3731640" h="3148147">
                <a:moveTo>
                  <a:pt x="0" y="0"/>
                </a:moveTo>
                <a:lnTo>
                  <a:pt x="3731640" y="0"/>
                </a:lnTo>
                <a:lnTo>
                  <a:pt x="3731640" y="3148147"/>
                </a:lnTo>
                <a:lnTo>
                  <a:pt x="0" y="314814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he-IL"/>
          </a:p>
        </p:txBody>
      </p:sp>
      <p:grpSp>
        <p:nvGrpSpPr>
          <p:cNvPr id="4" name="Group 4"/>
          <p:cNvGrpSpPr/>
          <p:nvPr/>
        </p:nvGrpSpPr>
        <p:grpSpPr>
          <a:xfrm>
            <a:off x="3161505" y="8000370"/>
            <a:ext cx="11964990" cy="1260470"/>
            <a:chOff x="0" y="0"/>
            <a:chExt cx="15953321" cy="1680627"/>
          </a:xfrm>
        </p:grpSpPr>
        <p:sp>
          <p:nvSpPr>
            <p:cNvPr id="5" name="TextBox 5"/>
            <p:cNvSpPr txBox="1"/>
            <p:nvPr/>
          </p:nvSpPr>
          <p:spPr>
            <a:xfrm>
              <a:off x="0" y="-57150"/>
              <a:ext cx="15953321" cy="622624"/>
            </a:xfrm>
            <a:prstGeom prst="rect">
              <a:avLst/>
            </a:prstGeom>
          </p:spPr>
          <p:txBody>
            <a:bodyPr lIns="0" tIns="0" rIns="0" bIns="0" rtlCol="0" anchor="t">
              <a:spAutoFit/>
            </a:bodyPr>
            <a:lstStyle/>
            <a:p>
              <a:pPr algn="ctr">
                <a:lnSpc>
                  <a:spcPts val="3919"/>
                </a:lnSpc>
              </a:pPr>
              <a:endParaRPr/>
            </a:p>
          </p:txBody>
        </p:sp>
        <p:sp>
          <p:nvSpPr>
            <p:cNvPr id="6" name="TextBox 6"/>
            <p:cNvSpPr txBox="1"/>
            <p:nvPr/>
          </p:nvSpPr>
          <p:spPr>
            <a:xfrm>
              <a:off x="0" y="1168070"/>
              <a:ext cx="15953321" cy="512557"/>
            </a:xfrm>
            <a:prstGeom prst="rect">
              <a:avLst/>
            </a:prstGeom>
          </p:spPr>
          <p:txBody>
            <a:bodyPr lIns="0" tIns="0" rIns="0" bIns="0" rtlCol="0" anchor="t">
              <a:spAutoFit/>
            </a:bodyPr>
            <a:lstStyle/>
            <a:p>
              <a:pPr algn="ctr">
                <a:lnSpc>
                  <a:spcPts val="3220"/>
                </a:lnSpc>
              </a:pPr>
              <a:endParaRPr/>
            </a:p>
          </p:txBody>
        </p:sp>
      </p:grpSp>
      <p:sp>
        <p:nvSpPr>
          <p:cNvPr id="7" name="Freeform 7">
            <a:extLst>
              <a:ext uri="{C183D7F6-B498-43B3-948B-1728B52AA6E4}">
                <adec:decorative xmlns:adec="http://schemas.microsoft.com/office/drawing/2017/decorative" xmlns="" val="1"/>
              </a:ext>
            </a:extLst>
          </p:cNvPr>
          <p:cNvSpPr/>
          <p:nvPr/>
        </p:nvSpPr>
        <p:spPr>
          <a:xfrm flipV="1">
            <a:off x="14366426" y="-939943"/>
            <a:ext cx="6183218" cy="6228516"/>
          </a:xfrm>
          <a:custGeom>
            <a:avLst/>
            <a:gdLst/>
            <a:ahLst/>
            <a:cxnLst/>
            <a:rect l="l" t="t" r="r" b="b"/>
            <a:pathLst>
              <a:path w="6183218" h="6228516">
                <a:moveTo>
                  <a:pt x="0" y="6228517"/>
                </a:moveTo>
                <a:lnTo>
                  <a:pt x="6183218" y="6228517"/>
                </a:lnTo>
                <a:lnTo>
                  <a:pt x="6183218" y="0"/>
                </a:lnTo>
                <a:lnTo>
                  <a:pt x="0" y="0"/>
                </a:lnTo>
                <a:lnTo>
                  <a:pt x="0" y="6228517"/>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he-IL"/>
          </a:p>
        </p:txBody>
      </p:sp>
      <p:sp>
        <p:nvSpPr>
          <p:cNvPr id="8" name="Freeform 8">
            <a:extLst>
              <a:ext uri="{C183D7F6-B498-43B3-948B-1728B52AA6E4}">
                <adec:decorative xmlns:adec="http://schemas.microsoft.com/office/drawing/2017/decorative" xmlns="" val="1"/>
              </a:ext>
            </a:extLst>
          </p:cNvPr>
          <p:cNvSpPr/>
          <p:nvPr/>
        </p:nvSpPr>
        <p:spPr>
          <a:xfrm>
            <a:off x="16200406" y="7832122"/>
            <a:ext cx="2515259" cy="2852356"/>
          </a:xfrm>
          <a:custGeom>
            <a:avLst/>
            <a:gdLst/>
            <a:ahLst/>
            <a:cxnLst/>
            <a:rect l="l" t="t" r="r" b="b"/>
            <a:pathLst>
              <a:path w="2515259" h="2852356">
                <a:moveTo>
                  <a:pt x="0" y="0"/>
                </a:moveTo>
                <a:lnTo>
                  <a:pt x="2515259" y="0"/>
                </a:lnTo>
                <a:lnTo>
                  <a:pt x="2515259" y="2852356"/>
                </a:lnTo>
                <a:lnTo>
                  <a:pt x="0" y="285235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he-IL"/>
          </a:p>
        </p:txBody>
      </p:sp>
      <p:sp>
        <p:nvSpPr>
          <p:cNvPr id="9" name="Freeform 9">
            <a:extLst>
              <a:ext uri="{C183D7F6-B498-43B3-948B-1728B52AA6E4}">
                <adec:decorative xmlns:adec="http://schemas.microsoft.com/office/drawing/2017/decorative" xmlns="" val="1"/>
              </a:ext>
            </a:extLst>
          </p:cNvPr>
          <p:cNvSpPr/>
          <p:nvPr/>
        </p:nvSpPr>
        <p:spPr>
          <a:xfrm>
            <a:off x="3849656" y="-1085016"/>
            <a:ext cx="3356990" cy="3259332"/>
          </a:xfrm>
          <a:custGeom>
            <a:avLst/>
            <a:gdLst/>
            <a:ahLst/>
            <a:cxnLst/>
            <a:rect l="l" t="t" r="r" b="b"/>
            <a:pathLst>
              <a:path w="3356990" h="3259332">
                <a:moveTo>
                  <a:pt x="0" y="0"/>
                </a:moveTo>
                <a:lnTo>
                  <a:pt x="3356990" y="0"/>
                </a:lnTo>
                <a:lnTo>
                  <a:pt x="3356990" y="3259332"/>
                </a:lnTo>
                <a:lnTo>
                  <a:pt x="0" y="3259332"/>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he-IL"/>
          </a:p>
        </p:txBody>
      </p:sp>
      <p:sp>
        <p:nvSpPr>
          <p:cNvPr id="10" name="TextBox 10"/>
          <p:cNvSpPr txBox="1"/>
          <p:nvPr/>
        </p:nvSpPr>
        <p:spPr>
          <a:xfrm>
            <a:off x="3161505" y="3146482"/>
            <a:ext cx="12833884" cy="4537744"/>
          </a:xfrm>
          <a:prstGeom prst="rect">
            <a:avLst/>
          </a:prstGeom>
        </p:spPr>
        <p:txBody>
          <a:bodyPr lIns="0" tIns="0" rIns="0" bIns="0" rtlCol="0" anchor="t">
            <a:spAutoFit/>
          </a:bodyPr>
          <a:lstStyle/>
          <a:p>
            <a:pPr algn="ctr">
              <a:lnSpc>
                <a:spcPts val="18289"/>
              </a:lnSpc>
              <a:spcBef>
                <a:spcPct val="0"/>
              </a:spcBef>
            </a:pPr>
            <a:r>
              <a:rPr lang="en-US" sz="13064" dirty="0">
                <a:solidFill>
                  <a:schemeClr val="accent3">
                    <a:lumMod val="50000"/>
                  </a:schemeClr>
                </a:solidFill>
                <a:latin typeface="Calistoga"/>
                <a:ea typeface="Calistoga"/>
                <a:cs typeface="Calistoga"/>
                <a:sym typeface="Calistoga"/>
              </a:rPr>
              <a:t>Thank you. </a:t>
            </a:r>
          </a:p>
          <a:p>
            <a:pPr algn="ctr">
              <a:lnSpc>
                <a:spcPts val="18289"/>
              </a:lnSpc>
              <a:spcBef>
                <a:spcPct val="0"/>
              </a:spcBef>
            </a:pPr>
            <a:r>
              <a:rPr lang="en-US" sz="13064" dirty="0">
                <a:solidFill>
                  <a:schemeClr val="accent3">
                    <a:lumMod val="50000"/>
                  </a:schemeClr>
                </a:solidFill>
                <a:latin typeface="Calistoga"/>
                <a:ea typeface="Calistoga"/>
                <a:cs typeface="Calistoga"/>
                <a:sym typeface="Calistoga"/>
              </a:rPr>
              <a:t>Questions?</a:t>
            </a:r>
          </a:p>
        </p:txBody>
      </p:sp>
      <p:sp>
        <p:nvSpPr>
          <p:cNvPr id="12" name="TextBox 11">
            <a:extLst>
              <a:ext uri="{FF2B5EF4-FFF2-40B4-BE49-F238E27FC236}">
                <a16:creationId xmlns:a16="http://schemas.microsoft.com/office/drawing/2014/main" id="{EEC8EDE6-9488-9FFC-4FAC-AEB3DA5C5AD2}"/>
              </a:ext>
            </a:extLst>
          </p:cNvPr>
          <p:cNvSpPr txBox="1"/>
          <p:nvPr/>
        </p:nvSpPr>
        <p:spPr>
          <a:xfrm>
            <a:off x="17207086" y="9466961"/>
            <a:ext cx="1102685" cy="820039"/>
          </a:xfrm>
          <a:prstGeom prst="rect">
            <a:avLst/>
          </a:prstGeom>
        </p:spPr>
        <p:txBody>
          <a:bodyPr wrap="square" lIns="0" tIns="0" rIns="0" bIns="0" rtlCol="0" anchor="t">
            <a:spAutoFit/>
          </a:bodyPr>
          <a:lstStyle/>
          <a:p>
            <a:pPr algn="ctr">
              <a:lnSpc>
                <a:spcPts val="6775"/>
              </a:lnSpc>
              <a:spcBef>
                <a:spcPct val="0"/>
              </a:spcBef>
            </a:pPr>
            <a:r>
              <a:rPr lang="en-US" sz="4839" dirty="0">
                <a:solidFill>
                  <a:srgbClr val="000000"/>
                </a:solidFill>
                <a:latin typeface="Public Sans" panose="020B0604020202020204" charset="0"/>
                <a:ea typeface="Calistoga"/>
                <a:cs typeface="Calistoga"/>
                <a:sym typeface="Calistoga"/>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1455</TotalTime>
  <Words>1824</Words>
  <Application>Microsoft Office PowerPoint</Application>
  <PresentationFormat>מותאם אישית</PresentationFormat>
  <Paragraphs>241</Paragraphs>
  <Slides>20</Slides>
  <Notes>9</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20</vt:i4>
      </vt:variant>
    </vt:vector>
  </HeadingPairs>
  <TitlesOfParts>
    <vt:vector size="28" baseType="lpstr">
      <vt:lpstr>Arial</vt:lpstr>
      <vt:lpstr>Public Sans</vt:lpstr>
      <vt:lpstr>Calibri</vt:lpstr>
      <vt:lpstr>Aptos</vt:lpstr>
      <vt:lpstr>Public Sans Medium</vt:lpstr>
      <vt:lpstr>Public Sans Bold</vt:lpstr>
      <vt:lpstr>Calistoga</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CASELY: AI-Guided Socratic Dialogue for Developing Social-Emotional Learning (SEL) Skills in Higher Education</dc:title>
  <dc:creator>nhla aboromy</dc:creator>
  <cp:lastModifiedBy>ASUS</cp:lastModifiedBy>
  <cp:revision>65</cp:revision>
  <dcterms:created xsi:type="dcterms:W3CDTF">2006-08-16T00:00:00Z</dcterms:created>
  <dcterms:modified xsi:type="dcterms:W3CDTF">2026-01-25T09:38:12Z</dcterms:modified>
  <dc:identifier>DAG-qmq3fHU</dc:identifier>
</cp:coreProperties>
</file>